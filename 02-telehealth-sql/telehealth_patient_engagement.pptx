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Telehealth share of all visits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Telehealth share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</c:v>
                </c:pt>
                <c:pt idx="1">
                  <c:v>14.4</c:v>
                </c:pt>
                <c:pt idx="2">
                  <c:v>10</c:v>
                </c:pt>
                <c:pt idx="3">
                  <c:v>9.4</c:v>
                </c:pt>
                <c:pt idx="4">
                  <c:v>8.3</c:v>
                </c:pt>
                <c:pt idx="5">
                  <c:v>9.1</c:v>
                </c:pt>
                <c:pt idx="6">
                  <c:v>8.5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Intensity: telehealth share of visits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visits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0-17</c:v>
                  </c:pt>
                  <c:pt idx="1">
                    <c:v>18-34</c:v>
                  </c:pt>
                  <c:pt idx="2">
                    <c:v>35-49</c:v>
                  </c:pt>
                  <c:pt idx="3">
                    <c:v>50-64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10.3</c:v>
                </c:pt>
                <c:pt idx="2">
                  <c:v>11</c:v>
                </c:pt>
                <c:pt idx="3">
                  <c:v>9.2</c:v>
                </c:pt>
                <c:pt idx="4">
                  <c:v>8.2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Reach: patients with ≥1 telehealth visit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 using telehealth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0-17</c:v>
                  </c:pt>
                  <c:pt idx="1">
                    <c:v>18-34</c:v>
                  </c:pt>
                  <c:pt idx="2">
                    <c:v>35-49</c:v>
                  </c:pt>
                  <c:pt idx="3">
                    <c:v>50-64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70</c:v>
                </c:pt>
                <c:pt idx="2">
                  <c:v>63</c:v>
                </c:pt>
                <c:pt idx="3">
                  <c:v>70</c:v>
                </c:pt>
                <c:pt idx="4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Telehealth share of visits (%)   ·   all visits 9.1%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Telehealth share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Type 2 diabetes</c:v>
                  </c:pt>
                  <c:pt idx="1">
                    <c:v>Chronic kidney disease</c:v>
                  </c:pt>
                  <c:pt idx="2">
                    <c:v>Hypertension</c:v>
                  </c:pt>
                  <c:pt idx="3">
                    <c:v>Obesity</c:v>
                  </c:pt>
                  <c:pt idx="4">
                    <c:v>Prediabetes</c:v>
                  </c:pt>
                  <c:pt idx="5">
                    <c:v>Heart disease</c:v>
                  </c:pt>
                  <c:pt idx="6">
                    <c:v>Asthma</c:v>
                  </c:pt>
                  <c:pt idx="7">
                    <c:v>Behavioural health</c:v>
                  </c:pt>
                  <c:pt idx="8">
                    <c:v>Hyperlipidemia</c:v>
                  </c:pt>
                  <c:pt idx="9">
                    <c:v>Chronic pain</c:v>
                  </c:pt>
                  <c:pt idx="10">
                    <c:v>Cancer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5.8</c:v>
                </c:pt>
                <c:pt idx="1">
                  <c:v>5.8</c:v>
                </c:pt>
                <c:pt idx="2">
                  <c:v>7.6</c:v>
                </c:pt>
                <c:pt idx="3">
                  <c:v>9.3</c:v>
                </c:pt>
                <c:pt idx="4">
                  <c:v>9.3</c:v>
                </c:pt>
                <c:pt idx="5">
                  <c:v>9.9</c:v>
                </c:pt>
                <c:pt idx="6">
                  <c:v>11</c:v>
                </c:pt>
                <c:pt idx="7">
                  <c:v>11</c:v>
                </c:pt>
                <c:pt idx="8">
                  <c:v>11.1</c:v>
                </c:pt>
                <c:pt idx="9">
                  <c:v>12.7</c:v>
                </c:pt>
                <c:pt idx="10">
                  <c:v>16.6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b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No-show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 person</c:v>
                </c:pt>
              </c:strCache>
            </c:strRef>
          </c:tx>
          <c:spPr>
            <a:solidFill>
              <a:srgbClr val="D2751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0-17</c:v>
                  </c:pt>
                  <c:pt idx="1">
                    <c:v>18-34</c:v>
                  </c:pt>
                  <c:pt idx="2">
                    <c:v>35-49</c:v>
                  </c:pt>
                  <c:pt idx="3">
                    <c:v>50-64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15.3</c:v>
                </c:pt>
                <c:pt idx="1">
                  <c:v>21</c:v>
                </c:pt>
                <c:pt idx="2">
                  <c:v>16.5</c:v>
                </c:pt>
                <c:pt idx="3">
                  <c:v>11.9</c:v>
                </c:pt>
                <c:pt idx="4">
                  <c:v>10.3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Telehealth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0-17</c:v>
                  </c:pt>
                  <c:pt idx="1">
                    <c:v>18-34</c:v>
                  </c:pt>
                  <c:pt idx="2">
                    <c:v>35-49</c:v>
                  </c:pt>
                  <c:pt idx="3">
                    <c:v>50-64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5.8</c:v>
                </c:pt>
                <c:pt idx="1">
                  <c:v>11.2</c:v>
                </c:pt>
                <c:pt idx="2">
                  <c:v>9</c:v>
                </c:pt>
                <c:pt idx="3">
                  <c:v>6.2</c:v>
                </c:pt>
                <c:pt idx="4">
                  <c:v>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FB3C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Emergency discharges followed up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7 days</c:v>
                </c:pt>
              </c:strCache>
            </c:strRef>
          </c:tx>
          <c:spPr>
            <a:solidFill>
              <a:srgbClr val="0E7A6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0-17</c:v>
                  </c:pt>
                  <c:pt idx="1">
                    <c:v>18-34</c:v>
                  </c:pt>
                  <c:pt idx="2">
                    <c:v>35-49</c:v>
                  </c:pt>
                  <c:pt idx="3">
                    <c:v>50-64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17.5</c:v>
                </c:pt>
                <c:pt idx="1">
                  <c:v>10.5</c:v>
                </c:pt>
                <c:pt idx="2">
                  <c:v>9</c:v>
                </c:pt>
                <c:pt idx="3">
                  <c:v>9.6</c:v>
                </c:pt>
                <c:pt idx="4">
                  <c:v>10.7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Within 30 days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0-17</c:v>
                  </c:pt>
                  <c:pt idx="1">
                    <c:v>18-34</c:v>
                  </c:pt>
                  <c:pt idx="2">
                    <c:v>35-49</c:v>
                  </c:pt>
                  <c:pt idx="3">
                    <c:v>50-64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30.1</c:v>
                </c:pt>
                <c:pt idx="1">
                  <c:v>24.5</c:v>
                </c:pt>
                <c:pt idx="2">
                  <c:v>26.5</c:v>
                </c:pt>
                <c:pt idx="3">
                  <c:v>39.1</c:v>
                </c:pt>
                <c:pt idx="4">
                  <c:v>44.5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FB3C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On a six-month cadence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 person only in 2021-22</c:v>
                </c:pt>
              </c:strCache>
            </c:strRef>
          </c:tx>
          <c:spPr>
            <a:solidFill>
              <a:srgbClr val="D275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Asthma</c:v>
                  </c:pt>
                  <c:pt idx="1">
                    <c:v>Heart disease</c:v>
                  </c:pt>
                  <c:pt idx="2">
                    <c:v>Hypertension</c:v>
                  </c:pt>
                  <c:pt idx="3">
                    <c:v>Behavioural health</c:v>
                  </c:pt>
                  <c:pt idx="4">
                    <c:v>Type 2 diabetes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9</c:v>
                </c:pt>
                <c:pt idx="2">
                  <c:v>12</c:v>
                </c:pt>
                <c:pt idx="3">
                  <c:v>10</c:v>
                </c:pt>
                <c:pt idx="4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Used telehealth in 2021-22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Asthma</c:v>
                  </c:pt>
                  <c:pt idx="1">
                    <c:v>Heart disease</c:v>
                  </c:pt>
                  <c:pt idx="2">
                    <c:v>Hypertension</c:v>
                  </c:pt>
                  <c:pt idx="3">
                    <c:v>Behavioural health</c:v>
                  </c:pt>
                  <c:pt idx="4">
                    <c:v>Type 2 diabetes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</c:v>
                </c:pt>
                <c:pt idx="1">
                  <c:v>28</c:v>
                </c:pt>
                <c:pt idx="2">
                  <c:v>29</c:v>
                </c:pt>
                <c:pt idx="3">
                  <c:v>32</c:v>
                </c:pt>
                <c:pt idx="4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FB3C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F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EF5"/>
                </a:solidFill>
                <a:latin typeface="Calibri"/>
              </a:rPr>
              <a:t>First-time users returning within 12 months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 virtual visit within 12 months</c:v>
                </c:pt>
              </c:strCache>
            </c:strRef>
          </c:tx>
          <c:spPr>
            <a:solidFill>
              <a:srgbClr val="14A0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E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</c:v>
                </c:pt>
                <c:pt idx="1">
                  <c:v>41</c:v>
                </c:pt>
                <c:pt idx="2">
                  <c:v>26</c:v>
                </c:pt>
                <c:pt idx="3">
                  <c:v>26</c:v>
                </c:pt>
                <c:pt idx="4">
                  <c:v>24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E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2741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2 of the health data analytics portfolio. A SQL-first analysis on a Synthea synthetic cohort loaded into SQLite: telehealth adoption, no-show behaviour, post-discharge and chronic-care follow-up, and engagement by age and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questions map to ten queries. The cohort is synthetic because no public patient-level EHR includes telehealth modality and no-shows.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identifiers are dropped at load time even though they are synthetic. Integer surrogate keys replace Synthea UUIDs; the patient UUID is kept for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output. The spike and plateau match published US ambulatory-care figures by construction; the interesting part is the slowing inflow of new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output. Reach (ever used) versus intensity (share of visits) are different KPIs and lead to different conclusions about seniors.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and Q4 output. Cohort sizes: cancer 43, chronic pain 385, hyperlipidemia 126, behavioural health 152, asthma 88, heart disease 210, hypertension 283, CKD 95, type 2 diabetes 138.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and Q6 output. The telehealth advantage holds in every band and is largest where in-person no-shows are worst.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Q7 output. Transitions-of-care measure. Cells with fewer than 20 discharges are suppressed.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Q8 and Q10 output. Exposure is measured in 2021-22 and the outcome in 2023-25 so exposure precedes outcome, but baseline utilisation still confounds the comparison. Kidney disease (57% vs 58%) is omitted from the chart: dialysis fixes the cadence regardless of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The method (schema plus ten queries) transfers to a real warehouse unchanged; the numbers need local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91440"/>
            <a:ext cx="3108960" cy="310896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9144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02  ·  HEALTH DATA ANALYTICS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240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Analysis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03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SQL queries over a synthetic EHR: who adopted telehealth, whether it cut no-shows, and where follow-up care breaks down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SQL (CTEs, window functions) · Python · pandas · Synthea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EHR  →  SQLite schema  →  Adoption · No-shows · Follow-up · Engagement  → 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is mainstream; the questions got harder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after the 2020 spike: where did virtual care settle, for whom, and which lever should a digital health team pull next?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952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0136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14884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has telehealth settled as a share of care, and is that share the same for a 25-year-old with anxiety as for a 70-year-old with heart failure?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715768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898648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301934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825496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reliability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17296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appointments waste clinical capacity. Do virtual visits actually get missed less often, and for whom?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739896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922776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043477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3849624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adherence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463040" y="4197096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patients seen after an emergency or inpatient discharge? Are chronic patients reviewed every six months?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764024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4946904"/>
            <a:ext cx="548640" cy="54864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5067605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4873752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463040" y="5221224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 groups and condition cohorts are engaged, and do first-time telehealth users stick with it?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680960" y="1691640"/>
            <a:ext cx="3931920" cy="3977640"/>
          </a:xfrm>
          <a:prstGeom prst="roundRect">
            <a:avLst>
              <a:gd name="adj" fmla="val 2791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552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95528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4000" dirty="0"/>
          </a:p>
        </p:txBody>
      </p:sp>
      <p:sp>
        <p:nvSpPr>
          <p:cNvPr id="28" name="Text 22"/>
          <p:cNvSpPr txBox="1"/>
          <p:nvPr/>
        </p:nvSpPr>
        <p:spPr>
          <a:xfrm>
            <a:off x="795528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patients, Massachusetts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969264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yrs</a:t>
            </a:r>
            <a:endParaRPr lang="en-US" sz="4000" dirty="0"/>
          </a:p>
        </p:txBody>
      </p:sp>
      <p:sp>
        <p:nvSpPr>
          <p:cNvPr id="30" name="Text 24"/>
          <p:cNvSpPr txBox="1"/>
          <p:nvPr/>
        </p:nvSpPr>
        <p:spPr>
          <a:xfrm>
            <a:off x="969264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to 2025, seven full years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795528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46.5k</a:t>
            </a:r>
            <a:endParaRPr lang="en-US" sz="4000" dirty="0"/>
          </a:p>
        </p:txBody>
      </p:sp>
      <p:sp>
        <p:nvSpPr>
          <p:cNvPr id="32" name="Text 26"/>
          <p:cNvSpPr txBox="1"/>
          <p:nvPr/>
        </p:nvSpPr>
        <p:spPr>
          <a:xfrm>
            <a:off x="795528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visits, of which 9% virtual since 2021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969264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52.8k</a:t>
            </a:r>
            <a:endParaRPr lang="en-US" sz="4000" dirty="0"/>
          </a:p>
        </p:txBody>
      </p:sp>
      <p:sp>
        <p:nvSpPr>
          <p:cNvPr id="34" name="Text 28"/>
          <p:cNvSpPr txBox="1"/>
          <p:nvPr/>
        </p:nvSpPr>
        <p:spPr>
          <a:xfrm>
            <a:off x="969264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bookings incl. no-shows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795528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synthetic EHR + a documented modality and scheduling simulation layer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a query over four clinical tables plus a scheduling table, which is exactly the shape of a real EHR warehouse. So the analysis is written as reusable SQL.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SQLite warehouse from a Synthea synthetic EHR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tables and two views; the ten queries use joins, CTEs and window functions and port unchanged to Postgres or BigQuery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 ·  1,500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date, gender, race, income, age_group at 2025-12-31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169164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  ·  46,524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modality (telehealth / in person), SNOMED type and reason,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764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 ·  39,015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onset, resolution, condition_group bucket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62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 ·  37,882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stop, dispenses, treated condition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278892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54680" y="2862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 ·  52,821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and booked dates, lead_days, modality, status: completed / no_show / cancelled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27889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862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· organizations · payers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 clinicians, 779 sites, 10 payers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74904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v_patient_chronic  (view)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patient x chronic-condition bucket with first onset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80560" y="3886200"/>
            <a:ext cx="384048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v_encounter_demo  (view)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 joined to demographics, visit year and month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5360" y="1691640"/>
            <a:ext cx="3017520" cy="3063240"/>
          </a:xfrm>
          <a:prstGeom prst="roundRect">
            <a:avLst>
              <a:gd name="adj" fmla="val 3636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2396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layers added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2103120"/>
            <a:ext cx="2651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modality. </a:t>
            </a:r>
            <a:pPr indent="0" marL="0">
              <a:buNone/>
            </a:pPr>
            <a:r>
              <a:rPr lang="en-US" sz="10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tags under 1% of visits as virtual. Eligible visits (problem, follow-up, symptom, check-up) are switched to telehealth by year, age band, visit reason and a per-patient propensity. Procedures, immunisations, prenatal, dialysis, dental and acute care stay in person.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Appointments. </a:t>
            </a:r>
            <a:pPr indent="0" marL="0">
              <a:buNone/>
            </a:pPr>
            <a:r>
              <a:rPr lang="en-US" sz="10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and cancelled bookings are generated by modality, age, lead time, weekday, reason and a per-patient reliability effect. Seeded and parameterised in build_database.py; the clinical record is untouched.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9834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Definitions.  </a:t>
            </a:r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share = virtual / all visits (about three-quarters of visits can never be virtual, so 9% of all visits is a third of eligible ones).  No-show rate = no_show / all bookings.  Post-discharge follow-up = first outpatient contact after an ED or inpatient stay.  Six-month cadence = no gap over 200 days across 2023-25.  Steady-state comparisons use 2021-2025.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settled at one visit in eleven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share of all visits by year (%), 1,500 patients. Query 1: CTEs, LAG() for the year-on-year change, running SUM() for the user base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4 / 10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64592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visits were virtual in 2020, from 0.7% the year before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063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plateau since 2021: about a third of eligible visit types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4343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1,026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5029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(68%) have had at least one telehealth visit; new users per year fell from 420 to 68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is no longer a first-time-user story: two-thirds of the population has tried it, so growth now depends on repeat use (slide 9).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reach is flat; intensity peaks at 35-49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measures of adoption by age group, 2021-2025. Query 2: SUM() OVER () population benchmark and RANK()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5 / 10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64592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use telehealth less often per visit, not less at all. </a:t>
            </a:r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 of patients aged 65+ have had a virtual visit, the same as 18-34s. Children are lowest on both measures because well-child checks and immunisations cannot be delivered remotely. The design problem for seniors is which visits are offered virtually, not adoption.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Cancer, pain and mental-health care lean virtual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share of visits after diagnosis by condition cohort, 2021-2025. Query 3: view-based cohort, date-conditioned join, DENSE_RANK()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6 / 10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virtual visits are used for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reasons, share of all telehealth visits (query 4)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0" y="2459736"/>
            <a:ext cx="109728" cy="201168"/>
          </a:xfrm>
          <a:prstGeom prst="rect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4380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Substance-use treatment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2862072"/>
            <a:ext cx="109728" cy="201168"/>
          </a:xfrm>
          <a:prstGeom prst="rect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43800" y="2779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check-up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881360" y="27797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0" y="3264408"/>
            <a:ext cx="109728" cy="201168"/>
          </a:xfrm>
          <a:prstGeom prst="rect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43800" y="3182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Hyperlipidemia review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31821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0" y="3666744"/>
            <a:ext cx="109728" cy="201168"/>
          </a:xfrm>
          <a:prstGeom prst="rect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43800" y="3584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sinusitis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881360" y="35844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0" y="4069080"/>
            <a:ext cx="109728" cy="201168"/>
          </a:xfrm>
          <a:prstGeom prst="rect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43800" y="39867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Contraception care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881360" y="39867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4471416"/>
            <a:ext cx="109728" cy="201168"/>
          </a:xfrm>
          <a:prstGeom prst="rect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4380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follow-up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4389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315200" y="4873752"/>
            <a:ext cx="109728" cy="201168"/>
          </a:xfrm>
          <a:prstGeom prst="rect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43800" y="4791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Pharyngitis / bronchitis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47914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and kidney-disease cohorts sit below average even though 74-80% of those patients have used telehealth: dialysis, foot and eye checks and lab draws dilute the share.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telehealth share per condition on eligible visits, not all visits, or the programmes with the heaviest hands-on care will look like laggards.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visits halve the no-show rate in every age band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by age group and modality, 2021-2025. Queries 5 and 6: SUM() OVER (PARTITION BY) benchmarks, UNION ALL driver table, RANK()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7 / 10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4008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is the strongest lever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by lead time, in person vs telehealth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377440"/>
          <a:ext cx="4297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0-3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4-14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15-30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31+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FB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315200" y="4434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adds almost nothing once lead time is accounted for, and cancellations run at a flat 5% regardless of modality. Overall: 15.1% in person vs 8.0% virtual.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Actionable: </a:t>
            </a:r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virtual slot to any in-person booking more than two weeks out, starting with under-35s, where in-person no-shows exceed 20% and the virtual gap is widest (9.8 points).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ED discharges get no follow-up within 30 days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emergency discharges with an outpatient, wellness or virtual visit afterwards, by age group. Query 7: self-join, ROW_NUMBER() first event, LEFT JOIN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8 / 10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64592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discharges see a clinician within a week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971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follow-up for 18-49 year olds, vs 45% at 65+. Inpatient discharges look the same (25-44%)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251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21-38%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937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working-age follow-ups that do happen are already virtual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Actionable: </a:t>
            </a:r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virtual check-in within seven days of discharge. This is the measure most likely to move with a virtual pathway, because the barrier is logistics, not clinical need.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follows telehealth use; second visits leak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share of patients seen at least every six months through 2023-25 by prior telehealth use (query 8, LAG). Right: first-time users returning within 12 months (query 10, LEAD)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9 / 10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760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583680" y="164592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telehealth users are 2-3x more likely to stay on cadence </a:t>
            </a:r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 association: frequent attenders try telehealth first), so the in-person-only cohort is where the gaps are. Meanwhile second-visit conversion fell from 47% for 2020 first-timers to a quarter for 2022+. </a:t>
            </a:r>
            <a:pPr indent="0" marL="0">
              <a:buNone/>
            </a:pPr>
            <a:r>
              <a:rPr lang="en-US" sz="12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next virtual visit before the first one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operations, quality and informatics teams should do with this, and what the synthetic data cannot tell us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Patient Engagement  ·  10 / 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94360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225948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1214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long-lead in-person bookings to virtual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468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under-35s booked 2+ weeks out: 20%+ no-shows in person, halved virtually.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862072"/>
            <a:ext cx="594360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999232"/>
            <a:ext cx="502920" cy="50292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3109874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971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virtual post-discharge check-in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3192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of ED discharges are seen within a week; 18-49s reach 25% at 30 days.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712464"/>
            <a:ext cx="594360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849624"/>
            <a:ext cx="502920" cy="50292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3960266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8221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second virtual visit at the first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416966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use fell from 47% to ~25% of first-timers. Retention, not acquisition.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562856"/>
            <a:ext cx="594360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4700016"/>
            <a:ext cx="502920" cy="50292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" y="4810658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46725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to the in-person-only chronic cohort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417320" y="502005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heart-disease and behavioural-health patients on cadence only 9-12% of the time.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5413248"/>
            <a:ext cx="594360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5550408"/>
            <a:ext cx="502920" cy="502920"/>
          </a:xfrm>
          <a:prstGeom prst="ellipse">
            <a:avLst/>
          </a:prstGeom>
          <a:solidFill>
            <a:srgbClr val="14A08C"/>
          </a:solidFill>
          <a:ln w="12700">
            <a:solidFill>
              <a:srgbClr val="14A08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" y="56610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417320" y="552297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modality and no-shows as first-class data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1417320" y="58704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here depends on two fields most EHR extracts lack; ship the queries as views.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949440" y="2011680"/>
            <a:ext cx="4663440" cy="4251960"/>
          </a:xfrm>
          <a:prstGeom prst="roundRect">
            <a:avLst>
              <a:gd name="adj" fmla="val 2581"/>
            </a:avLst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178040" y="219456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population. </a:t>
            </a:r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Synthea's clinical record is realistic but not real, and the modality and scheduling layers are simulations calibrated to published US rates. Their headline patterns are built in by design; the interactions with the clinical record are what the queries surface. Treat the numbers as illustrative and the method as reusable.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claims. </a:t>
            </a:r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comparison is confounded by baseline utilisation; a real evaluation would match on prior visit frequency or use a difference-in-differences design around a rollout.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cells. </a:t>
            </a:r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patients from one state and one seed; cells under 10-20 patients are suppressed in queries 7 and 9.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specialty. </a:t>
            </a:r>
            <a:pPr indent="0" marL="0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assigns every visit to general practice, so specialty-level telehealth analysis is out of scope.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Telehealth &amp; Patient Engagement Analysis</dc:title>
  <dc:subject>PptxGenJS Presentation</dc:subject>
  <dc:creator>Health Data Analytics portfolio</dc:creator>
  <cp:lastModifiedBy>Health Data Analytics portfolio</cp:lastModifiedBy>
  <cp:revision>1</cp:revision>
  <dcterms:created xsi:type="dcterms:W3CDTF">2026-09-26T17:48:44Z</dcterms:created>
  <dcterms:modified xsi:type="dcterms:W3CDTF">2026-09-26T17:48:44Z</dcterms:modified>
</cp:coreProperties>
</file>