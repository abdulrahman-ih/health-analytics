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7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7-day average occupancy</c:v>
                </c:pt>
              </c:strCache>
            </c:strRef>
          </c:tx>
          <c:spPr>
            <a:solidFill>
              <a:srgbClr val="00949C"/>
            </a:solidFill>
            <a:ln w="25400" cap="flat">
              <a:solidFill>
                <a:srgbClr val="00949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0949C"/>
              </a:solidFill>
              <a:ln w="9525" cap="flat">
                <a:solidFill>
                  <a:srgbClr val="00949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Sheet1!$A$2:$A$53</c:f>
              <c:multiLvlStrCache>
                <c:ptCount val="52"/>
                <c:lvl>
                  <c:pt idx="0">
                    <c:v>07 Jan</c:v>
                  </c:pt>
                  <c:pt idx="1">
                    <c:v>14 Jan</c:v>
                  </c:pt>
                  <c:pt idx="2">
                    <c:v>21 Jan</c:v>
                  </c:pt>
                  <c:pt idx="3">
                    <c:v>28 Jan</c:v>
                  </c:pt>
                  <c:pt idx="4">
                    <c:v>04 Feb</c:v>
                  </c:pt>
                  <c:pt idx="5">
                    <c:v>11 Feb</c:v>
                  </c:pt>
                  <c:pt idx="6">
                    <c:v>18 Feb</c:v>
                  </c:pt>
                  <c:pt idx="7">
                    <c:v>25 Feb</c:v>
                  </c:pt>
                  <c:pt idx="8">
                    <c:v>04 Mar</c:v>
                  </c:pt>
                  <c:pt idx="9">
                    <c:v>11 Mar</c:v>
                  </c:pt>
                  <c:pt idx="10">
                    <c:v>18 Mar</c:v>
                  </c:pt>
                  <c:pt idx="11">
                    <c:v>25 Mar</c:v>
                  </c:pt>
                  <c:pt idx="12">
                    <c:v>01 Apr</c:v>
                  </c:pt>
                  <c:pt idx="13">
                    <c:v>08 Apr</c:v>
                  </c:pt>
                  <c:pt idx="14">
                    <c:v>15 Apr</c:v>
                  </c:pt>
                  <c:pt idx="15">
                    <c:v>22 Apr</c:v>
                  </c:pt>
                  <c:pt idx="16">
                    <c:v>29 Apr</c:v>
                  </c:pt>
                  <c:pt idx="17">
                    <c:v>06 May</c:v>
                  </c:pt>
                  <c:pt idx="18">
                    <c:v>13 May</c:v>
                  </c:pt>
                  <c:pt idx="19">
                    <c:v>20 May</c:v>
                  </c:pt>
                  <c:pt idx="20">
                    <c:v>27 May</c:v>
                  </c:pt>
                  <c:pt idx="21">
                    <c:v>03 Jun</c:v>
                  </c:pt>
                  <c:pt idx="22">
                    <c:v>10 Jun</c:v>
                  </c:pt>
                  <c:pt idx="23">
                    <c:v>17 Jun</c:v>
                  </c:pt>
                  <c:pt idx="24">
                    <c:v>24 Jun</c:v>
                  </c:pt>
                  <c:pt idx="25">
                    <c:v>01 Jul</c:v>
                  </c:pt>
                  <c:pt idx="26">
                    <c:v>08 Jul</c:v>
                  </c:pt>
                  <c:pt idx="27">
                    <c:v>15 Jul</c:v>
                  </c:pt>
                  <c:pt idx="28">
                    <c:v>22 Jul</c:v>
                  </c:pt>
                  <c:pt idx="29">
                    <c:v>29 Jul</c:v>
                  </c:pt>
                  <c:pt idx="30">
                    <c:v>05 Aug</c:v>
                  </c:pt>
                  <c:pt idx="31">
                    <c:v>12 Aug</c:v>
                  </c:pt>
                  <c:pt idx="32">
                    <c:v>19 Aug</c:v>
                  </c:pt>
                  <c:pt idx="33">
                    <c:v>26 Aug</c:v>
                  </c:pt>
                  <c:pt idx="34">
                    <c:v>02 Sep</c:v>
                  </c:pt>
                  <c:pt idx="35">
                    <c:v>09 Sep</c:v>
                  </c:pt>
                  <c:pt idx="36">
                    <c:v>16 Sep</c:v>
                  </c:pt>
                  <c:pt idx="37">
                    <c:v>23 Sep</c:v>
                  </c:pt>
                  <c:pt idx="38">
                    <c:v>30 Sep</c:v>
                  </c:pt>
                  <c:pt idx="39">
                    <c:v>07 Oct</c:v>
                  </c:pt>
                  <c:pt idx="40">
                    <c:v>14 Oct</c:v>
                  </c:pt>
                  <c:pt idx="41">
                    <c:v>21 Oct</c:v>
                  </c:pt>
                  <c:pt idx="42">
                    <c:v>28 Oct</c:v>
                  </c:pt>
                  <c:pt idx="43">
                    <c:v>04 Nov</c:v>
                  </c:pt>
                  <c:pt idx="44">
                    <c:v>11 Nov</c:v>
                  </c:pt>
                  <c:pt idx="45">
                    <c:v>18 Nov</c:v>
                  </c:pt>
                  <c:pt idx="46">
                    <c:v>25 Nov</c:v>
                  </c:pt>
                  <c:pt idx="47">
                    <c:v>02 Dec</c:v>
                  </c:pt>
                  <c:pt idx="48">
                    <c:v>09 Dec</c:v>
                  </c:pt>
                  <c:pt idx="49">
                    <c:v>16 Dec</c:v>
                  </c:pt>
                  <c:pt idx="50">
                    <c:v>23 Dec</c:v>
                  </c:pt>
                  <c:pt idx="51">
                    <c:v>30 Dec</c:v>
                  </c:pt>
                </c:lvl>
              </c:multiLvlStrCache>
            </c:multiLvlStrRef>
          </c:cat>
          <c:val>
            <c:numRef>
              <c:f>Sheet1!$B$2:$B$53</c:f>
              <c:numCache>
                <c:formatCode>General</c:formatCode>
                <c:ptCount val="52"/>
                <c:pt idx="0">
                  <c:v>81.4</c:v>
                </c:pt>
                <c:pt idx="1">
                  <c:v>89.2</c:v>
                </c:pt>
                <c:pt idx="2">
                  <c:v>89.9</c:v>
                </c:pt>
                <c:pt idx="3">
                  <c:v>89.3</c:v>
                </c:pt>
                <c:pt idx="4">
                  <c:v>86.6</c:v>
                </c:pt>
                <c:pt idx="5">
                  <c:v>84.1</c:v>
                </c:pt>
                <c:pt idx="6">
                  <c:v>85.8</c:v>
                </c:pt>
                <c:pt idx="7">
                  <c:v>86.6</c:v>
                </c:pt>
                <c:pt idx="8">
                  <c:v>87.2</c:v>
                </c:pt>
                <c:pt idx="9">
                  <c:v>89.1</c:v>
                </c:pt>
                <c:pt idx="10">
                  <c:v>86.5</c:v>
                </c:pt>
                <c:pt idx="11">
                  <c:v>82.8</c:v>
                </c:pt>
                <c:pt idx="12">
                  <c:v>87.9</c:v>
                </c:pt>
                <c:pt idx="13">
                  <c:v>90.4</c:v>
                </c:pt>
                <c:pt idx="14">
                  <c:v>88.1</c:v>
                </c:pt>
                <c:pt idx="15">
                  <c:v>86</c:v>
                </c:pt>
                <c:pt idx="16">
                  <c:v>85.6</c:v>
                </c:pt>
                <c:pt idx="17">
                  <c:v>84.3</c:v>
                </c:pt>
                <c:pt idx="18">
                  <c:v>85.7</c:v>
                </c:pt>
                <c:pt idx="19">
                  <c:v>86.1</c:v>
                </c:pt>
                <c:pt idx="20">
                  <c:v>87.4</c:v>
                </c:pt>
                <c:pt idx="21">
                  <c:v>82.2</c:v>
                </c:pt>
                <c:pt idx="22">
                  <c:v>85.1</c:v>
                </c:pt>
                <c:pt idx="23">
                  <c:v>81.9</c:v>
                </c:pt>
                <c:pt idx="24">
                  <c:v>79.4</c:v>
                </c:pt>
                <c:pt idx="25">
                  <c:v>82.9</c:v>
                </c:pt>
                <c:pt idx="26">
                  <c:v>84.7</c:v>
                </c:pt>
                <c:pt idx="27">
                  <c:v>81.5</c:v>
                </c:pt>
                <c:pt idx="28">
                  <c:v>79.2</c:v>
                </c:pt>
                <c:pt idx="29">
                  <c:v>79.7</c:v>
                </c:pt>
                <c:pt idx="30">
                  <c:v>82.7</c:v>
                </c:pt>
                <c:pt idx="31">
                  <c:v>77.9</c:v>
                </c:pt>
                <c:pt idx="32">
                  <c:v>79.1</c:v>
                </c:pt>
                <c:pt idx="33">
                  <c:v>80.6</c:v>
                </c:pt>
                <c:pt idx="34">
                  <c:v>81.3</c:v>
                </c:pt>
                <c:pt idx="35">
                  <c:v>85.1</c:v>
                </c:pt>
                <c:pt idx="36">
                  <c:v>85.8</c:v>
                </c:pt>
                <c:pt idx="37">
                  <c:v>85</c:v>
                </c:pt>
                <c:pt idx="38">
                  <c:v>84.3</c:v>
                </c:pt>
                <c:pt idx="39">
                  <c:v>83.4</c:v>
                </c:pt>
                <c:pt idx="40">
                  <c:v>84.1</c:v>
                </c:pt>
                <c:pt idx="41">
                  <c:v>82.8</c:v>
                </c:pt>
                <c:pt idx="42">
                  <c:v>84.6</c:v>
                </c:pt>
                <c:pt idx="43">
                  <c:v>89.9</c:v>
                </c:pt>
                <c:pt idx="44">
                  <c:v>88.3</c:v>
                </c:pt>
                <c:pt idx="45">
                  <c:v>87.5</c:v>
                </c:pt>
                <c:pt idx="46">
                  <c:v>87.9</c:v>
                </c:pt>
                <c:pt idx="47">
                  <c:v>88.8</c:v>
                </c:pt>
                <c:pt idx="48">
                  <c:v>89.7</c:v>
                </c:pt>
                <c:pt idx="49">
                  <c:v>88.6</c:v>
                </c:pt>
                <c:pt idx="50">
                  <c:v>89.3</c:v>
                </c:pt>
                <c:pt idx="51">
                  <c:v>78.6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85% planning target</c:v>
                </c:pt>
              </c:strCache>
            </c:strRef>
          </c:tx>
          <c:spPr>
            <a:solidFill>
              <a:srgbClr val="D99A00"/>
            </a:solidFill>
            <a:ln w="25400" cap="flat">
              <a:solidFill>
                <a:srgbClr val="D99A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9A00"/>
              </a:solidFill>
              <a:ln w="9525" cap="flat">
                <a:solidFill>
                  <a:srgbClr val="D99A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Sheet1!$A$2:$A$53</c:f>
              <c:multiLvlStrCache>
                <c:ptCount val="52"/>
                <c:lvl>
                  <c:pt idx="0">
                    <c:v>07 Jan</c:v>
                  </c:pt>
                  <c:pt idx="1">
                    <c:v>14 Jan</c:v>
                  </c:pt>
                  <c:pt idx="2">
                    <c:v>21 Jan</c:v>
                  </c:pt>
                  <c:pt idx="3">
                    <c:v>28 Jan</c:v>
                  </c:pt>
                  <c:pt idx="4">
                    <c:v>04 Feb</c:v>
                  </c:pt>
                  <c:pt idx="5">
                    <c:v>11 Feb</c:v>
                  </c:pt>
                  <c:pt idx="6">
                    <c:v>18 Feb</c:v>
                  </c:pt>
                  <c:pt idx="7">
                    <c:v>25 Feb</c:v>
                  </c:pt>
                  <c:pt idx="8">
                    <c:v>04 Mar</c:v>
                  </c:pt>
                  <c:pt idx="9">
                    <c:v>11 Mar</c:v>
                  </c:pt>
                  <c:pt idx="10">
                    <c:v>18 Mar</c:v>
                  </c:pt>
                  <c:pt idx="11">
                    <c:v>25 Mar</c:v>
                  </c:pt>
                  <c:pt idx="12">
                    <c:v>01 Apr</c:v>
                  </c:pt>
                  <c:pt idx="13">
                    <c:v>08 Apr</c:v>
                  </c:pt>
                  <c:pt idx="14">
                    <c:v>15 Apr</c:v>
                  </c:pt>
                  <c:pt idx="15">
                    <c:v>22 Apr</c:v>
                  </c:pt>
                  <c:pt idx="16">
                    <c:v>29 Apr</c:v>
                  </c:pt>
                  <c:pt idx="17">
                    <c:v>06 May</c:v>
                  </c:pt>
                  <c:pt idx="18">
                    <c:v>13 May</c:v>
                  </c:pt>
                  <c:pt idx="19">
                    <c:v>20 May</c:v>
                  </c:pt>
                  <c:pt idx="20">
                    <c:v>27 May</c:v>
                  </c:pt>
                  <c:pt idx="21">
                    <c:v>03 Jun</c:v>
                  </c:pt>
                  <c:pt idx="22">
                    <c:v>10 Jun</c:v>
                  </c:pt>
                  <c:pt idx="23">
                    <c:v>17 Jun</c:v>
                  </c:pt>
                  <c:pt idx="24">
                    <c:v>24 Jun</c:v>
                  </c:pt>
                  <c:pt idx="25">
                    <c:v>01 Jul</c:v>
                  </c:pt>
                  <c:pt idx="26">
                    <c:v>08 Jul</c:v>
                  </c:pt>
                  <c:pt idx="27">
                    <c:v>15 Jul</c:v>
                  </c:pt>
                  <c:pt idx="28">
                    <c:v>22 Jul</c:v>
                  </c:pt>
                  <c:pt idx="29">
                    <c:v>29 Jul</c:v>
                  </c:pt>
                  <c:pt idx="30">
                    <c:v>05 Aug</c:v>
                  </c:pt>
                  <c:pt idx="31">
                    <c:v>12 Aug</c:v>
                  </c:pt>
                  <c:pt idx="32">
                    <c:v>19 Aug</c:v>
                  </c:pt>
                  <c:pt idx="33">
                    <c:v>26 Aug</c:v>
                  </c:pt>
                  <c:pt idx="34">
                    <c:v>02 Sep</c:v>
                  </c:pt>
                  <c:pt idx="35">
                    <c:v>09 Sep</c:v>
                  </c:pt>
                  <c:pt idx="36">
                    <c:v>16 Sep</c:v>
                  </c:pt>
                  <c:pt idx="37">
                    <c:v>23 Sep</c:v>
                  </c:pt>
                  <c:pt idx="38">
                    <c:v>30 Sep</c:v>
                  </c:pt>
                  <c:pt idx="39">
                    <c:v>07 Oct</c:v>
                  </c:pt>
                  <c:pt idx="40">
                    <c:v>14 Oct</c:v>
                  </c:pt>
                  <c:pt idx="41">
                    <c:v>21 Oct</c:v>
                  </c:pt>
                  <c:pt idx="42">
                    <c:v>28 Oct</c:v>
                  </c:pt>
                  <c:pt idx="43">
                    <c:v>04 Nov</c:v>
                  </c:pt>
                  <c:pt idx="44">
                    <c:v>11 Nov</c:v>
                  </c:pt>
                  <c:pt idx="45">
                    <c:v>18 Nov</c:v>
                  </c:pt>
                  <c:pt idx="46">
                    <c:v>25 Nov</c:v>
                  </c:pt>
                  <c:pt idx="47">
                    <c:v>02 Dec</c:v>
                  </c:pt>
                  <c:pt idx="48">
                    <c:v>09 Dec</c:v>
                  </c:pt>
                  <c:pt idx="49">
                    <c:v>16 Dec</c:v>
                  </c:pt>
                  <c:pt idx="50">
                    <c:v>23 Dec</c:v>
                  </c:pt>
                  <c:pt idx="51">
                    <c:v>30 Dec</c:v>
                  </c:pt>
                </c:lvl>
              </c:multiLvlStrCache>
            </c:multiLvlStrRef>
          </c:cat>
          <c:val>
            <c:numRef>
              <c:f>Sheet1!$C$2:$C$53</c:f>
              <c:numCache>
                <c:formatCode>General</c:formatCode>
                <c:ptCount val="52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  <c:pt idx="4">
                  <c:v>85</c:v>
                </c:pt>
                <c:pt idx="5">
                  <c:v>85</c:v>
                </c:pt>
                <c:pt idx="6">
                  <c:v>85</c:v>
                </c:pt>
                <c:pt idx="7">
                  <c:v>85</c:v>
                </c:pt>
                <c:pt idx="8">
                  <c:v>85</c:v>
                </c:pt>
                <c:pt idx="9">
                  <c:v>85</c:v>
                </c:pt>
                <c:pt idx="10">
                  <c:v>85</c:v>
                </c:pt>
                <c:pt idx="11">
                  <c:v>85</c:v>
                </c:pt>
                <c:pt idx="12">
                  <c:v>85</c:v>
                </c:pt>
                <c:pt idx="13">
                  <c:v>85</c:v>
                </c:pt>
                <c:pt idx="14">
                  <c:v>85</c:v>
                </c:pt>
                <c:pt idx="15">
                  <c:v>85</c:v>
                </c:pt>
                <c:pt idx="16">
                  <c:v>85</c:v>
                </c:pt>
                <c:pt idx="17">
                  <c:v>85</c:v>
                </c:pt>
                <c:pt idx="18">
                  <c:v>85</c:v>
                </c:pt>
                <c:pt idx="19">
                  <c:v>85</c:v>
                </c:pt>
                <c:pt idx="20">
                  <c:v>85</c:v>
                </c:pt>
                <c:pt idx="21">
                  <c:v>85</c:v>
                </c:pt>
                <c:pt idx="22">
                  <c:v>85</c:v>
                </c:pt>
                <c:pt idx="23">
                  <c:v>85</c:v>
                </c:pt>
                <c:pt idx="24">
                  <c:v>85</c:v>
                </c:pt>
                <c:pt idx="25">
                  <c:v>85</c:v>
                </c:pt>
                <c:pt idx="26">
                  <c:v>85</c:v>
                </c:pt>
                <c:pt idx="27">
                  <c:v>85</c:v>
                </c:pt>
                <c:pt idx="28">
                  <c:v>85</c:v>
                </c:pt>
                <c:pt idx="29">
                  <c:v>85</c:v>
                </c:pt>
                <c:pt idx="30">
                  <c:v>85</c:v>
                </c:pt>
                <c:pt idx="31">
                  <c:v>85</c:v>
                </c:pt>
                <c:pt idx="32">
                  <c:v>85</c:v>
                </c:pt>
                <c:pt idx="33">
                  <c:v>85</c:v>
                </c:pt>
                <c:pt idx="34">
                  <c:v>85</c:v>
                </c:pt>
                <c:pt idx="35">
                  <c:v>85</c:v>
                </c:pt>
                <c:pt idx="36">
                  <c:v>85</c:v>
                </c:pt>
                <c:pt idx="37">
                  <c:v>85</c:v>
                </c:pt>
                <c:pt idx="38">
                  <c:v>85</c:v>
                </c:pt>
                <c:pt idx="39">
                  <c:v>85</c:v>
                </c:pt>
                <c:pt idx="40">
                  <c:v>85</c:v>
                </c:pt>
                <c:pt idx="41">
                  <c:v>85</c:v>
                </c:pt>
                <c:pt idx="42">
                  <c:v>85</c:v>
                </c:pt>
                <c:pt idx="43">
                  <c:v>85</c:v>
                </c:pt>
                <c:pt idx="44">
                  <c:v>85</c:v>
                </c:pt>
                <c:pt idx="45">
                  <c:v>85</c:v>
                </c:pt>
                <c:pt idx="46">
                  <c:v>85</c:v>
                </c:pt>
                <c:pt idx="47">
                  <c:v>85</c:v>
                </c:pt>
                <c:pt idx="48">
                  <c:v>85</c:v>
                </c:pt>
                <c:pt idx="49">
                  <c:v>85</c:v>
                </c:pt>
                <c:pt idx="50">
                  <c:v>85</c:v>
                </c:pt>
                <c:pt idx="51">
                  <c:v>85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95% no-slack line</c:v>
                </c:pt>
              </c:strCache>
            </c:strRef>
          </c:tx>
          <c:spPr>
            <a:solidFill>
              <a:srgbClr val="C0392B"/>
            </a:solidFill>
            <a:ln w="2540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Sheet1!$A$2:$A$53</c:f>
              <c:multiLvlStrCache>
                <c:ptCount val="52"/>
                <c:lvl>
                  <c:pt idx="0">
                    <c:v>07 Jan</c:v>
                  </c:pt>
                  <c:pt idx="1">
                    <c:v>14 Jan</c:v>
                  </c:pt>
                  <c:pt idx="2">
                    <c:v>21 Jan</c:v>
                  </c:pt>
                  <c:pt idx="3">
                    <c:v>28 Jan</c:v>
                  </c:pt>
                  <c:pt idx="4">
                    <c:v>04 Feb</c:v>
                  </c:pt>
                  <c:pt idx="5">
                    <c:v>11 Feb</c:v>
                  </c:pt>
                  <c:pt idx="6">
                    <c:v>18 Feb</c:v>
                  </c:pt>
                  <c:pt idx="7">
                    <c:v>25 Feb</c:v>
                  </c:pt>
                  <c:pt idx="8">
                    <c:v>04 Mar</c:v>
                  </c:pt>
                  <c:pt idx="9">
                    <c:v>11 Mar</c:v>
                  </c:pt>
                  <c:pt idx="10">
                    <c:v>18 Mar</c:v>
                  </c:pt>
                  <c:pt idx="11">
                    <c:v>25 Mar</c:v>
                  </c:pt>
                  <c:pt idx="12">
                    <c:v>01 Apr</c:v>
                  </c:pt>
                  <c:pt idx="13">
                    <c:v>08 Apr</c:v>
                  </c:pt>
                  <c:pt idx="14">
                    <c:v>15 Apr</c:v>
                  </c:pt>
                  <c:pt idx="15">
                    <c:v>22 Apr</c:v>
                  </c:pt>
                  <c:pt idx="16">
                    <c:v>29 Apr</c:v>
                  </c:pt>
                  <c:pt idx="17">
                    <c:v>06 May</c:v>
                  </c:pt>
                  <c:pt idx="18">
                    <c:v>13 May</c:v>
                  </c:pt>
                  <c:pt idx="19">
                    <c:v>20 May</c:v>
                  </c:pt>
                  <c:pt idx="20">
                    <c:v>27 May</c:v>
                  </c:pt>
                  <c:pt idx="21">
                    <c:v>03 Jun</c:v>
                  </c:pt>
                  <c:pt idx="22">
                    <c:v>10 Jun</c:v>
                  </c:pt>
                  <c:pt idx="23">
                    <c:v>17 Jun</c:v>
                  </c:pt>
                  <c:pt idx="24">
                    <c:v>24 Jun</c:v>
                  </c:pt>
                  <c:pt idx="25">
                    <c:v>01 Jul</c:v>
                  </c:pt>
                  <c:pt idx="26">
                    <c:v>08 Jul</c:v>
                  </c:pt>
                  <c:pt idx="27">
                    <c:v>15 Jul</c:v>
                  </c:pt>
                  <c:pt idx="28">
                    <c:v>22 Jul</c:v>
                  </c:pt>
                  <c:pt idx="29">
                    <c:v>29 Jul</c:v>
                  </c:pt>
                  <c:pt idx="30">
                    <c:v>05 Aug</c:v>
                  </c:pt>
                  <c:pt idx="31">
                    <c:v>12 Aug</c:v>
                  </c:pt>
                  <c:pt idx="32">
                    <c:v>19 Aug</c:v>
                  </c:pt>
                  <c:pt idx="33">
                    <c:v>26 Aug</c:v>
                  </c:pt>
                  <c:pt idx="34">
                    <c:v>02 Sep</c:v>
                  </c:pt>
                  <c:pt idx="35">
                    <c:v>09 Sep</c:v>
                  </c:pt>
                  <c:pt idx="36">
                    <c:v>16 Sep</c:v>
                  </c:pt>
                  <c:pt idx="37">
                    <c:v>23 Sep</c:v>
                  </c:pt>
                  <c:pt idx="38">
                    <c:v>30 Sep</c:v>
                  </c:pt>
                  <c:pt idx="39">
                    <c:v>07 Oct</c:v>
                  </c:pt>
                  <c:pt idx="40">
                    <c:v>14 Oct</c:v>
                  </c:pt>
                  <c:pt idx="41">
                    <c:v>21 Oct</c:v>
                  </c:pt>
                  <c:pt idx="42">
                    <c:v>28 Oct</c:v>
                  </c:pt>
                  <c:pt idx="43">
                    <c:v>04 Nov</c:v>
                  </c:pt>
                  <c:pt idx="44">
                    <c:v>11 Nov</c:v>
                  </c:pt>
                  <c:pt idx="45">
                    <c:v>18 Nov</c:v>
                  </c:pt>
                  <c:pt idx="46">
                    <c:v>25 Nov</c:v>
                  </c:pt>
                  <c:pt idx="47">
                    <c:v>02 Dec</c:v>
                  </c:pt>
                  <c:pt idx="48">
                    <c:v>09 Dec</c:v>
                  </c:pt>
                  <c:pt idx="49">
                    <c:v>16 Dec</c:v>
                  </c:pt>
                  <c:pt idx="50">
                    <c:v>23 Dec</c:v>
                  </c:pt>
                  <c:pt idx="51">
                    <c:v>30 Dec</c:v>
                  </c:pt>
                </c:lvl>
              </c:multiLvlStrCache>
            </c:multiLvlStrRef>
          </c:cat>
          <c:val>
            <c:numRef>
              <c:f>Sheet1!$D$2:$D$53</c:f>
              <c:numCache>
                <c:formatCode>General</c:formatCode>
                <c:ptCount val="52"/>
                <c:pt idx="0">
                  <c:v>95</c:v>
                </c:pt>
                <c:pt idx="1">
                  <c:v>95</c:v>
                </c:pt>
                <c:pt idx="2">
                  <c:v>95</c:v>
                </c:pt>
                <c:pt idx="3">
                  <c:v>95</c:v>
                </c:pt>
                <c:pt idx="4">
                  <c:v>95</c:v>
                </c:pt>
                <c:pt idx="5">
                  <c:v>95</c:v>
                </c:pt>
                <c:pt idx="6">
                  <c:v>95</c:v>
                </c:pt>
                <c:pt idx="7">
                  <c:v>95</c:v>
                </c:pt>
                <c:pt idx="8">
                  <c:v>95</c:v>
                </c:pt>
                <c:pt idx="9">
                  <c:v>95</c:v>
                </c:pt>
                <c:pt idx="10">
                  <c:v>95</c:v>
                </c:pt>
                <c:pt idx="11">
                  <c:v>95</c:v>
                </c:pt>
                <c:pt idx="12">
                  <c:v>95</c:v>
                </c:pt>
                <c:pt idx="13">
                  <c:v>95</c:v>
                </c:pt>
                <c:pt idx="14">
                  <c:v>95</c:v>
                </c:pt>
                <c:pt idx="15">
                  <c:v>95</c:v>
                </c:pt>
                <c:pt idx="16">
                  <c:v>95</c:v>
                </c:pt>
                <c:pt idx="17">
                  <c:v>95</c:v>
                </c:pt>
                <c:pt idx="18">
                  <c:v>95</c:v>
                </c:pt>
                <c:pt idx="19">
                  <c:v>95</c:v>
                </c:pt>
                <c:pt idx="20">
                  <c:v>95</c:v>
                </c:pt>
                <c:pt idx="21">
                  <c:v>95</c:v>
                </c:pt>
                <c:pt idx="22">
                  <c:v>95</c:v>
                </c:pt>
                <c:pt idx="23">
                  <c:v>95</c:v>
                </c:pt>
                <c:pt idx="24">
                  <c:v>95</c:v>
                </c:pt>
                <c:pt idx="25">
                  <c:v>95</c:v>
                </c:pt>
                <c:pt idx="26">
                  <c:v>95</c:v>
                </c:pt>
                <c:pt idx="27">
                  <c:v>95</c:v>
                </c:pt>
                <c:pt idx="28">
                  <c:v>95</c:v>
                </c:pt>
                <c:pt idx="29">
                  <c:v>95</c:v>
                </c:pt>
                <c:pt idx="30">
                  <c:v>95</c:v>
                </c:pt>
                <c:pt idx="31">
                  <c:v>95</c:v>
                </c:pt>
                <c:pt idx="32">
                  <c:v>95</c:v>
                </c:pt>
                <c:pt idx="33">
                  <c:v>95</c:v>
                </c:pt>
                <c:pt idx="34">
                  <c:v>95</c:v>
                </c:pt>
                <c:pt idx="35">
                  <c:v>95</c:v>
                </c:pt>
                <c:pt idx="36">
                  <c:v>95</c:v>
                </c:pt>
                <c:pt idx="37">
                  <c:v>95</c:v>
                </c:pt>
                <c:pt idx="38">
                  <c:v>95</c:v>
                </c:pt>
                <c:pt idx="39">
                  <c:v>95</c:v>
                </c:pt>
                <c:pt idx="40">
                  <c:v>95</c:v>
                </c:pt>
                <c:pt idx="41">
                  <c:v>95</c:v>
                </c:pt>
                <c:pt idx="42">
                  <c:v>95</c:v>
                </c:pt>
                <c:pt idx="43">
                  <c:v>95</c:v>
                </c:pt>
                <c:pt idx="44">
                  <c:v>95</c:v>
                </c:pt>
                <c:pt idx="45">
                  <c:v>95</c:v>
                </c:pt>
                <c:pt idx="46">
                  <c:v>95</c:v>
                </c:pt>
                <c:pt idx="47">
                  <c:v>95</c:v>
                </c:pt>
                <c:pt idx="48">
                  <c:v>95</c:v>
                </c:pt>
                <c:pt idx="49">
                  <c:v>95</c:v>
                </c:pt>
                <c:pt idx="50">
                  <c:v>95</c:v>
                </c:pt>
                <c:pt idx="51">
                  <c:v>95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8"/>
      </c:catAx>
      <c:valAx>
        <c:axId val="2094734552"/>
        <c:scaling>
          <c:orientation val="minMax"/>
          <c:max val="100"/>
          <c:min val="70"/>
        </c:scaling>
        <c:delete val="0"/>
        <c:axPos val="l"/>
        <c:majorGridlines>
          <c:spPr>
            <a:ln w="9525" cap="flat">
              <a:solidFill>
                <a:srgbClr val="E3E8EA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2A32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LOS (days)</c:v>
                </c:pt>
              </c:strCache>
            </c:strRef>
          </c:tx>
          <c:spPr>
            <a:solidFill>
              <a:srgbClr val="00949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A3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Oncology</c:v>
                  </c:pt>
                  <c:pt idx="1">
                    <c:v>General Medicine</c:v>
                  </c:pt>
                  <c:pt idx="2">
                    <c:v>Trauma &amp; Orthopaedics</c:v>
                  </c:pt>
                  <c:pt idx="3">
                    <c:v>Cardiology</c:v>
                  </c:pt>
                  <c:pt idx="4">
                    <c:v>Intensive Care</c:v>
                  </c:pt>
                  <c:pt idx="5">
                    <c:v>General Surgery</c:v>
                  </c:pt>
                  <c:pt idx="6">
                    <c:v>Maternity</c:v>
                  </c:pt>
                  <c:pt idx="7">
                    <c:v>Paediatrics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7.4</c:v>
                </c:pt>
                <c:pt idx="1">
                  <c:v>6.9</c:v>
                </c:pt>
                <c:pt idx="2">
                  <c:v>5.3</c:v>
                </c:pt>
                <c:pt idx="3">
                  <c:v>4.1</c:v>
                </c:pt>
                <c:pt idx="4">
                  <c:v>4</c:v>
                </c:pt>
                <c:pt idx="5">
                  <c:v>3.6</c:v>
                </c:pt>
                <c:pt idx="6">
                  <c:v>2.8</c:v>
                </c:pt>
                <c:pt idx="7">
                  <c:v>2.1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P90 LOS (days)</c:v>
                </c:pt>
              </c:strCache>
            </c:strRef>
          </c:tx>
          <c:spPr>
            <a:solidFill>
              <a:srgbClr val="0B3C4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A3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Oncology</c:v>
                  </c:pt>
                  <c:pt idx="1">
                    <c:v>General Medicine</c:v>
                  </c:pt>
                  <c:pt idx="2">
                    <c:v>Trauma &amp; Orthopaedics</c:v>
                  </c:pt>
                  <c:pt idx="3">
                    <c:v>Cardiology</c:v>
                  </c:pt>
                  <c:pt idx="4">
                    <c:v>Intensive Care</c:v>
                  </c:pt>
                  <c:pt idx="5">
                    <c:v>General Surgery</c:v>
                  </c:pt>
                  <c:pt idx="6">
                    <c:v>Maternity</c:v>
                  </c:pt>
                  <c:pt idx="7">
                    <c:v>Paediatrics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15.3</c:v>
                </c:pt>
                <c:pt idx="1">
                  <c:v>14.1</c:v>
                </c:pt>
                <c:pt idx="2">
                  <c:v>11.3</c:v>
                </c:pt>
                <c:pt idx="3">
                  <c:v>8.3</c:v>
                </c:pt>
                <c:pt idx="4">
                  <c:v>8</c:v>
                </c:pt>
                <c:pt idx="5">
                  <c:v>7.3</c:v>
                </c:pt>
                <c:pt idx="6">
                  <c:v>5.2</c:v>
                </c:pt>
                <c:pt idx="7">
                  <c:v>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B2A3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2A32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Discharges per day</c:v>
                </c:pt>
              </c:strCache>
            </c:strRef>
          </c:tx>
          <c:spPr>
            <a:solidFill>
              <a:srgbClr val="00949C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A3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  <c:pt idx="5">
                    <c:v>Sat</c:v>
                  </c:pt>
                  <c:pt idx="6">
                    <c:v>Sun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354.3</c:v>
                </c:pt>
                <c:pt idx="1">
                  <c:v>225.2</c:v>
                </c:pt>
                <c:pt idx="2">
                  <c:v>237.1</c:v>
                </c:pt>
                <c:pt idx="3">
                  <c:v>241.5</c:v>
                </c:pt>
                <c:pt idx="4">
                  <c:v>246</c:v>
                </c:pt>
                <c:pt idx="5">
                  <c:v>169.6</c:v>
                </c:pt>
                <c:pt idx="6">
                  <c:v>159.1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000" u="none">
                  <a:solidFill>
                    <a:srgbClr val="1B2A3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Harbourview (HBV)</c:v>
                </c:pt>
              </c:strCache>
            </c:strRef>
          </c:tx>
          <c:spPr>
            <a:solidFill>
              <a:srgbClr val="00949C"/>
            </a:solidFill>
            <a:ln w="31750" cap="flat">
              <a:solidFill>
                <a:srgbClr val="00949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0949C"/>
              </a:solidFill>
              <a:ln w="9525" cap="flat">
                <a:solidFill>
                  <a:srgbClr val="00949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Sheet1!$A$2:$A$52</c:f>
              <c:multiLvlStrCache>
                <c:ptCount val="51"/>
                <c:lvl>
                  <c:pt idx="0">
                    <c:v>06 Jan</c:v>
                  </c:pt>
                  <c:pt idx="1">
                    <c:v>13 Jan</c:v>
                  </c:pt>
                  <c:pt idx="2">
                    <c:v>20 Jan</c:v>
                  </c:pt>
                  <c:pt idx="3">
                    <c:v>27 Jan</c:v>
                  </c:pt>
                  <c:pt idx="4">
                    <c:v>03 Feb</c:v>
                  </c:pt>
                  <c:pt idx="5">
                    <c:v>10 Feb</c:v>
                  </c:pt>
                  <c:pt idx="6">
                    <c:v>17 Feb</c:v>
                  </c:pt>
                  <c:pt idx="7">
                    <c:v>24 Feb</c:v>
                  </c:pt>
                  <c:pt idx="8">
                    <c:v>03 Mar</c:v>
                  </c:pt>
                  <c:pt idx="9">
                    <c:v>10 Mar</c:v>
                  </c:pt>
                  <c:pt idx="10">
                    <c:v>17 Mar</c:v>
                  </c:pt>
                  <c:pt idx="11">
                    <c:v>24 Mar</c:v>
                  </c:pt>
                  <c:pt idx="12">
                    <c:v>31 Mar</c:v>
                  </c:pt>
                  <c:pt idx="13">
                    <c:v>07 Apr</c:v>
                  </c:pt>
                  <c:pt idx="14">
                    <c:v>14 Apr</c:v>
                  </c:pt>
                  <c:pt idx="15">
                    <c:v>21 Apr</c:v>
                  </c:pt>
                  <c:pt idx="16">
                    <c:v>28 Apr</c:v>
                  </c:pt>
                  <c:pt idx="17">
                    <c:v>05 May</c:v>
                  </c:pt>
                  <c:pt idx="18">
                    <c:v>12 May</c:v>
                  </c:pt>
                  <c:pt idx="19">
                    <c:v>19 May</c:v>
                  </c:pt>
                  <c:pt idx="20">
                    <c:v>26 May</c:v>
                  </c:pt>
                  <c:pt idx="21">
                    <c:v>02 Jun</c:v>
                  </c:pt>
                  <c:pt idx="22">
                    <c:v>09 Jun</c:v>
                  </c:pt>
                  <c:pt idx="23">
                    <c:v>16 Jun</c:v>
                  </c:pt>
                  <c:pt idx="24">
                    <c:v>23 Jun</c:v>
                  </c:pt>
                  <c:pt idx="25">
                    <c:v>30 Jun</c:v>
                  </c:pt>
                  <c:pt idx="26">
                    <c:v>07 Jul</c:v>
                  </c:pt>
                  <c:pt idx="27">
                    <c:v>14 Jul</c:v>
                  </c:pt>
                  <c:pt idx="28">
                    <c:v>21 Jul</c:v>
                  </c:pt>
                  <c:pt idx="29">
                    <c:v>28 Jul</c:v>
                  </c:pt>
                  <c:pt idx="30">
                    <c:v>04 Aug</c:v>
                  </c:pt>
                  <c:pt idx="31">
                    <c:v>11 Aug</c:v>
                  </c:pt>
                  <c:pt idx="32">
                    <c:v>18 Aug</c:v>
                  </c:pt>
                  <c:pt idx="33">
                    <c:v>25 Aug</c:v>
                  </c:pt>
                  <c:pt idx="34">
                    <c:v>01 Sep</c:v>
                  </c:pt>
                  <c:pt idx="35">
                    <c:v>08 Sep</c:v>
                  </c:pt>
                  <c:pt idx="36">
                    <c:v>15 Sep</c:v>
                  </c:pt>
                  <c:pt idx="37">
                    <c:v>22 Sep</c:v>
                  </c:pt>
                  <c:pt idx="38">
                    <c:v>29 Sep</c:v>
                  </c:pt>
                  <c:pt idx="39">
                    <c:v>06 Oct</c:v>
                  </c:pt>
                  <c:pt idx="40">
                    <c:v>13 Oct</c:v>
                  </c:pt>
                  <c:pt idx="41">
                    <c:v>20 Oct</c:v>
                  </c:pt>
                  <c:pt idx="42">
                    <c:v>27 Oct</c:v>
                  </c:pt>
                  <c:pt idx="43">
                    <c:v>03 Nov</c:v>
                  </c:pt>
                  <c:pt idx="44">
                    <c:v>10 Nov</c:v>
                  </c:pt>
                  <c:pt idx="45">
                    <c:v>17 Nov</c:v>
                  </c:pt>
                  <c:pt idx="46">
                    <c:v>24 Nov</c:v>
                  </c:pt>
                  <c:pt idx="47">
                    <c:v>01 Dec</c:v>
                  </c:pt>
                  <c:pt idx="48">
                    <c:v>08 Dec</c:v>
                  </c:pt>
                  <c:pt idx="49">
                    <c:v>15 Dec</c:v>
                  </c:pt>
                  <c:pt idx="50">
                    <c:v>22 Dec</c:v>
                  </c:pt>
                </c:lvl>
              </c:multiLvlStrCache>
            </c:multiLvlStrRef>
          </c:cat>
          <c:val>
            <c:numRef>
              <c:f>Sheet1!$B$2:$B$52</c:f>
              <c:numCache>
                <c:formatCode>General</c:formatCode>
                <c:ptCount val="51"/>
                <c:pt idx="0">
                  <c:v>47.8</c:v>
                </c:pt>
                <c:pt idx="1">
                  <c:v>52.4</c:v>
                </c:pt>
                <c:pt idx="2">
                  <c:v>58.9</c:v>
                </c:pt>
                <c:pt idx="3">
                  <c:v>68</c:v>
                </c:pt>
                <c:pt idx="4">
                  <c:v>71.8</c:v>
                </c:pt>
                <c:pt idx="5">
                  <c:v>69.6</c:v>
                </c:pt>
                <c:pt idx="6">
                  <c:v>64.9</c:v>
                </c:pt>
                <c:pt idx="7">
                  <c:v>51.4</c:v>
                </c:pt>
                <c:pt idx="8">
                  <c:v>52.8</c:v>
                </c:pt>
                <c:pt idx="9">
                  <c:v>58.1</c:v>
                </c:pt>
                <c:pt idx="10">
                  <c:v>57.5</c:v>
                </c:pt>
                <c:pt idx="11">
                  <c:v>60.7</c:v>
                </c:pt>
                <c:pt idx="12">
                  <c:v>61.2</c:v>
                </c:pt>
                <c:pt idx="13">
                  <c:v>62.9</c:v>
                </c:pt>
                <c:pt idx="14">
                  <c:v>70.8</c:v>
                </c:pt>
                <c:pt idx="15">
                  <c:v>74.2</c:v>
                </c:pt>
                <c:pt idx="16">
                  <c:v>70.3</c:v>
                </c:pt>
                <c:pt idx="17">
                  <c:v>67.8</c:v>
                </c:pt>
                <c:pt idx="18">
                  <c:v>64</c:v>
                </c:pt>
                <c:pt idx="19">
                  <c:v>75.3</c:v>
                </c:pt>
                <c:pt idx="20">
                  <c:v>74.3</c:v>
                </c:pt>
                <c:pt idx="21">
                  <c:v>68.2</c:v>
                </c:pt>
                <c:pt idx="22">
                  <c:v>62.9</c:v>
                </c:pt>
                <c:pt idx="23">
                  <c:v>45.7</c:v>
                </c:pt>
                <c:pt idx="24">
                  <c:v>50.1</c:v>
                </c:pt>
                <c:pt idx="25">
                  <c:v>61.3</c:v>
                </c:pt>
                <c:pt idx="26">
                  <c:v>59.1</c:v>
                </c:pt>
                <c:pt idx="27">
                  <c:v>52.7</c:v>
                </c:pt>
                <c:pt idx="28">
                  <c:v>40.8</c:v>
                </c:pt>
                <c:pt idx="29">
                  <c:v>27.7</c:v>
                </c:pt>
                <c:pt idx="30">
                  <c:v>29.5</c:v>
                </c:pt>
                <c:pt idx="31">
                  <c:v>36.2</c:v>
                </c:pt>
                <c:pt idx="32">
                  <c:v>39.1</c:v>
                </c:pt>
                <c:pt idx="33">
                  <c:v>39.7</c:v>
                </c:pt>
                <c:pt idx="34">
                  <c:v>40.6</c:v>
                </c:pt>
                <c:pt idx="35">
                  <c:v>39.2</c:v>
                </c:pt>
                <c:pt idx="36">
                  <c:v>42</c:v>
                </c:pt>
                <c:pt idx="37">
                  <c:v>40.1</c:v>
                </c:pt>
                <c:pt idx="38">
                  <c:v>34.2</c:v>
                </c:pt>
                <c:pt idx="39">
                  <c:v>35.3</c:v>
                </c:pt>
                <c:pt idx="40">
                  <c:v>33.7</c:v>
                </c:pt>
                <c:pt idx="41">
                  <c:v>39.5</c:v>
                </c:pt>
                <c:pt idx="42">
                  <c:v>46.2</c:v>
                </c:pt>
                <c:pt idx="43">
                  <c:v>54.7</c:v>
                </c:pt>
                <c:pt idx="44">
                  <c:v>57.3</c:v>
                </c:pt>
                <c:pt idx="45">
                  <c:v>53.7</c:v>
                </c:pt>
                <c:pt idx="46">
                  <c:v>49</c:v>
                </c:pt>
                <c:pt idx="47">
                  <c:v>37.1</c:v>
                </c:pt>
                <c:pt idx="48">
                  <c:v>31.7</c:v>
                </c:pt>
                <c:pt idx="49">
                  <c:v>31.4</c:v>
                </c:pt>
                <c:pt idx="50">
                  <c:v>33.7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Network average</c:v>
                </c:pt>
              </c:strCache>
            </c:strRef>
          </c:tx>
          <c:spPr>
            <a:solidFill>
              <a:srgbClr val="A7B1B6"/>
            </a:solidFill>
            <a:ln w="31750" cap="flat">
              <a:solidFill>
                <a:srgbClr val="A7B1B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A7B1B6"/>
              </a:solidFill>
              <a:ln w="9525" cap="flat">
                <a:solidFill>
                  <a:srgbClr val="A7B1B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Sheet1!$A$2:$A$52</c:f>
              <c:multiLvlStrCache>
                <c:ptCount val="51"/>
                <c:lvl>
                  <c:pt idx="0">
                    <c:v>06 Jan</c:v>
                  </c:pt>
                  <c:pt idx="1">
                    <c:v>13 Jan</c:v>
                  </c:pt>
                  <c:pt idx="2">
                    <c:v>20 Jan</c:v>
                  </c:pt>
                  <c:pt idx="3">
                    <c:v>27 Jan</c:v>
                  </c:pt>
                  <c:pt idx="4">
                    <c:v>03 Feb</c:v>
                  </c:pt>
                  <c:pt idx="5">
                    <c:v>10 Feb</c:v>
                  </c:pt>
                  <c:pt idx="6">
                    <c:v>17 Feb</c:v>
                  </c:pt>
                  <c:pt idx="7">
                    <c:v>24 Feb</c:v>
                  </c:pt>
                  <c:pt idx="8">
                    <c:v>03 Mar</c:v>
                  </c:pt>
                  <c:pt idx="9">
                    <c:v>10 Mar</c:v>
                  </c:pt>
                  <c:pt idx="10">
                    <c:v>17 Mar</c:v>
                  </c:pt>
                  <c:pt idx="11">
                    <c:v>24 Mar</c:v>
                  </c:pt>
                  <c:pt idx="12">
                    <c:v>31 Mar</c:v>
                  </c:pt>
                  <c:pt idx="13">
                    <c:v>07 Apr</c:v>
                  </c:pt>
                  <c:pt idx="14">
                    <c:v>14 Apr</c:v>
                  </c:pt>
                  <c:pt idx="15">
                    <c:v>21 Apr</c:v>
                  </c:pt>
                  <c:pt idx="16">
                    <c:v>28 Apr</c:v>
                  </c:pt>
                  <c:pt idx="17">
                    <c:v>05 May</c:v>
                  </c:pt>
                  <c:pt idx="18">
                    <c:v>12 May</c:v>
                  </c:pt>
                  <c:pt idx="19">
                    <c:v>19 May</c:v>
                  </c:pt>
                  <c:pt idx="20">
                    <c:v>26 May</c:v>
                  </c:pt>
                  <c:pt idx="21">
                    <c:v>02 Jun</c:v>
                  </c:pt>
                  <c:pt idx="22">
                    <c:v>09 Jun</c:v>
                  </c:pt>
                  <c:pt idx="23">
                    <c:v>16 Jun</c:v>
                  </c:pt>
                  <c:pt idx="24">
                    <c:v>23 Jun</c:v>
                  </c:pt>
                  <c:pt idx="25">
                    <c:v>30 Jun</c:v>
                  </c:pt>
                  <c:pt idx="26">
                    <c:v>07 Jul</c:v>
                  </c:pt>
                  <c:pt idx="27">
                    <c:v>14 Jul</c:v>
                  </c:pt>
                  <c:pt idx="28">
                    <c:v>21 Jul</c:v>
                  </c:pt>
                  <c:pt idx="29">
                    <c:v>28 Jul</c:v>
                  </c:pt>
                  <c:pt idx="30">
                    <c:v>04 Aug</c:v>
                  </c:pt>
                  <c:pt idx="31">
                    <c:v>11 Aug</c:v>
                  </c:pt>
                  <c:pt idx="32">
                    <c:v>18 Aug</c:v>
                  </c:pt>
                  <c:pt idx="33">
                    <c:v>25 Aug</c:v>
                  </c:pt>
                  <c:pt idx="34">
                    <c:v>01 Sep</c:v>
                  </c:pt>
                  <c:pt idx="35">
                    <c:v>08 Sep</c:v>
                  </c:pt>
                  <c:pt idx="36">
                    <c:v>15 Sep</c:v>
                  </c:pt>
                  <c:pt idx="37">
                    <c:v>22 Sep</c:v>
                  </c:pt>
                  <c:pt idx="38">
                    <c:v>29 Sep</c:v>
                  </c:pt>
                  <c:pt idx="39">
                    <c:v>06 Oct</c:v>
                  </c:pt>
                  <c:pt idx="40">
                    <c:v>13 Oct</c:v>
                  </c:pt>
                  <c:pt idx="41">
                    <c:v>20 Oct</c:v>
                  </c:pt>
                  <c:pt idx="42">
                    <c:v>27 Oct</c:v>
                  </c:pt>
                  <c:pt idx="43">
                    <c:v>03 Nov</c:v>
                  </c:pt>
                  <c:pt idx="44">
                    <c:v>10 Nov</c:v>
                  </c:pt>
                  <c:pt idx="45">
                    <c:v>17 Nov</c:v>
                  </c:pt>
                  <c:pt idx="46">
                    <c:v>24 Nov</c:v>
                  </c:pt>
                  <c:pt idx="47">
                    <c:v>01 Dec</c:v>
                  </c:pt>
                  <c:pt idx="48">
                    <c:v>08 Dec</c:v>
                  </c:pt>
                  <c:pt idx="49">
                    <c:v>15 Dec</c:v>
                  </c:pt>
                  <c:pt idx="50">
                    <c:v>22 Dec</c:v>
                  </c:pt>
                </c:lvl>
              </c:multiLvlStrCache>
            </c:multiLvlStrRef>
          </c:cat>
          <c:val>
            <c:numRef>
              <c:f>Sheet1!$C$2:$C$52</c:f>
              <c:numCache>
                <c:formatCode>General</c:formatCode>
                <c:ptCount val="51"/>
                <c:pt idx="0">
                  <c:v>63.8</c:v>
                </c:pt>
                <c:pt idx="1">
                  <c:v>66.9</c:v>
                </c:pt>
                <c:pt idx="2">
                  <c:v>67.2</c:v>
                </c:pt>
                <c:pt idx="3">
                  <c:v>66.3</c:v>
                </c:pt>
                <c:pt idx="4">
                  <c:v>65.7</c:v>
                </c:pt>
                <c:pt idx="5">
                  <c:v>63.7</c:v>
                </c:pt>
                <c:pt idx="6">
                  <c:v>62.2</c:v>
                </c:pt>
                <c:pt idx="7">
                  <c:v>62.4</c:v>
                </c:pt>
                <c:pt idx="8">
                  <c:v>63.5</c:v>
                </c:pt>
                <c:pt idx="9">
                  <c:v>63.2</c:v>
                </c:pt>
                <c:pt idx="10">
                  <c:v>62</c:v>
                </c:pt>
                <c:pt idx="11">
                  <c:v>61.4</c:v>
                </c:pt>
                <c:pt idx="12">
                  <c:v>62.3</c:v>
                </c:pt>
                <c:pt idx="13">
                  <c:v>63.6</c:v>
                </c:pt>
                <c:pt idx="14">
                  <c:v>64.6</c:v>
                </c:pt>
                <c:pt idx="15">
                  <c:v>64.3</c:v>
                </c:pt>
                <c:pt idx="16">
                  <c:v>62.3</c:v>
                </c:pt>
                <c:pt idx="17">
                  <c:v>60.9</c:v>
                </c:pt>
                <c:pt idx="18">
                  <c:v>60.9</c:v>
                </c:pt>
                <c:pt idx="19">
                  <c:v>61.7</c:v>
                </c:pt>
                <c:pt idx="20">
                  <c:v>59.8</c:v>
                </c:pt>
                <c:pt idx="21">
                  <c:v>58.6</c:v>
                </c:pt>
                <c:pt idx="22">
                  <c:v>56.6</c:v>
                </c:pt>
                <c:pt idx="23">
                  <c:v>52.3</c:v>
                </c:pt>
                <c:pt idx="24">
                  <c:v>52.1</c:v>
                </c:pt>
                <c:pt idx="25">
                  <c:v>52.7</c:v>
                </c:pt>
                <c:pt idx="26">
                  <c:v>52</c:v>
                </c:pt>
                <c:pt idx="27">
                  <c:v>53.2</c:v>
                </c:pt>
                <c:pt idx="28">
                  <c:v>51.8</c:v>
                </c:pt>
                <c:pt idx="29">
                  <c:v>50.8</c:v>
                </c:pt>
                <c:pt idx="30">
                  <c:v>50</c:v>
                </c:pt>
                <c:pt idx="31">
                  <c:v>48.5</c:v>
                </c:pt>
                <c:pt idx="32">
                  <c:v>48.6</c:v>
                </c:pt>
                <c:pt idx="33">
                  <c:v>47.9</c:v>
                </c:pt>
                <c:pt idx="34">
                  <c:v>49.1</c:v>
                </c:pt>
                <c:pt idx="35">
                  <c:v>52.1</c:v>
                </c:pt>
                <c:pt idx="36">
                  <c:v>53.1</c:v>
                </c:pt>
                <c:pt idx="37">
                  <c:v>54</c:v>
                </c:pt>
                <c:pt idx="38">
                  <c:v>54.6</c:v>
                </c:pt>
                <c:pt idx="39">
                  <c:v>54.4</c:v>
                </c:pt>
                <c:pt idx="40">
                  <c:v>54.5</c:v>
                </c:pt>
                <c:pt idx="41">
                  <c:v>53.6</c:v>
                </c:pt>
                <c:pt idx="42">
                  <c:v>56.7</c:v>
                </c:pt>
                <c:pt idx="43">
                  <c:v>57.3</c:v>
                </c:pt>
                <c:pt idx="44">
                  <c:v>59.3</c:v>
                </c:pt>
                <c:pt idx="45">
                  <c:v>61</c:v>
                </c:pt>
                <c:pt idx="46">
                  <c:v>60.8</c:v>
                </c:pt>
                <c:pt idx="47">
                  <c:v>63.7</c:v>
                </c:pt>
                <c:pt idx="48">
                  <c:v>65.4</c:v>
                </c:pt>
                <c:pt idx="49">
                  <c:v>67.4</c:v>
                </c:pt>
                <c:pt idx="50">
                  <c:v>63.3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8"/>
      </c:catAx>
      <c:valAx>
        <c:axId val="2094734552"/>
        <c:scaling>
          <c:orientation val="minMax"/>
          <c:max val="90"/>
          <c:min val="20"/>
        </c:scaling>
        <c:delete val="0"/>
        <c:axPos val="l"/>
        <c:majorGridlines>
          <c:spPr>
            <a:ln w="9525" cap="flat">
              <a:solidFill>
                <a:srgbClr val="E3E8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2A32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Within 4 hours (%)</c:v>
                </c:pt>
              </c:strCache>
            </c:strRef>
          </c:tx>
          <c:spPr>
            <a:solidFill>
              <a:srgbClr val="00949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A3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QET</c:v>
                  </c:pt>
                  <c:pt idx="1">
                    <c:v>CLR</c:v>
                  </c:pt>
                  <c:pt idx="2">
                    <c:v>SAU</c:v>
                  </c:pt>
                  <c:pt idx="3">
                    <c:v>SDN</c:v>
                  </c:pt>
                  <c:pt idx="4">
                    <c:v>KMR</c:v>
                  </c:pt>
                  <c:pt idx="5">
                    <c:v>SLC</c:v>
                  </c:pt>
                  <c:pt idx="6">
                    <c:v>HBV</c:v>
                  </c:pt>
                  <c:pt idx="7">
                    <c:v>RVG</c:v>
                  </c:pt>
                  <c:pt idx="8">
                    <c:v>PNT</c:v>
                  </c:pt>
                  <c:pt idx="9">
                    <c:v>WBG</c:v>
                  </c:pt>
                  <c:pt idx="10">
                    <c:v>BRK</c:v>
                  </c:pt>
                  <c:pt idx="11">
                    <c:v>ASH</c:v>
                  </c:pt>
                  <c:pt idx="12">
                    <c:v>MRC</c:v>
                  </c:pt>
                  <c:pt idx="13">
                    <c:v>TMS</c:v>
                  </c:pt>
                  <c:pt idx="14">
                    <c:v>EFG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72.2</c:v>
                </c:pt>
                <c:pt idx="1">
                  <c:v>76.9</c:v>
                </c:pt>
                <c:pt idx="2">
                  <c:v>77.7</c:v>
                </c:pt>
                <c:pt idx="3">
                  <c:v>78.1</c:v>
                </c:pt>
                <c:pt idx="4">
                  <c:v>79.5</c:v>
                </c:pt>
                <c:pt idx="5">
                  <c:v>81.3</c:v>
                </c:pt>
                <c:pt idx="6">
                  <c:v>81.6</c:v>
                </c:pt>
                <c:pt idx="7">
                  <c:v>81.6</c:v>
                </c:pt>
                <c:pt idx="8">
                  <c:v>81.9</c:v>
                </c:pt>
                <c:pt idx="9">
                  <c:v>82.2</c:v>
                </c:pt>
                <c:pt idx="10">
                  <c:v>83</c:v>
                </c:pt>
                <c:pt idx="11">
                  <c:v>83.6</c:v>
                </c:pt>
                <c:pt idx="12">
                  <c:v>84.7</c:v>
                </c:pt>
                <c:pt idx="13">
                  <c:v>85</c:v>
                </c:pt>
                <c:pt idx="14">
                  <c:v>86.6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B2A3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5"/>
          <c:min val="6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boarding (min)</c:v>
                </c:pt>
              </c:strCache>
            </c:strRef>
          </c:tx>
          <c:spPr>
            <a:solidFill>
              <a:srgbClr val="00949C"/>
            </a:solidFill>
            <a:effectLst/>
          </c:spPr>
          <c:invertIfNegative val="0"/>
          <c:dLbls>
            <c:numFmt formatCode="0&quot; min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3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&lt;80%</c:v>
                  </c:pt>
                  <c:pt idx="1">
                    <c:v>80-85%</c:v>
                  </c:pt>
                  <c:pt idx="2">
                    <c:v>85-90%</c:v>
                  </c:pt>
                  <c:pt idx="3">
                    <c:v>90-95%</c:v>
                  </c:pt>
                  <c:pt idx="4">
                    <c:v>95%+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41</c:v>
                </c:pt>
                <c:pt idx="2">
                  <c:v>61</c:v>
                </c:pt>
                <c:pt idx="3">
                  <c:v>90</c:v>
                </c:pt>
                <c:pt idx="4">
                  <c:v>176</c:v>
                </c:pt>
              </c:numCache>
            </c:numRef>
          </c:val>
        </c:ser>
        <c:dLbls>
          <c:numFmt formatCode="0&quot; min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B2A3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B73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B6B73"/>
                    </a:solidFill>
                    <a:latin typeface="Arial"/>
                  </a:rPr>
                  <a:t>Hospital inpatient occupancy that day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30-day readmission rate (%)</c:v>
                </c:pt>
              </c:strCache>
            </c:strRef>
          </c:tx>
          <c:spPr>
            <a:solidFill>
              <a:srgbClr val="00949C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A3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SLC</c:v>
                  </c:pt>
                  <c:pt idx="1">
                    <c:v>CLR</c:v>
                  </c:pt>
                  <c:pt idx="2">
                    <c:v>BRK</c:v>
                  </c:pt>
                  <c:pt idx="3">
                    <c:v>ASH</c:v>
                  </c:pt>
                  <c:pt idx="4">
                    <c:v>SDN</c:v>
                  </c:pt>
                  <c:pt idx="5">
                    <c:v>HBV</c:v>
                  </c:pt>
                  <c:pt idx="6">
                    <c:v>MRC</c:v>
                  </c:pt>
                  <c:pt idx="7">
                    <c:v>RVG</c:v>
                  </c:pt>
                  <c:pt idx="8">
                    <c:v>TMS</c:v>
                  </c:pt>
                  <c:pt idx="9">
                    <c:v>QET</c:v>
                  </c:pt>
                  <c:pt idx="10">
                    <c:v>KMR</c:v>
                  </c:pt>
                  <c:pt idx="11">
                    <c:v>WBG</c:v>
                  </c:pt>
                  <c:pt idx="12">
                    <c:v>EFG</c:v>
                  </c:pt>
                  <c:pt idx="13">
                    <c:v>SAU</c:v>
                  </c:pt>
                  <c:pt idx="14">
                    <c:v>PNT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14.9</c:v>
                </c:pt>
                <c:pt idx="1">
                  <c:v>12.9</c:v>
                </c:pt>
                <c:pt idx="2">
                  <c:v>12.4</c:v>
                </c:pt>
                <c:pt idx="3">
                  <c:v>11.8</c:v>
                </c:pt>
                <c:pt idx="4">
                  <c:v>11.6</c:v>
                </c:pt>
                <c:pt idx="5">
                  <c:v>11.2</c:v>
                </c:pt>
                <c:pt idx="6">
                  <c:v>11.1</c:v>
                </c:pt>
                <c:pt idx="7">
                  <c:v>11.1</c:v>
                </c:pt>
                <c:pt idx="8">
                  <c:v>10.8</c:v>
                </c:pt>
                <c:pt idx="9">
                  <c:v>10.3</c:v>
                </c:pt>
                <c:pt idx="10">
                  <c:v>10.3</c:v>
                </c:pt>
                <c:pt idx="11">
                  <c:v>10.3</c:v>
                </c:pt>
                <c:pt idx="12">
                  <c:v>9.9</c:v>
                </c:pt>
                <c:pt idx="13">
                  <c:v>9.5</c:v>
                </c:pt>
                <c:pt idx="14">
                  <c:v>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1B2A3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06 of the health-analytics portfolio. Everything in this deck is produced from the ten SQL queries in sql/ run against a synthetic 15-hospital network. The data is synthetic but the operational mechanics (seasonality, escalation beds, weekend discharge slippage, exit block) are modelled so the patterns behave like a real extract.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Occupancy is the midnight census divided by staffed beds (query 01). LOS on 2025 discharges (query 03). ED four-hour rate from query 05. Readmissions: emergency re-admission within 30 days of a Jan–Nov discharge, excluding deaths and transfers (query 07).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network average looks healthy, but it averages over 108 wards. A third of ward-days are at or above 95% and over a fifth are above staffed capacity, meaning patients are in escalation spaces or outlying on other 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April jump is the clearest capacity-planning signal in the dataset: escalation beds were funded to 30 March, but the medical bed base needed them for several more weeks.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P90 is roughly twice the mean in every specialty — the long tail, not the typical stay, drives bed demand. Excess bed-days are not case-mix adjusted; teaching hospitals take more complex patients, so treat this as where to look, not a verdict.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Comparing Harbourview with the network week by week controls for the seasonal swing every ED shares. Before June it ran about 4% slower than the network; after the rapid-assessment model it ran about 23% faster. The three hospitals below the 78% four-hour standard are also the three fullest inpatient sites.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of the six tightest pinch points are Medicine wards. Every point of hospital occupancy above 90% adds sharply to boarding, which is why ED performance cannot be fixed inside the ED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Community hospitals have the highest rates and teaching hospitals the lowest. Self-discharge, heart failure, COPD and hip fracture are the obvious targets for transitional-care calls, virtual wards and early follow-up clinics.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Rosters are built for planned occupancy, so every point of occupancy above plan lands on the same number of nurses. The scorecard ranks occupancy, ALOS, ED four-hour rate, readmission and staffing breaches; top tier: EFG, TMS, MRC.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recommendation maps to a query: 1 → queries 01/02, 2 → query 04, 3 → query 03, 4 → queries 05/06/09, 5 → queries 07/08/10.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CC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06 · HEALTHCARE OPERATIONS ANALYTICS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916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Operations &amp; Bed Utilisation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889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CC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beds go, why the emergency department waits, and who comes back — a SQL analysis of a 15-hospital network, calendar year 2025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4526280"/>
            <a:ext cx="146304" cy="146304"/>
          </a:xfrm>
          <a:prstGeom prst="ellipse">
            <a:avLst/>
          </a:prstGeom>
          <a:solidFill>
            <a:srgbClr val="00949C"/>
          </a:solidFill>
          <a:ln w="12700">
            <a:solidFill>
              <a:srgbClr val="00949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431596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846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C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37560" y="4526280"/>
            <a:ext cx="146304" cy="146304"/>
          </a:xfrm>
          <a:prstGeom prst="ellipse">
            <a:avLst/>
          </a:prstGeom>
          <a:solidFill>
            <a:srgbClr val="00949C"/>
          </a:solidFill>
          <a:ln w="12700">
            <a:solidFill>
              <a:srgbClr val="00949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431596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1,178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4846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C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staffed inpatient beds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4526280"/>
            <a:ext cx="146304" cy="146304"/>
          </a:xfrm>
          <a:prstGeom prst="ellipse">
            <a:avLst/>
          </a:prstGeom>
          <a:solidFill>
            <a:srgbClr val="00949C"/>
          </a:solidFill>
          <a:ln w="12700">
            <a:solidFill>
              <a:srgbClr val="00949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0" y="431596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85,198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4846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C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15400" y="4526280"/>
            <a:ext cx="146304" cy="146304"/>
          </a:xfrm>
          <a:prstGeom prst="ellipse">
            <a:avLst/>
          </a:prstGeom>
          <a:solidFill>
            <a:srgbClr val="00949C"/>
          </a:solidFill>
          <a:ln w="12700">
            <a:solidFill>
              <a:srgbClr val="00949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89720" y="431596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174,761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9189720" y="4846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C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 attendances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4652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C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generated for this portfolio project · PostgreSQL-compatible schema, SQLite database, 10 SQL queries, Python notebook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29184" cy="329184"/>
          </a:xfrm>
          <a:prstGeom prst="ellipse">
            <a:avLst/>
          </a:prstGeom>
          <a:solidFill>
            <a:srgbClr val="00949C"/>
          </a:solidFill>
          <a:ln w="12700">
            <a:solidFill>
              <a:srgbClr val="00949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987552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AT A GLANCE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sits on its 85% planning line — the pressure is concentrated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8988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headline measures, 2025. Each is produced by one of the project's SQL queries.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2036003" cy="1371600"/>
          </a:xfrm>
          <a:prstGeom prst="roundRect">
            <a:avLst>
              <a:gd name="adj" fmla="val 5333"/>
            </a:avLst>
          </a:prstGeom>
          <a:solidFill>
            <a:srgbClr val="F1F6F7"/>
          </a:solidFill>
          <a:ln w="12700">
            <a:solidFill>
              <a:srgbClr val="F1F6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212848"/>
            <a:ext cx="16702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779776"/>
            <a:ext cx="167024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inpatient bed occupancy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(planning target 85%)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813243" y="2103120"/>
            <a:ext cx="2036003" cy="1371600"/>
          </a:xfrm>
          <a:prstGeom prst="roundRect">
            <a:avLst>
              <a:gd name="adj" fmla="val 5333"/>
            </a:avLst>
          </a:prstGeom>
          <a:solidFill>
            <a:srgbClr val="F1F6F7"/>
          </a:solidFill>
          <a:ln w="12700">
            <a:solidFill>
              <a:srgbClr val="F1F6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96123" y="2212848"/>
            <a:ext cx="16702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2996123" y="2779776"/>
            <a:ext cx="167024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Medicine occupancy —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specialty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77846" y="2103120"/>
            <a:ext cx="2036003" cy="1371600"/>
          </a:xfrm>
          <a:prstGeom prst="roundRect">
            <a:avLst>
              <a:gd name="adj" fmla="val 5333"/>
            </a:avLst>
          </a:prstGeom>
          <a:solidFill>
            <a:srgbClr val="F1F6F7"/>
          </a:solidFill>
          <a:ln w="12700">
            <a:solidFill>
              <a:srgbClr val="F1F6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60726" y="2212848"/>
            <a:ext cx="16702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 d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5260726" y="2779776"/>
            <a:ext cx="167024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length of stay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(P90 9.3 days)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42449" y="2103120"/>
            <a:ext cx="2036003" cy="1371600"/>
          </a:xfrm>
          <a:prstGeom prst="roundRect">
            <a:avLst>
              <a:gd name="adj" fmla="val 5333"/>
            </a:avLst>
          </a:prstGeom>
          <a:solidFill>
            <a:srgbClr val="F1F6F7"/>
          </a:solidFill>
          <a:ln w="12700">
            <a:solidFill>
              <a:srgbClr val="F1F6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25329" y="2212848"/>
            <a:ext cx="16702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80.2%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7525329" y="2779776"/>
            <a:ext cx="167024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 attendances completed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4 hours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607052" y="2103120"/>
            <a:ext cx="2036003" cy="1371600"/>
          </a:xfrm>
          <a:prstGeom prst="roundRect">
            <a:avLst>
              <a:gd name="adj" fmla="val 5333"/>
            </a:avLst>
          </a:prstGeom>
          <a:solidFill>
            <a:srgbClr val="F1F6F7"/>
          </a:solidFill>
          <a:ln w="12700">
            <a:solidFill>
              <a:srgbClr val="F1F6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789932" y="2212848"/>
            <a:ext cx="16702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10.6%</a:t>
            </a:r>
            <a:endParaRPr lang="en-US" sz="3200" dirty="0"/>
          </a:p>
        </p:txBody>
      </p:sp>
      <p:sp>
        <p:nvSpPr>
          <p:cNvPr id="21" name="Text 19"/>
          <p:cNvSpPr txBox="1"/>
          <p:nvPr/>
        </p:nvSpPr>
        <p:spPr>
          <a:xfrm>
            <a:off x="9789932" y="2779776"/>
            <a:ext cx="167024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unplanned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readmission rate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3931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2651760" y="3931920"/>
            <a:ext cx="8991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 of ward-days at ≥95% occupancy; 5 hospitals run Medicine at ≥95% for the whole year.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64515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2651760" y="4645152"/>
            <a:ext cx="8991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of 7+ days are 16% of discharges but 46% of bed-days; weekends discharge 37% fewer patients.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35838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care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2651760" y="5358384"/>
            <a:ext cx="8991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 boarding rises from 18 to 176 minutes as hospital occupancy passes 95% — ward congestion is an ED problem.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4652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queries 01, 03, 05, 07 (sql/sqlite, sql/postgres) · synthetic 15-hospital network, 2025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29184" cy="329184"/>
          </a:xfrm>
          <a:prstGeom prst="ellipse">
            <a:avLst/>
          </a:prstGeom>
          <a:solidFill>
            <a:srgbClr val="00949C"/>
          </a:solidFill>
          <a:ln w="12700">
            <a:solidFill>
              <a:srgbClr val="00949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987552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OCCUPANCY · QUERY 01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hugs 85% all year; winter and November push it towards 95%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8988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inpatient occupancy, 7-day average (weekly points) · midnight census ÷ staffed beds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920240"/>
          <a:ext cx="76809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8595360" y="1965960"/>
            <a:ext cx="3047695" cy="1234440"/>
          </a:xfrm>
          <a:prstGeom prst="roundRect">
            <a:avLst>
              <a:gd name="adj" fmla="val 5926"/>
            </a:avLst>
          </a:prstGeom>
          <a:solidFill>
            <a:srgbClr val="F1F6F7"/>
          </a:solidFill>
          <a:ln w="12700">
            <a:solidFill>
              <a:srgbClr val="F1F6F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778240" y="2075688"/>
            <a:ext cx="26819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8778240" y="2642616"/>
            <a:ext cx="268193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ward-days at or above the 95% no-slack line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595360" y="3383280"/>
            <a:ext cx="3047695" cy="1234440"/>
          </a:xfrm>
          <a:prstGeom prst="roundRect">
            <a:avLst>
              <a:gd name="adj" fmla="val 5926"/>
            </a:avLst>
          </a:prstGeom>
          <a:solidFill>
            <a:srgbClr val="F1F6F7"/>
          </a:solidFill>
          <a:ln w="12700">
            <a:solidFill>
              <a:srgbClr val="F1F6F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778240" y="3493008"/>
            <a:ext cx="26819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3200" dirty="0"/>
          </a:p>
        </p:txBody>
      </p:sp>
      <p:sp>
        <p:nvSpPr>
          <p:cNvPr id="13" name="Text 10"/>
          <p:cNvSpPr txBox="1"/>
          <p:nvPr/>
        </p:nvSpPr>
        <p:spPr>
          <a:xfrm>
            <a:off x="8778240" y="4059936"/>
            <a:ext cx="268193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ward-days with more patients than staffed beds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595360" y="4800600"/>
            <a:ext cx="3047695" cy="1234440"/>
          </a:xfrm>
          <a:prstGeom prst="roundRect">
            <a:avLst>
              <a:gd name="adj" fmla="val 5926"/>
            </a:avLst>
          </a:prstGeom>
          <a:solidFill>
            <a:srgbClr val="F1F6F7"/>
          </a:solidFill>
          <a:ln w="12700">
            <a:solidFill>
              <a:srgbClr val="F1F6F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778240" y="4910328"/>
            <a:ext cx="26819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96.3%</a:t>
            </a:r>
            <a:endParaRPr lang="en-US" sz="3200" dirty="0"/>
          </a:p>
        </p:txBody>
      </p:sp>
      <p:sp>
        <p:nvSpPr>
          <p:cNvPr id="16" name="Text 13"/>
          <p:cNvSpPr txBox="1"/>
          <p:nvPr/>
        </p:nvSpPr>
        <p:spPr>
          <a:xfrm>
            <a:off x="8778240" y="5477256"/>
            <a:ext cx="268193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peak on 21 Dec, in the pre-Christmas flu surge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44652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01 · movement-based census: +1 on admission, −1 on discharge, running SUM() OVER (ORDER BY date); staffed beds from the slowly-changing bed_capacity table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29184" cy="329184"/>
          </a:xfrm>
          <a:prstGeom prst="ellipse">
            <a:avLst/>
          </a:prstGeom>
          <a:solidFill>
            <a:srgbClr val="00949C"/>
          </a:solidFill>
          <a:ln w="12700">
            <a:solidFill>
              <a:srgbClr val="00949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987552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BY DEPARTMENT · QUERY 02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runs hot every month; capacity decisions show up in the data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8988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bed occupancy by department, network total (bed-day weighted)</a:t>
            </a:r>
            <a:endParaRPr lang="en-US" sz="1400" dirty="0"/>
          </a:p>
        </p:txBody>
      </p:sp>
      <p:pic>
        <p:nvPicPr>
          <p:cNvPr id="7" name="Image 0" descr="/home/user/health-analytics/06-hospital-operations-sql/charts/02_department_month_heatmap.png">    </p:cNvPr>
          <p:cNvPicPr>
            <a:picLocks noChangeAspect="1"/>
          </p:cNvPicPr>
          <p:nvPr/>
        </p:nvPicPr>
        <p:blipFill>
          <a:blip r:embed="rId1"/>
          <a:srcRect l="0" r="0" t="10497" b="-10497"/>
          <a:stretch/>
        </p:blipFill>
        <p:spPr>
          <a:xfrm>
            <a:off x="548640" y="2011680"/>
            <a:ext cx="7863840" cy="299814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778240" y="2011680"/>
            <a:ext cx="2864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Medicine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778240" y="2377440"/>
            <a:ext cx="28648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below 86% in any month, and 5 hospitals average ≥95% across the year.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778240" y="3337560"/>
            <a:ext cx="2864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beds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8778240" y="3703320"/>
            <a:ext cx="28648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on 31 March: Medicine jumped from 90% in March to 100% in April — demand had not fallen yet.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778240" y="4663440"/>
            <a:ext cx="2864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Intensive care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778240" y="5029200"/>
            <a:ext cx="28648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at 108% of staffed beds in the January flu surge.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257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Maternity and Paediatrics have seasonal slack that could flex to Medicine in summer.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44652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02 · RANK() within month, LAG() for month-on-month change, share of ward-days ≥85% / ≥95%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29184" cy="329184"/>
          </a:xfrm>
          <a:prstGeom prst="ellipse">
            <a:avLst/>
          </a:prstGeom>
          <a:solidFill>
            <a:srgbClr val="00949C"/>
          </a:solidFill>
          <a:ln w="12700">
            <a:solidFill>
              <a:srgbClr val="00949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987552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OF STAY &amp; DISCHARGE · QUERIES 03–04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stays fill the beds, and discharge stops at weekends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8988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mean vs P90 length of stay by department · right: average discharges per day of week, network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920240"/>
          <a:ext cx="539496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Chart 1" descr=""/>
          <p:cNvGraphicFramePr/>
          <p:nvPr/>
        </p:nvGraphicFramePr>
        <p:xfrm>
          <a:off x="6309360" y="1920240"/>
          <a:ext cx="530352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5257800"/>
            <a:ext cx="2602154" cy="1143000"/>
          </a:xfrm>
          <a:prstGeom prst="roundRect">
            <a:avLst>
              <a:gd name="adj" fmla="val 6400"/>
            </a:avLst>
          </a:prstGeom>
          <a:solidFill>
            <a:srgbClr val="F1F6F7"/>
          </a:solidFill>
          <a:ln w="12700">
            <a:solidFill>
              <a:srgbClr val="F1F6F7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31520" y="5367528"/>
            <a:ext cx="22363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46%</a:t>
            </a:r>
            <a:endParaRPr lang="en-US" sz="3200" dirty="0"/>
          </a:p>
        </p:txBody>
      </p:sp>
      <p:sp>
        <p:nvSpPr>
          <p:cNvPr id="11" name="Text 7"/>
          <p:cNvSpPr txBox="1"/>
          <p:nvPr/>
        </p:nvSpPr>
        <p:spPr>
          <a:xfrm>
            <a:off x="731520" y="5934456"/>
            <a:ext cx="223639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bed-days used by stays of 7+ days (16% of patients)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379394" y="5257800"/>
            <a:ext cx="2602154" cy="1143000"/>
          </a:xfrm>
          <a:prstGeom prst="roundRect">
            <a:avLst>
              <a:gd name="adj" fmla="val 6400"/>
            </a:avLst>
          </a:prstGeom>
          <a:solidFill>
            <a:srgbClr val="F1F6F7"/>
          </a:solidFill>
          <a:ln w="12700">
            <a:solidFill>
              <a:srgbClr val="F1F6F7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3562274" y="5367528"/>
            <a:ext cx="22363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9,230</a:t>
            </a:r>
            <a:endParaRPr lang="en-US" sz="3200" dirty="0"/>
          </a:p>
        </p:txBody>
      </p:sp>
      <p:sp>
        <p:nvSpPr>
          <p:cNvPr id="14" name="Text 10"/>
          <p:cNvSpPr txBox="1"/>
          <p:nvPr/>
        </p:nvSpPr>
        <p:spPr>
          <a:xfrm>
            <a:off x="3562274" y="5934456"/>
            <a:ext cx="223639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bed-days at QET and SAU vs specialty benchmark ≈ 25 beds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210148" y="5257800"/>
            <a:ext cx="2602154" cy="1143000"/>
          </a:xfrm>
          <a:prstGeom prst="roundRect">
            <a:avLst>
              <a:gd name="adj" fmla="val 6400"/>
            </a:avLst>
          </a:prstGeom>
          <a:solidFill>
            <a:srgbClr val="F1F6F7"/>
          </a:solidFill>
          <a:ln w="12700">
            <a:solidFill>
              <a:srgbClr val="F1F6F7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393028" y="5367528"/>
            <a:ext cx="22363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37%</a:t>
            </a:r>
            <a:endParaRPr lang="en-US" sz="3200" dirty="0"/>
          </a:p>
        </p:txBody>
      </p:sp>
      <p:sp>
        <p:nvSpPr>
          <p:cNvPr id="17" name="Text 13"/>
          <p:cNvSpPr txBox="1"/>
          <p:nvPr/>
        </p:nvSpPr>
        <p:spPr>
          <a:xfrm>
            <a:off x="6393028" y="5934456"/>
            <a:ext cx="223639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discharges per weekend day than per weekday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9040901" y="5257800"/>
            <a:ext cx="2602154" cy="1143000"/>
          </a:xfrm>
          <a:prstGeom prst="roundRect">
            <a:avLst>
              <a:gd name="adj" fmla="val 6400"/>
            </a:avLst>
          </a:prstGeom>
          <a:solidFill>
            <a:srgbClr val="F1F6F7"/>
          </a:solidFill>
          <a:ln w="12700">
            <a:solidFill>
              <a:srgbClr val="F1F6F7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9223781" y="5367528"/>
            <a:ext cx="22363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1.49×</a:t>
            </a:r>
            <a:endParaRPr lang="en-US" sz="3200" dirty="0"/>
          </a:p>
        </p:txBody>
      </p:sp>
      <p:sp>
        <p:nvSpPr>
          <p:cNvPr id="20" name="Text 16"/>
          <p:cNvSpPr txBox="1"/>
          <p:nvPr/>
        </p:nvSpPr>
        <p:spPr>
          <a:xfrm>
            <a:off x="9223781" y="5934456"/>
            <a:ext cx="223639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catch-up vs the Tue–Fri average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548640" y="644652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03 · P90 via ROW_NUMBER()/COUNT() nearest rank (portable to SQLite) · Query 04 · stranded ≥7 days, super-stranded ≥21 days, PERCENT_RANK()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29184" cy="329184"/>
          </a:xfrm>
          <a:prstGeom prst="ellipse">
            <a:avLst/>
          </a:prstGeom>
          <a:solidFill>
            <a:srgbClr val="00949C"/>
          </a:solidFill>
          <a:ln w="12700">
            <a:solidFill>
              <a:srgbClr val="00949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987552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DEPARTMENT · QUERIES 05–06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Harbourview's redesign moved its ED from +4% to −23% vs the network wait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8988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door-to-provider minutes, 4-week moving average (HBV rapid-assessment model live from 1 June) · right: share within 4 hours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920240"/>
          <a:ext cx="67665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Chart 1" descr=""/>
          <p:cNvGraphicFramePr/>
          <p:nvPr/>
        </p:nvGraphicFramePr>
        <p:xfrm>
          <a:off x="7589520" y="1920240"/>
          <a:ext cx="4053535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48640" y="644652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05 · 4-week AVG() OVER, LAG() week-on-week, FIRST_VALUE() baseline · Query 06 · waits for triage 3–5 peak at 18:00, hours after arrivals plateau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29184" cy="329184"/>
          </a:xfrm>
          <a:prstGeom prst="ellipse">
            <a:avLst/>
          </a:prstGeom>
          <a:solidFill>
            <a:srgbClr val="00949C"/>
          </a:solidFill>
          <a:ln w="12700">
            <a:solidFill>
              <a:srgbClr val="00949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987552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BOTTLENECKS · QUERY 09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wards back up into the ED: boarding is 10× longer at 95%+ occupancy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8988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median ED boarding (decision to admit → departure) by same-day hospital occupancy · right: tightest pinch points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920240"/>
          <a:ext cx="475488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2011680"/>
          <a:ext cx="5973775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914400"/>
                <a:gridCol w="868680"/>
                <a:gridCol w="960120"/>
                <a:gridCol w="1097280"/>
                <a:gridCol w="109728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Occupancy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 ≥95%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Longest run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 boarders &gt;4h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Trolley waits &gt;12h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CLR · MED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QET · MED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SLC · MED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WBG · ICU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CLR · ONC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RVG · MED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669280" y="5120640"/>
            <a:ext cx="5973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bottleneck score = share of days at ≥95% × (1 + share of ED boarders waiting over 4 hours). Longest run found with gaps-and-islands (day number − ROW_NUMBER()).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44652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09 · critical-occupancy episodes via gaps-and-islands, DENSE_RANK() bottleneck order · boarding joined from er_visits to the admitting ward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29184" cy="329184"/>
          </a:xfrm>
          <a:prstGeom prst="ellipse">
            <a:avLst/>
          </a:prstGeom>
          <a:solidFill>
            <a:srgbClr val="00949C"/>
          </a:solidFill>
          <a:ln w="12700">
            <a:solidFill>
              <a:srgbClr val="00949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987552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READMISSIONS · QUERIES 07–08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10.6% return as an emergency within 30 days — and the risk is predictable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8988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30-day unplanned readmission rate by discharging hospital · right: highest-risk groups (relative risk vs network)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920240"/>
          <a:ext cx="51206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6035040" y="1920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against medical advice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686800" y="2011680"/>
            <a:ext cx="2177205" cy="274320"/>
          </a:xfrm>
          <a:prstGeom prst="roundRect">
            <a:avLst>
              <a:gd name="adj" fmla="val 16667"/>
            </a:avLst>
          </a:prstGeom>
          <a:solidFill>
            <a:srgbClr val="00949C"/>
          </a:solidFill>
          <a:ln w="12700">
            <a:solidFill>
              <a:srgbClr val="00949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909725" y="19202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2.35×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035040" y="243230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failure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686800" y="2523744"/>
            <a:ext cx="2010440" cy="274320"/>
          </a:xfrm>
          <a:prstGeom prst="roundRect">
            <a:avLst>
              <a:gd name="adj" fmla="val 16667"/>
            </a:avLst>
          </a:prstGeom>
          <a:solidFill>
            <a:srgbClr val="00949C"/>
          </a:solidFill>
          <a:ln w="12700">
            <a:solidFill>
              <a:srgbClr val="00949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742960" y="243230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2.17×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035040" y="29443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COPD exacerbation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686800" y="3035808"/>
            <a:ext cx="1741764" cy="274320"/>
          </a:xfrm>
          <a:prstGeom prst="roundRect">
            <a:avLst>
              <a:gd name="adj" fmla="val 16667"/>
            </a:avLst>
          </a:prstGeom>
          <a:solidFill>
            <a:srgbClr val="00949C"/>
          </a:solidFill>
          <a:ln w="12700">
            <a:solidFill>
              <a:srgbClr val="00949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74284" y="294436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1.88×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035040" y="345643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 fracture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686800" y="3547872"/>
            <a:ext cx="1732499" cy="274320"/>
          </a:xfrm>
          <a:prstGeom prst="roundRect">
            <a:avLst>
              <a:gd name="adj" fmla="val 16667"/>
            </a:avLst>
          </a:prstGeom>
          <a:solidFill>
            <a:srgbClr val="00949C"/>
          </a:solidFill>
          <a:ln w="12700">
            <a:solidFill>
              <a:srgbClr val="00949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465019" y="345643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1.87×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6035040" y="396849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Chemotherapy complication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8686800" y="4059936"/>
            <a:ext cx="1510146" cy="274320"/>
          </a:xfrm>
          <a:prstGeom prst="roundRect">
            <a:avLst>
              <a:gd name="adj" fmla="val 16667"/>
            </a:avLst>
          </a:prstGeom>
          <a:solidFill>
            <a:srgbClr val="00949C"/>
          </a:solidFill>
          <a:ln w="12700">
            <a:solidFill>
              <a:srgbClr val="00949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242666" y="3968496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1.63×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6035040" y="4480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Bowel obstruction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8686800" y="4572000"/>
            <a:ext cx="1463823" cy="274320"/>
          </a:xfrm>
          <a:prstGeom prst="roundRect">
            <a:avLst>
              <a:gd name="adj" fmla="val 16667"/>
            </a:avLst>
          </a:prstGeom>
          <a:solidFill>
            <a:srgbClr val="00949C"/>
          </a:solidFill>
          <a:ln w="12700">
            <a:solidFill>
              <a:srgbClr val="00949C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196343" y="44805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1.58×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035040" y="5074920"/>
            <a:ext cx="5608015" cy="1097280"/>
          </a:xfrm>
          <a:prstGeom prst="roundRect">
            <a:avLst>
              <a:gd name="adj" fmla="val 6667"/>
            </a:avLst>
          </a:prstGeom>
          <a:solidFill>
            <a:srgbClr val="F1F6F7"/>
          </a:solidFill>
          <a:ln w="12700">
            <a:solidFill>
              <a:srgbClr val="F1F6F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217920" y="5184648"/>
            <a:ext cx="52422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3200" dirty="0"/>
          </a:p>
        </p:txBody>
      </p:sp>
      <p:sp>
        <p:nvSpPr>
          <p:cNvPr id="28" name="Text 25"/>
          <p:cNvSpPr txBox="1"/>
          <p:nvPr/>
        </p:nvSpPr>
        <p:spPr>
          <a:xfrm>
            <a:off x="6217920" y="5751576"/>
            <a:ext cx="52422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readmissions land at a different hospital — invisible to single-site reporting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644652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07 · LEAD() over each patient's admissions across all hospitals · Query 08 · relative risk = level rate ÷ overall rate via window SUM()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29184" cy="329184"/>
          </a:xfrm>
          <a:prstGeom prst="ellipse">
            <a:avLst/>
          </a:prstGeom>
          <a:solidFill>
            <a:srgbClr val="00949C"/>
          </a:solidFill>
          <a:ln w="12700">
            <a:solidFill>
              <a:srgbClr val="00949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987552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STAFFING &amp; SCORECARD · QUERY 10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fullest hospitals are the most stretched — rosters don't flex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8988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operations scorecard: five KPIs ranked across 15 hospitals, NTILE(3) tiers</a:t>
            </a:r>
            <a:endParaRPr lang="en-US" sz="1400" dirty="0"/>
          </a:p>
        </p:txBody>
      </p:sp>
      <p:pic>
        <p:nvPicPr>
          <p:cNvPr id="7" name="Image 0" descr="/home/user/health-analytics/06-hospital-operations-sql/charts/10_scorecard.png">    </p:cNvPr>
          <p:cNvPicPr>
            <a:picLocks noChangeAspect="1"/>
          </p:cNvPicPr>
          <p:nvPr/>
        </p:nvPicPr>
        <p:blipFill>
          <a:blip r:embed="rId1"/>
          <a:srcRect l="0" r="0" t="6383" b="-6383"/>
          <a:stretch/>
        </p:blipFill>
        <p:spPr>
          <a:xfrm>
            <a:off x="548640" y="1874520"/>
            <a:ext cx="7801808" cy="434065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670488" y="1965960"/>
            <a:ext cx="2972567" cy="1234440"/>
          </a:xfrm>
          <a:prstGeom prst="roundRect">
            <a:avLst>
              <a:gd name="adj" fmla="val 5926"/>
            </a:avLst>
          </a:prstGeom>
          <a:solidFill>
            <a:srgbClr val="F1F6F7"/>
          </a:solidFill>
          <a:ln w="12700">
            <a:solidFill>
              <a:srgbClr val="F1F6F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853368" y="2075688"/>
            <a:ext cx="26068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8853368" y="2642616"/>
            <a:ext cx="2606807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between occupancy and night shifts over safe-staffing ratio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670488" y="3383280"/>
            <a:ext cx="2972567" cy="1234440"/>
          </a:xfrm>
          <a:prstGeom prst="roundRect">
            <a:avLst>
              <a:gd name="adj" fmla="val 5926"/>
            </a:avLst>
          </a:prstGeom>
          <a:solidFill>
            <a:srgbClr val="F1F6F7"/>
          </a:solidFill>
          <a:ln w="12700">
            <a:solidFill>
              <a:srgbClr val="F1F6F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853368" y="3493008"/>
            <a:ext cx="26068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15.5%</a:t>
            </a:r>
            <a:endParaRPr lang="en-US" sz="3200" dirty="0"/>
          </a:p>
        </p:txBody>
      </p:sp>
      <p:sp>
        <p:nvSpPr>
          <p:cNvPr id="13" name="Text 10"/>
          <p:cNvSpPr txBox="1"/>
          <p:nvPr/>
        </p:nvSpPr>
        <p:spPr>
          <a:xfrm>
            <a:off x="8853368" y="4059936"/>
            <a:ext cx="2606807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 absence at SDN after second-half attrition — highest in the network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670488" y="4800600"/>
            <a:ext cx="2972567" cy="1234440"/>
          </a:xfrm>
          <a:prstGeom prst="roundRect">
            <a:avLst>
              <a:gd name="adj" fmla="val 5926"/>
            </a:avLst>
          </a:prstGeom>
          <a:solidFill>
            <a:srgbClr val="F1F6F7"/>
          </a:solidFill>
          <a:ln w="12700">
            <a:solidFill>
              <a:srgbClr val="F1F6F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853368" y="4910328"/>
            <a:ext cx="26068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SDN · CLR · QET</a:t>
            </a:r>
            <a:endParaRPr lang="en-US" sz="3200" dirty="0"/>
          </a:p>
        </p:txBody>
      </p:sp>
      <p:sp>
        <p:nvSpPr>
          <p:cNvPr id="16" name="Text 13"/>
          <p:cNvSpPr txBox="1"/>
          <p:nvPr/>
        </p:nvSpPr>
        <p:spPr>
          <a:xfrm>
            <a:off x="8853368" y="5477256"/>
            <a:ext cx="2606807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tier: high occupancy, long stays, ED below standard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44652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10 · night-shift patients per nurse = midnight census ÷ nurses on duty · RANK() per KPI, mean rank, NTILE(3)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3C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29184" cy="329184"/>
          </a:xfrm>
          <a:prstGeom prst="ellipse">
            <a:avLst/>
          </a:prstGeom>
          <a:solidFill>
            <a:srgbClr val="00949C"/>
          </a:solidFill>
          <a:ln w="12700">
            <a:solidFill>
              <a:srgbClr val="00949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987552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CC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moves to release beds and protect the front door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00949C"/>
          </a:solidFill>
          <a:ln w="12700">
            <a:solidFill>
              <a:srgbClr val="00949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783080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Medicine capacity to demand, not the calendar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13055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CC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winter escalation beds until the census falls below 90% instead of a fixed 31 March close; flex summer slack from Maternity and Paediatrics.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724912"/>
            <a:ext cx="457200" cy="457200"/>
          </a:xfrm>
          <a:prstGeom prst="ellipse">
            <a:avLst/>
          </a:prstGeom>
          <a:solidFill>
            <a:srgbClr val="00949C"/>
          </a:solidFill>
          <a:ln w="12700">
            <a:solidFill>
              <a:srgbClr val="00949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2679192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discharge a seven-day service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026664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CC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discharge teams and criteria-led discharge to lift the weekend ratio from 0.63 towards 0.85 and flatten the Monday surge.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621024"/>
            <a:ext cx="457200" cy="457200"/>
          </a:xfrm>
          <a:prstGeom prst="ellipse">
            <a:avLst/>
          </a:prstGeom>
          <a:solidFill>
            <a:srgbClr val="00949C"/>
          </a:solidFill>
          <a:ln w="12700">
            <a:solidFill>
              <a:srgbClr val="00949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621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575304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long-stay reviews where the excess sits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92277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CC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7+ day reviews at QET and SAU target ~25 beds of excess stay against specialty benchmarks.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517136"/>
            <a:ext cx="457200" cy="457200"/>
          </a:xfrm>
          <a:prstGeom prst="ellipse">
            <a:avLst/>
          </a:prstGeom>
          <a:solidFill>
            <a:srgbClr val="00949C"/>
          </a:solidFill>
          <a:ln w="12700">
            <a:solidFill>
              <a:srgbClr val="00949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517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4471416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Harbourview's rapid-assessment model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481888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CC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at the three hospitals below the 78% four-hour standard; track door-to-provider weekly against the network, not the prior month.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5413248"/>
            <a:ext cx="457200" cy="457200"/>
          </a:xfrm>
          <a:prstGeom prst="ellipse">
            <a:avLst/>
          </a:prstGeom>
          <a:solidFill>
            <a:srgbClr val="00949C"/>
          </a:solidFill>
          <a:ln w="12700">
            <a:solidFill>
              <a:srgbClr val="00949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5413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234440" y="5367528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transitional care and staff to the census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1234440" y="57150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CC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within 72 hours for heart failure, COPD, hip fracture and self-discharge; report readmissions network-wide; set rosters from forecast census.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4652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C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 case-mix adjusted LOS (expected LOS by diagnosis and age), daily census forecasting, and a live version of this scorecard on the warehouse.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Operations &amp; Bed Utilisation</dc:title>
  <dc:subject>PptxGenJS Presentation</dc:subject>
  <dc:creator>Healthcare operations analytics — project 06</dc:creator>
  <cp:lastModifiedBy>Healthcare operations analytics — project 06</cp:lastModifiedBy>
  <cp:revision>1</cp:revision>
  <dcterms:created xsi:type="dcterms:W3CDTF">2026-09-29T12:20:03Z</dcterms:created>
  <dcterms:modified xsi:type="dcterms:W3CDTF">2026-09-29T12:20:03Z</dcterms:modified>
</cp:coreProperties>
</file>