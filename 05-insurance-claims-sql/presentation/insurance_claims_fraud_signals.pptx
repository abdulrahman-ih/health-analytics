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Rejected claims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R10  Exceeds reasonable &amp; customary</c:v>
                  </c:pt>
                  <c:pt idx="1">
                    <c:v>R04  Member not eligible</c:v>
                  </c:pt>
                  <c:pt idx="2">
                    <c:v>R09  Not medically necessary</c:v>
                  </c:pt>
                  <c:pt idx="3">
                    <c:v>R02  Missing prior auth</c:v>
                  </c:pt>
                  <c:pt idx="4">
                    <c:v>R08  Timely filing exceeded</c:v>
                  </c:pt>
                  <c:pt idx="5">
                    <c:v>R03  Not covered by plan</c:v>
                  </c:pt>
                  <c:pt idx="6">
                    <c:v>R01  Duplicate claim</c:v>
                  </c:pt>
                  <c:pt idx="7">
                    <c:v>R07  Missing / incomplete info</c:v>
                  </c:pt>
                  <c:pt idx="8">
                    <c:v>R06  Coding mismatch / invalid code</c:v>
                  </c:pt>
                  <c:pt idx="9">
                    <c:v>R05  Out-of-network (no OON benefit)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370</c:v>
                </c:pt>
                <c:pt idx="1">
                  <c:v>515</c:v>
                </c:pt>
                <c:pt idx="2">
                  <c:v>693</c:v>
                </c:pt>
                <c:pt idx="3">
                  <c:v>848</c:v>
                </c:pt>
                <c:pt idx="4">
                  <c:v>1435</c:v>
                </c:pt>
                <c:pt idx="5">
                  <c:v>1838</c:v>
                </c:pt>
                <c:pt idx="6">
                  <c:v>2909</c:v>
                </c:pt>
                <c:pt idx="7">
                  <c:v>4894</c:v>
                </c:pt>
                <c:pt idx="8">
                  <c:v>5957</c:v>
                </c:pt>
                <c:pt idx="9">
                  <c:v>7953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7B4C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7B4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Calibri"/>
              </a:rPr>
              <a:t>Rejection rate — top 10 specialties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Rejection rate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Urgent Care</c:v>
                  </c:pt>
                  <c:pt idx="1">
                    <c:v>Endocrinology</c:v>
                  </c:pt>
                  <c:pt idx="2">
                    <c:v>Orthopedics</c:v>
                  </c:pt>
                  <c:pt idx="3">
                    <c:v>Cardiology</c:v>
                  </c:pt>
                  <c:pt idx="4">
                    <c:v>Family Medicine</c:v>
                  </c:pt>
                  <c:pt idx="5">
                    <c:v>Internal Medicine</c:v>
                  </c:pt>
                  <c:pt idx="6">
                    <c:v>Oncology</c:v>
                  </c:pt>
                  <c:pt idx="7">
                    <c:v>Physical Therapy</c:v>
                  </c:pt>
                  <c:pt idx="8">
                    <c:v>Radiology</c:v>
                  </c:pt>
                  <c:pt idx="9">
                    <c:v>General Surgery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0.1376</c:v>
                </c:pt>
                <c:pt idx="1">
                  <c:v>0.14400000000000002</c:v>
                </c:pt>
                <c:pt idx="2">
                  <c:v>0.1456</c:v>
                </c:pt>
                <c:pt idx="3">
                  <c:v>0.1463</c:v>
                </c:pt>
                <c:pt idx="4">
                  <c:v>0.1484</c:v>
                </c:pt>
                <c:pt idx="5">
                  <c:v>0.1508</c:v>
                </c:pt>
                <c:pt idx="6">
                  <c:v>0.1726</c:v>
                </c:pt>
                <c:pt idx="7">
                  <c:v>0.1973</c:v>
                </c:pt>
                <c:pt idx="8">
                  <c:v>0.20010000000000003</c:v>
                </c:pt>
                <c:pt idx="9">
                  <c:v>0.2194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7B4C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7B4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Calibri"/>
              </a:rPr>
              <a:t>Days from submission to decision, by submission month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days to adjudicate</c:v>
                </c:pt>
              </c:strCache>
            </c:strRef>
          </c:tx>
          <c:spPr>
            <a:solidFill>
              <a:srgbClr val="14B8A6"/>
            </a:solidFill>
            <a:ln w="25400" cap="flat">
              <a:solidFill>
                <a:srgbClr val="14B8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4B8A6"/>
              </a:solidFill>
              <a:ln w="9525" cap="flat">
                <a:solidFill>
                  <a:srgbClr val="14B8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2024-01</c:v>
                  </c:pt>
                  <c:pt idx="1">
                    <c:v>2024-02</c:v>
                  </c:pt>
                  <c:pt idx="2">
                    <c:v>2024-03</c:v>
                  </c:pt>
                  <c:pt idx="3">
                    <c:v>2024-04</c:v>
                  </c:pt>
                  <c:pt idx="4">
                    <c:v>2024-05</c:v>
                  </c:pt>
                  <c:pt idx="5">
                    <c:v>2024-06</c:v>
                  </c:pt>
                  <c:pt idx="6">
                    <c:v>2024-07</c:v>
                  </c:pt>
                  <c:pt idx="7">
                    <c:v>2024-08</c:v>
                  </c:pt>
                  <c:pt idx="8">
                    <c:v>2024-09</c:v>
                  </c:pt>
                  <c:pt idx="9">
                    <c:v>2024-10</c:v>
                  </c:pt>
                  <c:pt idx="10">
                    <c:v>2024-11</c:v>
                  </c:pt>
                  <c:pt idx="11">
                    <c:v>2024-12</c:v>
                  </c:pt>
                  <c:pt idx="12">
                    <c:v>2025-01</c:v>
                  </c:pt>
                  <c:pt idx="13">
                    <c:v>2025-02</c:v>
                  </c:pt>
                  <c:pt idx="14">
                    <c:v>2025-03</c:v>
                  </c:pt>
                  <c:pt idx="15">
                    <c:v>2025-04</c:v>
                  </c:pt>
                  <c:pt idx="16">
                    <c:v>2025-05</c:v>
                  </c:pt>
                  <c:pt idx="17">
                    <c:v>2025-06</c:v>
                  </c:pt>
                  <c:pt idx="18">
                    <c:v>2025-07</c:v>
                  </c:pt>
                  <c:pt idx="19">
                    <c:v>2025-08</c:v>
                  </c:pt>
                  <c:pt idx="20">
                    <c:v>2025-09</c:v>
                  </c:pt>
                  <c:pt idx="21">
                    <c:v>2025-10</c:v>
                  </c:pt>
                  <c:pt idx="22">
                    <c:v>2025-11</c:v>
                  </c:pt>
                </c:lvl>
              </c:multiLvlStrCache>
            </c:multiLvl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4.91</c:v>
                </c:pt>
                <c:pt idx="1">
                  <c:v>4.85</c:v>
                </c:pt>
                <c:pt idx="2">
                  <c:v>4.82</c:v>
                </c:pt>
                <c:pt idx="3">
                  <c:v>4.9</c:v>
                </c:pt>
                <c:pt idx="4">
                  <c:v>4.97</c:v>
                </c:pt>
                <c:pt idx="5">
                  <c:v>4.95</c:v>
                </c:pt>
                <c:pt idx="6">
                  <c:v>5.07</c:v>
                </c:pt>
                <c:pt idx="7">
                  <c:v>4.9</c:v>
                </c:pt>
                <c:pt idx="8">
                  <c:v>4.84</c:v>
                </c:pt>
                <c:pt idx="9">
                  <c:v>4.8</c:v>
                </c:pt>
                <c:pt idx="10">
                  <c:v>4.79</c:v>
                </c:pt>
                <c:pt idx="11">
                  <c:v>4.77</c:v>
                </c:pt>
                <c:pt idx="12">
                  <c:v>4.89</c:v>
                </c:pt>
                <c:pt idx="13">
                  <c:v>4.83</c:v>
                </c:pt>
                <c:pt idx="14">
                  <c:v>4.74</c:v>
                </c:pt>
                <c:pt idx="15">
                  <c:v>4.55</c:v>
                </c:pt>
                <c:pt idx="16">
                  <c:v>4.42</c:v>
                </c:pt>
                <c:pt idx="17">
                  <c:v>4.33</c:v>
                </c:pt>
                <c:pt idx="18">
                  <c:v>4.12</c:v>
                </c:pt>
                <c:pt idx="19">
                  <c:v>4.02</c:v>
                </c:pt>
                <c:pt idx="20">
                  <c:v>3.74</c:v>
                </c:pt>
                <c:pt idx="21">
                  <c:v>3.52</c:v>
                </c:pt>
                <c:pt idx="22">
                  <c:v>3.33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3-month rolling</c:v>
                </c:pt>
              </c:strCache>
            </c:strRef>
          </c:tx>
          <c:spPr>
            <a:solidFill>
              <a:srgbClr val="A7B4C8"/>
            </a:solidFill>
            <a:ln w="25400" cap="flat">
              <a:solidFill>
                <a:srgbClr val="A7B4C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A7B4C8"/>
              </a:solidFill>
              <a:ln w="9525" cap="flat">
                <a:solidFill>
                  <a:srgbClr val="A7B4C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2024-01</c:v>
                  </c:pt>
                  <c:pt idx="1">
                    <c:v>2024-02</c:v>
                  </c:pt>
                  <c:pt idx="2">
                    <c:v>2024-03</c:v>
                  </c:pt>
                  <c:pt idx="3">
                    <c:v>2024-04</c:v>
                  </c:pt>
                  <c:pt idx="4">
                    <c:v>2024-05</c:v>
                  </c:pt>
                  <c:pt idx="5">
                    <c:v>2024-06</c:v>
                  </c:pt>
                  <c:pt idx="6">
                    <c:v>2024-07</c:v>
                  </c:pt>
                  <c:pt idx="7">
                    <c:v>2024-08</c:v>
                  </c:pt>
                  <c:pt idx="8">
                    <c:v>2024-09</c:v>
                  </c:pt>
                  <c:pt idx="9">
                    <c:v>2024-10</c:v>
                  </c:pt>
                  <c:pt idx="10">
                    <c:v>2024-11</c:v>
                  </c:pt>
                  <c:pt idx="11">
                    <c:v>2024-12</c:v>
                  </c:pt>
                  <c:pt idx="12">
                    <c:v>2025-01</c:v>
                  </c:pt>
                  <c:pt idx="13">
                    <c:v>2025-02</c:v>
                  </c:pt>
                  <c:pt idx="14">
                    <c:v>2025-03</c:v>
                  </c:pt>
                  <c:pt idx="15">
                    <c:v>2025-04</c:v>
                  </c:pt>
                  <c:pt idx="16">
                    <c:v>2025-05</c:v>
                  </c:pt>
                  <c:pt idx="17">
                    <c:v>2025-06</c:v>
                  </c:pt>
                  <c:pt idx="18">
                    <c:v>2025-07</c:v>
                  </c:pt>
                  <c:pt idx="19">
                    <c:v>2025-08</c:v>
                  </c:pt>
                  <c:pt idx="20">
                    <c:v>2025-09</c:v>
                  </c:pt>
                  <c:pt idx="21">
                    <c:v>2025-10</c:v>
                  </c:pt>
                  <c:pt idx="22">
                    <c:v>2025-11</c:v>
                  </c:pt>
                </c:lvl>
              </c:multiLvlStrCache>
            </c:multiLvl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4.91</c:v>
                </c:pt>
                <c:pt idx="1">
                  <c:v>4.88</c:v>
                </c:pt>
                <c:pt idx="2">
                  <c:v>4.86</c:v>
                </c:pt>
                <c:pt idx="3">
                  <c:v>4.86</c:v>
                </c:pt>
                <c:pt idx="4">
                  <c:v>4.9</c:v>
                </c:pt>
                <c:pt idx="5">
                  <c:v>4.94</c:v>
                </c:pt>
                <c:pt idx="6">
                  <c:v>4.99</c:v>
                </c:pt>
                <c:pt idx="7">
                  <c:v>4.97</c:v>
                </c:pt>
                <c:pt idx="8">
                  <c:v>4.94</c:v>
                </c:pt>
                <c:pt idx="9">
                  <c:v>4.85</c:v>
                </c:pt>
                <c:pt idx="10">
                  <c:v>4.81</c:v>
                </c:pt>
                <c:pt idx="11">
                  <c:v>4.79</c:v>
                </c:pt>
                <c:pt idx="12">
                  <c:v>4.82</c:v>
                </c:pt>
                <c:pt idx="13">
                  <c:v>4.83</c:v>
                </c:pt>
                <c:pt idx="14">
                  <c:v>4.82</c:v>
                </c:pt>
                <c:pt idx="15">
                  <c:v>4.71</c:v>
                </c:pt>
                <c:pt idx="16">
                  <c:v>4.57</c:v>
                </c:pt>
                <c:pt idx="17">
                  <c:v>4.43</c:v>
                </c:pt>
                <c:pt idx="18">
                  <c:v>4.29</c:v>
                </c:pt>
                <c:pt idx="19">
                  <c:v>4.16</c:v>
                </c:pt>
                <c:pt idx="20">
                  <c:v>3.96</c:v>
                </c:pt>
                <c:pt idx="21">
                  <c:v>3.76</c:v>
                </c:pt>
                <c:pt idx="22">
                  <c:v>3.53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A7B4C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24406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7B4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A7B4C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Calibri"/>
              </a:rPr>
              <a:t>Average approved amount per claim — top 10 diagnoses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approved / claim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GERD (K21.9)</c:v>
                  </c:pt>
                  <c:pt idx="1">
                    <c:v>Chest pain (R07.9)</c:v>
                  </c:pt>
                  <c:pt idx="2">
                    <c:v>Lung cancer (C34.90)</c:v>
                  </c:pt>
                  <c:pt idx="3">
                    <c:v>Concussion (S06.0X0A)</c:v>
                  </c:pt>
                  <c:pt idx="4">
                    <c:v>Coronary artery disease (I25.10)</c:v>
                  </c:pt>
                  <c:pt idx="5">
                    <c:v>Knee osteoarthritis (M17.11)</c:v>
                  </c:pt>
                  <c:pt idx="6">
                    <c:v>Tibia fracture (S82.201A)</c:v>
                  </c:pt>
                  <c:pt idx="7">
                    <c:v>Breast cancer (C50.911)</c:v>
                  </c:pt>
                  <c:pt idx="8">
                    <c:v>Gallstones (K80.20)</c:v>
                  </c:pt>
                  <c:pt idx="9">
                    <c:v>Normal delivery (O80)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302</c:v>
                </c:pt>
                <c:pt idx="1">
                  <c:v>311</c:v>
                </c:pt>
                <c:pt idx="2">
                  <c:v>481</c:v>
                </c:pt>
                <c:pt idx="3">
                  <c:v>486</c:v>
                </c:pt>
                <c:pt idx="4">
                  <c:v>854</c:v>
                </c:pt>
                <c:pt idx="5">
                  <c:v>1031</c:v>
                </c:pt>
                <c:pt idx="6">
                  <c:v>1211</c:v>
                </c:pt>
                <c:pt idx="7">
                  <c:v>1288</c:v>
                </c:pt>
                <c:pt idx="8">
                  <c:v>1579</c:v>
                </c:pt>
                <c:pt idx="9">
                  <c:v>2643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7B4C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7B4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Calibri"/>
              </a:rPr>
              <a:t>Share of approved spend by member decile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spend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D1</c:v>
                  </c:pt>
                  <c:pt idx="1">
                    <c:v>D2</c:v>
                  </c:pt>
                  <c:pt idx="2">
                    <c:v>D3</c:v>
                  </c:pt>
                  <c:pt idx="3">
                    <c:v>D4</c:v>
                  </c:pt>
                  <c:pt idx="4">
                    <c:v>D5</c:v>
                  </c:pt>
                  <c:pt idx="5">
                    <c:v>D6</c:v>
                  </c:pt>
                  <c:pt idx="6">
                    <c:v>D7</c:v>
                  </c:pt>
                  <c:pt idx="7">
                    <c:v>D8</c:v>
                  </c:pt>
                  <c:pt idx="8">
                    <c:v>D9</c:v>
                  </c:pt>
                  <c:pt idx="9">
                    <c:v>D10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0.516</c:v>
                </c:pt>
                <c:pt idx="1">
                  <c:v>0.18899999999999997</c:v>
                </c:pt>
                <c:pt idx="2">
                  <c:v>0.11599999999999999</c:v>
                </c:pt>
                <c:pt idx="3">
                  <c:v>0.07</c:v>
                </c:pt>
                <c:pt idx="4">
                  <c:v>0.042</c:v>
                </c:pt>
                <c:pt idx="5">
                  <c:v>0.027999999999999997</c:v>
                </c:pt>
                <c:pt idx="6">
                  <c:v>0.019</c:v>
                </c:pt>
                <c:pt idx="7">
                  <c:v>0.012</c:v>
                </c:pt>
                <c:pt idx="8">
                  <c:v>0.006999999999999999</c:v>
                </c:pt>
                <c:pt idx="9">
                  <c:v>0.002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7B4C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7B4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Calibri"/>
              </a:rPr>
              <a:t>Approved PMPM — 2025 avg YoY +11.5%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Approved PMPM</c:v>
                </c:pt>
              </c:strCache>
            </c:strRef>
          </c:tx>
          <c:spPr>
            <a:solidFill>
              <a:srgbClr val="14B8A6"/>
            </a:solidFill>
            <a:ln w="25400" cap="flat">
              <a:solidFill>
                <a:srgbClr val="14B8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4B8A6"/>
              </a:solidFill>
              <a:ln w="9525" cap="flat">
                <a:solidFill>
                  <a:srgbClr val="14B8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2024-01</c:v>
                  </c:pt>
                  <c:pt idx="1">
                    <c:v>2024-02</c:v>
                  </c:pt>
                  <c:pt idx="2">
                    <c:v>2024-03</c:v>
                  </c:pt>
                  <c:pt idx="3">
                    <c:v>2024-04</c:v>
                  </c:pt>
                  <c:pt idx="4">
                    <c:v>2024-05</c:v>
                  </c:pt>
                  <c:pt idx="5">
                    <c:v>2024-06</c:v>
                  </c:pt>
                  <c:pt idx="6">
                    <c:v>2024-07</c:v>
                  </c:pt>
                  <c:pt idx="7">
                    <c:v>2024-08</c:v>
                  </c:pt>
                  <c:pt idx="8">
                    <c:v>2024-09</c:v>
                  </c:pt>
                  <c:pt idx="9">
                    <c:v>2024-10</c:v>
                  </c:pt>
                  <c:pt idx="10">
                    <c:v>2024-11</c:v>
                  </c:pt>
                  <c:pt idx="11">
                    <c:v>2024-12</c:v>
                  </c:pt>
                  <c:pt idx="12">
                    <c:v>2025-01</c:v>
                  </c:pt>
                  <c:pt idx="13">
                    <c:v>2025-02</c:v>
                  </c:pt>
                  <c:pt idx="14">
                    <c:v>2025-03</c:v>
                  </c:pt>
                  <c:pt idx="15">
                    <c:v>2025-04</c:v>
                  </c:pt>
                  <c:pt idx="16">
                    <c:v>2025-05</c:v>
                  </c:pt>
                  <c:pt idx="17">
                    <c:v>2025-06</c:v>
                  </c:pt>
                  <c:pt idx="18">
                    <c:v>2025-07</c:v>
                  </c:pt>
                  <c:pt idx="19">
                    <c:v>2025-08</c:v>
                  </c:pt>
                  <c:pt idx="20">
                    <c:v>2025-09</c:v>
                  </c:pt>
                  <c:pt idx="21">
                    <c:v>2025-10</c:v>
                  </c:pt>
                </c:lvl>
              </c:multiLvlStrCache>
            </c:multiLvl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243.05</c:v>
                </c:pt>
                <c:pt idx="1">
                  <c:v>214.12</c:v>
                </c:pt>
                <c:pt idx="2">
                  <c:v>204.98</c:v>
                </c:pt>
                <c:pt idx="3">
                  <c:v>195.51</c:v>
                </c:pt>
                <c:pt idx="4">
                  <c:v>220.31</c:v>
                </c:pt>
                <c:pt idx="5">
                  <c:v>194.63</c:v>
                </c:pt>
                <c:pt idx="6">
                  <c:v>210.76</c:v>
                </c:pt>
                <c:pt idx="7">
                  <c:v>201.23</c:v>
                </c:pt>
                <c:pt idx="8">
                  <c:v>205.1</c:v>
                </c:pt>
                <c:pt idx="9">
                  <c:v>233.01</c:v>
                </c:pt>
                <c:pt idx="10">
                  <c:v>242.84</c:v>
                </c:pt>
                <c:pt idx="11">
                  <c:v>257.1</c:v>
                </c:pt>
                <c:pt idx="12">
                  <c:v>285.02</c:v>
                </c:pt>
                <c:pt idx="13">
                  <c:v>241.08</c:v>
                </c:pt>
                <c:pt idx="14">
                  <c:v>226.09</c:v>
                </c:pt>
                <c:pt idx="15">
                  <c:v>227.9</c:v>
                </c:pt>
                <c:pt idx="16">
                  <c:v>246.32</c:v>
                </c:pt>
                <c:pt idx="17">
                  <c:v>224.75</c:v>
                </c:pt>
                <c:pt idx="18">
                  <c:v>233.16</c:v>
                </c:pt>
                <c:pt idx="19">
                  <c:v>217.58</c:v>
                </c:pt>
                <c:pt idx="20">
                  <c:v>219.74</c:v>
                </c:pt>
                <c:pt idx="21">
                  <c:v>244.37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A7B4C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24406A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7B4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Calibri"/>
              </a:rPr>
              <a:t>Duplicate submissions: caught vs paid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Caught by edits (R01)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Exact duplicate</c:v>
                  </c:pt>
                  <c:pt idx="1">
                    <c:v>Near duplicate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2238</c:v>
                </c:pt>
                <c:pt idx="1">
                  <c:v>668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Paid</c:v>
                </c:pt>
              </c:strCache>
            </c:strRef>
          </c:tx>
          <c:spPr>
            <a:solidFill>
              <a:srgbClr val="F484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Exact duplicate</c:v>
                  </c:pt>
                  <c:pt idx="1">
                    <c:v>Near duplicate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296</c:v>
                </c:pt>
                <c:pt idx="1">
                  <c:v>453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7B4C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7B4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A7B4C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097280"/>
            <a:ext cx="4206240" cy="4206240"/>
          </a:xfrm>
          <a:prstGeom prst="ellipse">
            <a:avLst/>
          </a:prstGeom>
          <a:solidFill>
            <a:srgbClr val="0F9D8F">
              <a:alpha val="18000"/>
            </a:srgbClr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377440"/>
            <a:ext cx="2926080" cy="292608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85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05  ·  HEALTH INSURANCE ANALYTICS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Insurance Claims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Fraud Signals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efficiency, cost containment and claims integrity across two years of claims — SQL (SQLite) + Python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13294A"/>
          </a:solidFill>
          <a:ln w="12700">
            <a:solidFill>
              <a:srgbClr val="1329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3538728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199,195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977640"/>
            <a:ext cx="14996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claims, Jan 2024 – Dec 2025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0" y="342900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13294A"/>
          </a:solidFill>
          <a:ln w="12700">
            <a:solidFill>
              <a:srgbClr val="1329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24912" y="3538728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$116.4M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724912" y="3977640"/>
            <a:ext cx="14996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charges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342900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13294A"/>
          </a:solidFill>
          <a:ln w="12700">
            <a:solidFill>
              <a:srgbClr val="1329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36592" y="3538728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$50.8M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736592" y="3977640"/>
            <a:ext cx="14996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(allowed) amount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0" y="342900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13294A"/>
          </a:solidFill>
          <a:ln w="12700">
            <a:solidFill>
              <a:srgbClr val="1329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48272" y="3538728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13.8%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748272" y="3977640"/>
            <a:ext cx="14996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rejection rate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548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7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 — 10,000 members · 1,200 providers · 19,854 policies. Built for portfolio demonstration.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APPROACH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7-table claims warehouse and 12 SQL queries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572000" cy="3337560"/>
          </a:xfrm>
          <a:prstGeom prst="roundRect">
            <a:avLst>
              <a:gd name="adj" fmla="val 2192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6" name="Image 0" descr="/home/user/health-analytics/05-insurance-claims-sql/images/schema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4389120" cy="31546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303520" y="1325880"/>
            <a:ext cx="3429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grain: </a:t>
            </a:r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per claim with ICD-10 dx, CPT/HCPCS px, billed vs approved, status, reason.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Dimensions: </a:t>
            </a:r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members, annual policies (HMO/PPO/EPO/HDHP), providers, code lookups, 10 denial reasons.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toolkit: </a:t>
            </a:r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CTEs, joins, RANK / NTILE / PERCENT_RANK, LAG / rolling windows, window medians, recursive calendar.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</a:t>
            </a:r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generator → SQLite → .sql files → notebook charts → this deck.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EFFICIENCY · DENIALS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of denials were avoidable up front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55778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17920" y="128016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13294A"/>
          </a:solidFill>
          <a:ln w="12700">
            <a:solidFill>
              <a:srgbClr val="1329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82512" y="1389888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27,412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382512" y="1828800"/>
            <a:ext cx="21396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rejected (13.8% of all claims)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17920" y="237744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13294A"/>
          </a:solidFill>
          <a:ln w="12700">
            <a:solidFill>
              <a:srgbClr val="1329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82512" y="2487168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6382512" y="2926080"/>
            <a:ext cx="21396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network, coding, missing info, duplicates, filing &amp; eligibility — preventable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17920" y="365760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13294A"/>
          </a:solidFill>
          <a:ln w="12700">
            <a:solidFill>
              <a:srgbClr val="1329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82512" y="3767328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382512" y="4206240"/>
            <a:ext cx="21396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denials come from the top 3 reasons alone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EFFICIENCY · PROVIDERS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gaps and prior auth drive specialty denials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45720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212080" y="128016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13294A"/>
          </a:solidFill>
          <a:ln w="12700">
            <a:solidFill>
              <a:srgbClr val="1329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provider ranking shows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394960" y="1828800"/>
            <a:ext cx="3154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Network, not behaviour: </a:t>
            </a:r>
            <a:pPr indent="0" marL="0">
              <a:buNone/>
            </a:pPr>
            <a:r>
              <a:rPr lang="en-US" sz="11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 25 providers furthest above their specialty rate are out-of-network, billing HMO/EPO members with no OON benefit.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auth: </a:t>
            </a:r>
            <a:pPr indent="0" marL="0">
              <a:buNone/>
            </a:pPr>
            <a:r>
              <a:rPr lang="en-US" sz="11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35% of General Surgery and 31% of Oncology denials.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Coding: </a:t>
            </a:r>
            <a:pPr indent="0" marL="0">
              <a:buNone/>
            </a:pPr>
            <a:r>
              <a:rPr lang="en-US" sz="11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driver for Cardiology, Behavioral Health, Neurology and Nephrology — a provider-education target.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EFFICIENCY · TURNAROUND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Adjudication time fell from 4.9 to 3.3 days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53949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12801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13294A"/>
          </a:solidFill>
          <a:ln w="12700">
            <a:solidFill>
              <a:srgbClr val="1329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99632" y="138988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vs 15d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199632" y="1828800"/>
            <a:ext cx="23225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days, approved claims: auto-adjudicated vs manual review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035040" y="24231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13294A"/>
          </a:solidFill>
          <a:ln w="12700">
            <a:solidFill>
              <a:srgbClr val="1329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99632" y="253288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6199632" y="2971800"/>
            <a:ext cx="23225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manual-review claims decided within 15 days — the bottleneck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035040" y="35661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13294A"/>
          </a:solidFill>
          <a:ln w="12700">
            <a:solidFill>
              <a:srgbClr val="1329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99632" y="367588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98.0%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199632" y="4114800"/>
            <a:ext cx="23225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claims decided within 15 days (Nov 2025)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CONTAINMENT · CONDITIONS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and maternity episodes set cost per claim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128016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13294A"/>
          </a:solidFill>
          <a:ln w="12700">
            <a:solidFill>
              <a:srgbClr val="1329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0936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total spend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181051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$8.9M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178040" y="181051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Gallstones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1945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$7.8M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178040" y="21945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Tibia fracture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257860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$4.3M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178040" y="257860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 osteoarthritis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296265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$3.5M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178040" y="296265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Coronary artery disease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33467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$3.2M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178040" y="334670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Concussion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09360" y="37947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A7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far above median (e.g. gallstones, tibia fracture) = cost driven by a few surgical episodes → site-of-care and prior-auth levers.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CONTAINMENT · MEMBERS &amp; TREND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10% of members drive 52% of spend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40233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572000" y="1234440"/>
          <a:ext cx="42062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3977640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13294A"/>
          </a:solidFill>
          <a:ln w="12700">
            <a:solidFill>
              <a:srgbClr val="13294A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94360" y="4041648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$28K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1645920" y="4041648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2-yr spend, top-decile member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246120" y="3977640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13294A"/>
          </a:solidFill>
          <a:ln w="12700">
            <a:solidFill>
              <a:srgbClr val="13294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3280" y="4041648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434840" y="4041648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dx (median) for top-50 members, median age 63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035040" y="3977640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13294A"/>
          </a:solidFill>
          <a:ln w="12700">
            <a:solidFill>
              <a:srgbClr val="13294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172200" y="4041648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7223760" y="4041648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month: winter respiratory season + deductible reset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INTEGRITY · DUPLICATES &amp; OUTLIERS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Near-duplicates slip past edits at 3x the rate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47548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74904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13294A"/>
          </a:solidFill>
          <a:ln w="12700">
            <a:solidFill>
              <a:srgbClr val="1329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1792" y="3858768"/>
            <a:ext cx="1911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vs 38%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4297680"/>
            <a:ext cx="1911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paid-through rate: exact vs near duplicates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34640" y="374904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13294A"/>
          </a:solidFill>
          <a:ln w="12700">
            <a:solidFill>
              <a:srgbClr val="1329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999232" y="3858768"/>
            <a:ext cx="1911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$217K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2999232" y="4297680"/>
            <a:ext cx="1911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on exact + near duplicates — recoverable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94960" y="1280160"/>
            <a:ext cx="3291840" cy="3429000"/>
          </a:xfrm>
          <a:prstGeom prst="roundRect">
            <a:avLst>
              <a:gd name="adj" fmla="val 2222"/>
            </a:avLst>
          </a:prstGeom>
          <a:solidFill>
            <a:srgbClr val="13294A"/>
          </a:solidFill>
          <a:ln w="12700">
            <a:solidFill>
              <a:srgbClr val="1329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57784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Billed-amount outliers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577840" y="1783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985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5577840" y="2286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with |z| &gt; 3 and ≥ 3x the procedure median, billing $6.7M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577840" y="288036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schedule works: </a:t>
            </a:r>
            <a:pPr indent="0" marL="0">
              <a:buNone/>
            </a:pPr>
            <a:r>
              <a:rPr lang="en-US" sz="10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outliers paid only $111K — allowed amounts cap exposure in-network.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risk: </a:t>
            </a:r>
            <a:pPr indent="0" marL="0">
              <a:buNone/>
            </a:pPr>
            <a:r>
              <a:rPr lang="en-US" sz="10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cluster in E&amp;M codes at a few providers — a behavioural signal, not a typo.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INTEGRITY · PROVIDER SCORECARD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providers show 3+ red flags vs. peers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66928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  <a:gridCol w="566928"/>
                <a:gridCol w="603504"/>
                <a:gridCol w="530352"/>
                <a:gridCol w="457200"/>
                <a:gridCol w="539496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99215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6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 Cardiology Assoc.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Cardiology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Oakwood Endocrinology Assoc.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Endocrinology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 Nancy Wilson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Cardiology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Unity Behavioral Health Assoc.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Behavioral Health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Riverside Orthopedics Assoc.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Valley Internal Medicine Assoc.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Medicine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 Internal Medicine Assoc.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Medicine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 Barbara Young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Medicine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28016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13294A"/>
          </a:solidFill>
          <a:ln w="12700">
            <a:solidFill>
              <a:srgbClr val="1329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65392" y="1389888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4.4x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565392" y="1828800"/>
            <a:ext cx="1956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billed-to-reference markup (book ≈ 1.95x)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0" y="237744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13294A"/>
          </a:solidFill>
          <a:ln w="12700">
            <a:solidFill>
              <a:srgbClr val="1329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65392" y="2487168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6565392" y="2926080"/>
            <a:ext cx="1956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E&amp;M visits coded 99215 (book ≈ 5%) — upcoding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0" y="347472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13294A"/>
          </a:solidFill>
          <a:ln w="12700">
            <a:solidFill>
              <a:srgbClr val="1329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65392" y="3584448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$1.6M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565392" y="4023360"/>
            <a:ext cx="1956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to flagged providers — SIU review scope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7548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7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within-specialty PERCENT_RANK of markup (30%), duplicates (25%), 99215 share (20%), outliers (15%), claims per member (10%).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levers, sized from the data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13294A"/>
          </a:solidFill>
          <a:ln w="12700">
            <a:solidFill>
              <a:srgbClr val="1329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44752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4447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efficiency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0312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claim scrubber for coding &amp; missing-info edits (40% of denials)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 HMO/EPO members to in-network care; fix directory accuracy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Gold-card high-approval providers to shrink the manual-review queue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2801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13294A"/>
          </a:solidFill>
          <a:ln w="12700">
            <a:solidFill>
              <a:srgbClr val="1329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444752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14447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containment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10312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management for the top decile (52% of spend), prioritising multi-morbid members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Site-of-care &amp; prior-auth review for surgical episodes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PMPM trend monitoring with run-out-adjusted months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2801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13294A"/>
          </a:solidFill>
          <a:ln w="12700">
            <a:solidFill>
              <a:srgbClr val="1329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444752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14447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integrity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10312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±5% tolerance band to the duplicate edit; recover paid duplicates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 the 20 flagged providers to SIU; pre-payment review on 99215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Productionise the scorecard as a monthly refresh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7548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7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from synthetic data; methods transfer directly to production claims warehouses.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Insurance Claims &amp; Fraud Signals Analysis</dc:title>
  <dc:subject>PptxGenJS Presentation</dc:subject>
  <dc:creator>PptxGenJS</dc:creator>
  <cp:lastModifiedBy>PptxGenJS</cp:lastModifiedBy>
  <cp:revision>1</cp:revision>
  <dcterms:created xsi:type="dcterms:W3CDTF">2026-09-29T12:11:03Z</dcterms:created>
  <dcterms:modified xsi:type="dcterms:W3CDTF">2026-09-29T12:11:03Z</dcterms:modified>
</cp:coreProperties>
</file>