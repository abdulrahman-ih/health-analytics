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Obesity</c:v>
                </c:pt>
              </c:strCache>
            </c:strRef>
          </c:tx>
          <c:spPr>
            <a:solidFill>
              <a:srgbClr val="0D9488"/>
            </a:solidFill>
            <a:effectLst/>
          </c:spPr>
          <c:invertIfNegative val="0"/>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Northeast</c:v>
                  </c:pt>
                  <c:pt idx="1">
                    <c:v>Midwest</c:v>
                  </c:pt>
                  <c:pt idx="2">
                    <c:v>South</c:v>
                  </c:pt>
                  <c:pt idx="3">
                    <c:v>West</c:v>
                  </c:pt>
                </c:lvl>
              </c:multiLvlStrCache>
            </c:multiLvlStrRef>
          </c:cat>
          <c:val>
            <c:numRef>
              <c:f>Sheet1!$B$2:$B$5</c:f>
              <c:numCache>
                <c:formatCode>General</c:formatCode>
                <c:ptCount val="4"/>
                <c:pt idx="0">
                  <c:v>33</c:v>
                </c:pt>
                <c:pt idx="1">
                  <c:v>34.3</c:v>
                </c:pt>
                <c:pt idx="2">
                  <c:v>39.8</c:v>
                </c:pt>
                <c:pt idx="3">
                  <c:v>29.1</c:v>
                </c:pt>
              </c:numCache>
            </c:numRef>
          </c:val>
        </c:ser>
        <c:ser>
          <c:idx val="1"/>
          <c:order val="1"/>
          <c:tx>
            <c:strRef>
              <c:f>Sheet1!$C$1</c:f>
              <c:strCache>
                <c:ptCount val="1"/>
                <c:pt idx="0">
                  <c:v>Hypertension</c:v>
                </c:pt>
              </c:strCache>
            </c:strRef>
          </c:tx>
          <c:spPr>
            <a:solidFill>
              <a:srgbClr val="3B82F6"/>
            </a:solidFill>
            <a:effectLst/>
          </c:spPr>
          <c:invertIfNegative val="0"/>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Northeast</c:v>
                  </c:pt>
                  <c:pt idx="1">
                    <c:v>Midwest</c:v>
                  </c:pt>
                  <c:pt idx="2">
                    <c:v>South</c:v>
                  </c:pt>
                  <c:pt idx="3">
                    <c:v>West</c:v>
                  </c:pt>
                </c:lvl>
              </c:multiLvlStrCache>
            </c:multiLvlStrRef>
          </c:cat>
          <c:val>
            <c:numRef>
              <c:f>Sheet1!$C$2:$C$5</c:f>
              <c:numCache>
                <c:formatCode>General</c:formatCode>
                <c:ptCount val="4"/>
                <c:pt idx="0">
                  <c:v>23.9</c:v>
                </c:pt>
                <c:pt idx="1">
                  <c:v>24.7</c:v>
                </c:pt>
                <c:pt idx="2">
                  <c:v>29.3</c:v>
                </c:pt>
                <c:pt idx="3">
                  <c:v>23.2</c:v>
                </c:pt>
              </c:numCache>
            </c:numRef>
          </c:val>
        </c:ser>
        <c:ser>
          <c:idx val="2"/>
          <c:order val="2"/>
          <c:tx>
            <c:strRef>
              <c:f>Sheet1!$D$1</c:f>
              <c:strCache>
                <c:ptCount val="1"/>
                <c:pt idx="0">
                  <c:v>Diabetes</c:v>
                </c:pt>
              </c:strCache>
            </c:strRef>
          </c:tx>
          <c:spPr>
            <a:solidFill>
              <a:srgbClr val="D97706"/>
            </a:solidFill>
            <a:effectLst/>
          </c:spPr>
          <c:invertIfNegative val="0"/>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Northeast</c:v>
                  </c:pt>
                  <c:pt idx="1">
                    <c:v>Midwest</c:v>
                  </c:pt>
                  <c:pt idx="2">
                    <c:v>South</c:v>
                  </c:pt>
                  <c:pt idx="3">
                    <c:v>West</c:v>
                  </c:pt>
                </c:lvl>
              </c:multiLvlStrCache>
            </c:multiLvlStrRef>
          </c:cat>
          <c:val>
            <c:numRef>
              <c:f>Sheet1!$D$2:$D$5</c:f>
              <c:numCache>
                <c:formatCode>General</c:formatCode>
                <c:ptCount val="4"/>
                <c:pt idx="0">
                  <c:v>11</c:v>
                </c:pt>
                <c:pt idx="1">
                  <c:v>11.2</c:v>
                </c:pt>
                <c:pt idx="2">
                  <c:v>14.5</c:v>
                </c:pt>
                <c:pt idx="3">
                  <c:v>9.9</c:v>
                </c:pt>
              </c:numCache>
            </c:numRef>
          </c:val>
        </c:ser>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C7D2E0"/>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1E3A5F"/>
              </a:solidFill>
              <a:prstDash val="dot"/>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9FB3C8"/>
                </a:solidFill>
                <a:latin typeface="Calibri"/>
              </a:defRPr>
            </a:pPr>
            <a:endParaRPr lang="en-US"/>
          </a:p>
        </c:txPr>
        <c:crossAx val="2094734554"/>
        <c:crosses val="autoZero"/>
        <c:crossBetween val="between"/>
      </c:valAx>
      <c:spPr>
        <a:solidFill>
          <a:srgbClr val="12294A"/>
        </a:solidFill>
        <a:ln>
          <a:noFill/>
        </a:ln>
        <a:effectLst/>
      </c:spPr>
    </c:plotArea>
    <c:legend>
      <c:legendPos val="t"/>
      <c:overlay val="0"/>
      <c:txPr>
        <a:bodyPr/>
        <a:lstStyle/>
        <a:p>
          <a:pPr>
            <a:defRPr sz="1000">
              <a:solidFill>
                <a:srgbClr val="C7D2E0"/>
              </a:solidFill>
              <a:latin typeface="Calibri"/>
              <a:cs typeface="Calibri"/>
            </a:defRPr>
          </a:pPr>
          <a:endParaRPr lang="en-US"/>
        </a:p>
      </c:txPr>
    </c:legend>
    <c:plotVisOnly val="1"/>
    <c:dispBlanksAs val="span"/>
  </c:chart>
  <c:spPr>
    <a:solidFill>
      <a:srgbClr val="12294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Completion rate</c:v>
                </c:pt>
              </c:strCache>
            </c:strRef>
          </c:tx>
          <c:spPr>
            <a:solidFill>
              <a:srgbClr val="D97706"/>
            </a:solidFill>
            <a:effectLst/>
          </c:spPr>
          <c:invertIfNegative val="0"/>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706"/>
              </a:solidFill>
              <a:effectLst/>
            </c:spPr>
          </c:dPt>
          <c:dPt>
            <c:idx val="1"/>
            <c:invertIfNegative val="0"/>
            <c:bubble3D val="0"/>
            <c:spPr>
              <a:solidFill>
                <a:srgbClr val="D97706"/>
              </a:solidFill>
              <a:effectLst/>
            </c:spPr>
          </c:dPt>
          <c:dPt>
            <c:idx val="2"/>
            <c:invertIfNegative val="0"/>
            <c:bubble3D val="0"/>
            <c:spPr>
              <a:solidFill>
                <a:srgbClr val="D97706"/>
              </a:solidFill>
              <a:effectLst/>
            </c:spPr>
          </c:dPt>
          <c:dPt>
            <c:idx val="3"/>
            <c:invertIfNegative val="0"/>
            <c:bubble3D val="0"/>
            <c:spPr>
              <a:solidFill>
                <a:srgbClr val="D97706"/>
              </a:solidFill>
              <a:effectLst/>
            </c:spPr>
          </c:dPt>
          <c:dPt>
            <c:idx val="4"/>
            <c:invertIfNegative val="0"/>
            <c:bubble3D val="0"/>
            <c:spPr>
              <a:solidFill>
                <a:srgbClr val="D97706"/>
              </a:solidFill>
              <a:effectLst/>
            </c:spPr>
          </c:dPt>
          <c:dPt>
            <c:idx val="5"/>
            <c:invertIfNegative val="0"/>
            <c:bubble3D val="0"/>
            <c:spPr>
              <a:solidFill>
                <a:srgbClr val="3B82F6"/>
              </a:solidFill>
              <a:effectLst/>
            </c:spPr>
          </c:dPt>
          <c:dPt>
            <c:idx val="6"/>
            <c:invertIfNegative val="0"/>
            <c:bubble3D val="0"/>
            <c:spPr>
              <a:solidFill>
                <a:srgbClr val="3B82F6"/>
              </a:solidFill>
              <a:effectLst/>
            </c:spPr>
          </c:dPt>
          <c:dPt>
            <c:idx val="7"/>
            <c:invertIfNegative val="0"/>
            <c:bubble3D val="0"/>
            <c:spPr>
              <a:solidFill>
                <a:srgbClr val="3B82F6"/>
              </a:solidFill>
              <a:effectLst/>
            </c:spPr>
          </c:dPt>
          <c:dPt>
            <c:idx val="8"/>
            <c:invertIfNegative val="0"/>
            <c:bubble3D val="0"/>
            <c:spPr>
              <a:solidFill>
                <a:srgbClr val="0D9488"/>
              </a:solidFill>
              <a:effectLst/>
            </c:spPr>
          </c:dPt>
          <c:dPt>
            <c:idx val="9"/>
            <c:invertIfNegative val="0"/>
            <c:bubble3D val="0"/>
            <c:spPr>
              <a:solidFill>
                <a:srgbClr val="0D9488"/>
              </a:solidFill>
              <a:effectLst/>
            </c:spPr>
          </c:dPt>
          <c:cat>
            <c:multiLvlStrRef>
              <c:f>Sheet1!$A$2:$A$11</c:f>
              <c:multiLvlStrCache>
                <c:ptCount val="10"/>
                <c:lvl>
                  <c:pt idx="0">
                    <c:v>Influenza vaccination</c:v>
                  </c:pt>
                  <c:pt idx="1">
                    <c:v>Diabetic eye exam</c:v>
                  </c:pt>
                  <c:pt idx="2">
                    <c:v>Diabetes screening</c:v>
                  </c:pt>
                  <c:pt idx="3">
                    <c:v>Annual wellness visit</c:v>
                  </c:pt>
                  <c:pt idx="4">
                    <c:v>Colorectal cancer</c:v>
                  </c:pt>
                  <c:pt idx="5">
                    <c:v>Lipid panel</c:v>
                  </c:pt>
                  <c:pt idx="6">
                    <c:v>Cervical cancer</c:v>
                  </c:pt>
                  <c:pt idx="7">
                    <c:v>Mammography</c:v>
                  </c:pt>
                  <c:pt idx="8">
                    <c:v>HbA1c test (diabetics)</c:v>
                  </c:pt>
                  <c:pt idx="9">
                    <c:v>Blood pressure screening</c:v>
                  </c:pt>
                </c:lvl>
              </c:multiLvlStrCache>
            </c:multiLvlStrRef>
          </c:cat>
          <c:val>
            <c:numRef>
              <c:f>Sheet1!$B$2:$B$11</c:f>
              <c:numCache>
                <c:formatCode>General</c:formatCode>
                <c:ptCount val="10"/>
                <c:pt idx="0">
                  <c:v>51.8</c:v>
                </c:pt>
                <c:pt idx="1">
                  <c:v>54.4</c:v>
                </c:pt>
                <c:pt idx="2">
                  <c:v>57</c:v>
                </c:pt>
                <c:pt idx="3">
                  <c:v>61.4</c:v>
                </c:pt>
                <c:pt idx="4">
                  <c:v>64.6</c:v>
                </c:pt>
                <c:pt idx="5">
                  <c:v>68.8</c:v>
                </c:pt>
                <c:pt idx="6">
                  <c:v>70</c:v>
                </c:pt>
                <c:pt idx="7">
                  <c:v>72.7</c:v>
                </c:pt>
                <c:pt idx="8">
                  <c:v>76.9</c:v>
                </c:pt>
                <c:pt idx="9">
                  <c:v>81.6</c:v>
                </c:pt>
              </c:numCache>
            </c:numRef>
          </c:val>
        </c:ser>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C7D2E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1E3A5F"/>
              </a:solidFill>
              <a:prstDash val="dot"/>
              <a:round/>
            </a:ln>
          </c:spPr>
        </c:majorGridlines>
        <c:numFmt formatCode="0" sourceLinked="0"/>
        <c:majorTickMark val="out"/>
        <c:minorTickMark val="none"/>
        <c:tickLblPos val="low"/>
        <c:spPr>
          <a:ln w="12700" cap="flat">
            <a:noFill/>
            <a:prstDash val="solid"/>
            <a:round/>
          </a:ln>
        </c:spPr>
        <c:txPr>
          <a:bodyPr/>
          <a:lstStyle/>
          <a:p>
            <a:pPr>
              <a:defRPr sz="900" b="0" i="0" u="none" strike="noStrike">
                <a:solidFill>
                  <a:srgbClr val="9FB3C8"/>
                </a:solidFill>
                <a:latin typeface="Calibri"/>
              </a:defRPr>
            </a:pPr>
            <a:endParaRPr lang="en-US"/>
          </a:p>
        </c:txPr>
        <c:crossAx val="2094734554"/>
        <c:crosses val="autoZero"/>
        <c:crossBetween val="between"/>
      </c:valAx>
      <c:spPr>
        <a:solidFill>
          <a:srgbClr val="12294A"/>
        </a:solidFill>
        <a:ln>
          <a:noFill/>
        </a:ln>
        <a:effectLst/>
      </c:spPr>
    </c:plotArea>
    <c:plotVisOnly val="1"/>
    <c:dispBlanksAs val="span"/>
  </c:chart>
  <c:spPr>
    <a:solidFill>
      <a:srgbClr val="12294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Monthly active users</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900" u="none">
                    <a:solidFill>
                      <a:srgbClr val="F5F7FA"/>
                    </a:solidFill>
                    <a:latin typeface="Calibri"/>
                  </a:defRPr>
                </a:pPr>
              </a:p>
            </c:txPr>
            <c:showLegendKey val="0"/>
            <c:showVal val="0"/>
            <c:showCatName val="0"/>
            <c:showSerName val="0"/>
            <c:showPercent val="0"/>
            <c:showBubbleSize val="0"/>
            <c:showLeaderLines val="0"/>
          </c:dLbls>
          <c:marker>
            <c:symbol val="circle"/>
            <c:size val="7"/>
            <c:spPr>
              <a:solidFill>
                <a:srgbClr val="2DD4BF"/>
              </a:solidFill>
              <a:ln w="9525" cap="flat">
                <a:solidFill>
                  <a:srgbClr val="2DD4BF"/>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7083</c:v>
                </c:pt>
                <c:pt idx="1">
                  <c:v>7121</c:v>
                </c:pt>
                <c:pt idx="2">
                  <c:v>8332</c:v>
                </c:pt>
                <c:pt idx="3">
                  <c:v>8722</c:v>
                </c:pt>
                <c:pt idx="4">
                  <c:v>9624</c:v>
                </c:pt>
                <c:pt idx="5">
                  <c:v>10180</c:v>
                </c:pt>
                <c:pt idx="6">
                  <c:v>11251</c:v>
                </c:pt>
                <c:pt idx="7">
                  <c:v>11901</c:v>
                </c:pt>
                <c:pt idx="8">
                  <c:v>12726</c:v>
                </c:pt>
                <c:pt idx="9">
                  <c:v>13974</c:v>
                </c:pt>
                <c:pt idx="10">
                  <c:v>14875</c:v>
                </c:pt>
                <c:pt idx="11">
                  <c:v>16452</c:v>
                </c:pt>
              </c:numCache>
            </c:numRef>
          </c:val>
          <c:smooth val="0"/>
        </c:ser>
        <c:dLbls>
          <c:numFmt formatCode="#,##0" sourceLinked="0"/>
          <c:txPr>
            <a:bodyPr/>
            <a:lstStyle/>
            <a:p>
              <a:pPr>
                <a:defRPr b="0" i="0" strike="noStrike" sz="900" u="none">
                  <a:solidFill>
                    <a:srgbClr val="F5F7F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C7D2E0"/>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1E3A5F"/>
              </a:solidFill>
              <a:prstDash val="dot"/>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9FB3C8"/>
                </a:solidFill>
                <a:latin typeface="Calibri"/>
              </a:defRPr>
            </a:pPr>
            <a:endParaRPr lang="en-US"/>
          </a:p>
        </c:txPr>
        <c:crossAx val="2094734554"/>
        <c:crosses val="autoZero"/>
        <c:crossBetween val="between"/>
      </c:valAx>
      <c:spPr>
        <a:solidFill>
          <a:srgbClr val="12294A"/>
        </a:solidFill>
        <a:ln>
          <a:noFill/>
        </a:ln>
        <a:effectLst/>
      </c:spPr>
    </c:plotArea>
    <c:plotVisOnly val="1"/>
    <c:dispBlanksAs val="span"/>
  </c:chart>
  <c:spPr>
    <a:solidFill>
      <a:srgbClr val="12294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Avg daily steps</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900" u="none">
                    <a:solidFill>
                      <a:srgbClr val="F5F7FA"/>
                    </a:solidFill>
                    <a:latin typeface="Calibri"/>
                  </a:defRPr>
                </a:pPr>
              </a:p>
            </c:txPr>
            <c:showLegendKey val="0"/>
            <c:showVal val="0"/>
            <c:showCatName val="0"/>
            <c:showSerName val="0"/>
            <c:showPercent val="0"/>
            <c:showBubbleSize val="0"/>
            <c:showLeaderLines val="0"/>
          </c:dLbls>
          <c:marker>
            <c:symbol val="circle"/>
            <c:size val="7"/>
            <c:spPr>
              <a:solidFill>
                <a:srgbClr val="2DD4BF"/>
              </a:solidFill>
              <a:ln w="9525" cap="flat">
                <a:solidFill>
                  <a:srgbClr val="2DD4BF"/>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6799</c:v>
                </c:pt>
                <c:pt idx="1">
                  <c:v>6955</c:v>
                </c:pt>
                <c:pt idx="2">
                  <c:v>7449</c:v>
                </c:pt>
                <c:pt idx="3">
                  <c:v>7964</c:v>
                </c:pt>
                <c:pt idx="4">
                  <c:v>8256</c:v>
                </c:pt>
                <c:pt idx="5">
                  <c:v>8409</c:v>
                </c:pt>
                <c:pt idx="6">
                  <c:v>8360</c:v>
                </c:pt>
                <c:pt idx="7">
                  <c:v>8207</c:v>
                </c:pt>
                <c:pt idx="8">
                  <c:v>7957</c:v>
                </c:pt>
                <c:pt idx="9">
                  <c:v>7716</c:v>
                </c:pt>
                <c:pt idx="10">
                  <c:v>7251</c:v>
                </c:pt>
                <c:pt idx="11">
                  <c:v>6914</c:v>
                </c:pt>
              </c:numCache>
            </c:numRef>
          </c:val>
          <c:smooth val="0"/>
        </c:ser>
        <c:dLbls>
          <c:numFmt formatCode="#,##0" sourceLinked="0"/>
          <c:txPr>
            <a:bodyPr/>
            <a:lstStyle/>
            <a:p>
              <a:pPr>
                <a:defRPr b="0" i="0" strike="noStrike" sz="900" u="none">
                  <a:solidFill>
                    <a:srgbClr val="F5F7F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C7D2E0"/>
                </a:solidFill>
                <a:latin typeface="Calibri"/>
              </a:defRPr>
            </a:pPr>
            <a:endParaRPr lang="en-US"/>
          </a:p>
        </c:txPr>
        <c:crossAx val="2094734552"/>
        <c:crosses val="autoZero"/>
        <c:auto val="1"/>
        <c:lblAlgn val="ctr"/>
        <c:noMultiLvlLbl val="1"/>
      </c:catAx>
      <c:valAx>
        <c:axId val="2094734552"/>
        <c:scaling>
          <c:orientation val="minMax"/>
          <c:max val="9500"/>
          <c:min val="5000"/>
        </c:scaling>
        <c:delete val="0"/>
        <c:axPos val="l"/>
        <c:majorGridlines>
          <c:spPr>
            <a:ln w="6350" cap="flat">
              <a:solidFill>
                <a:srgbClr val="1E3A5F"/>
              </a:solidFill>
              <a:prstDash val="dot"/>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9FB3C8"/>
                </a:solidFill>
                <a:latin typeface="Calibri"/>
              </a:defRPr>
            </a:pPr>
            <a:endParaRPr lang="en-US"/>
          </a:p>
        </c:txPr>
        <c:crossAx val="2094734554"/>
        <c:crosses val="autoZero"/>
        <c:crossBetween val="between"/>
      </c:valAx>
      <c:spPr>
        <a:solidFill>
          <a:srgbClr val="12294A"/>
        </a:solidFill>
        <a:ln>
          <a:noFill/>
        </a:ln>
        <a:effectLst/>
      </c:spPr>
    </c:plotArea>
    <c:plotVisOnly val="1"/>
    <c:dispBlanksAs val="span"/>
  </c:chart>
  <c:spPr>
    <a:solidFill>
      <a:srgbClr val="12294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Avg daily steps</c:v>
                </c:pt>
              </c:strCache>
            </c:strRef>
          </c:tx>
          <c:spPr>
            <a:solidFill>
              <a:srgbClr val="0D9488"/>
            </a:solidFill>
            <a:effectLst/>
          </c:spPr>
          <c:invertIfNegative val="0"/>
          <c:dLbls>
            <c:numFmt formatCode="#,##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3B82F6"/>
              </a:solidFill>
              <a:effectLst/>
            </c:spPr>
          </c:dPt>
          <c:dPt>
            <c:idx val="2"/>
            <c:invertIfNegative val="0"/>
            <c:bubble3D val="0"/>
            <c:spPr>
              <a:solidFill>
                <a:srgbClr val="D97706"/>
              </a:solidFill>
              <a:effectLst/>
            </c:spPr>
          </c:dPt>
          <c:dPt>
            <c:idx val="3"/>
            <c:invertIfNegative val="0"/>
            <c:bubble3D val="0"/>
            <c:spPr>
              <a:solidFill>
                <a:srgbClr val="EF4444"/>
              </a:solidFill>
              <a:effectLst/>
            </c:spPr>
          </c:dPt>
          <c:cat>
            <c:multiLvlStrRef>
              <c:f>Sheet1!$A$2:$A$5</c:f>
              <c:multiLvlStrCache>
                <c:ptCount val="4"/>
                <c:lvl>
                  <c:pt idx="0">
                    <c:v>Low</c:v>
                  </c:pt>
                  <c:pt idx="1">
                    <c:v>Moderate</c:v>
                  </c:pt>
                  <c:pt idx="2">
                    <c:v>High</c:v>
                  </c:pt>
                  <c:pt idx="3">
                    <c:v>Very High</c:v>
                  </c:pt>
                </c:lvl>
              </c:multiLvlStrCache>
            </c:multiLvlStrRef>
          </c:cat>
          <c:val>
            <c:numRef>
              <c:f>Sheet1!$B$2:$B$5</c:f>
              <c:numCache>
                <c:formatCode>General</c:formatCode>
                <c:ptCount val="4"/>
                <c:pt idx="0">
                  <c:v>8493</c:v>
                </c:pt>
                <c:pt idx="1">
                  <c:v>7703</c:v>
                </c:pt>
                <c:pt idx="2">
                  <c:v>6720</c:v>
                </c:pt>
                <c:pt idx="3">
                  <c:v>5372</c:v>
                </c:pt>
              </c:numCache>
            </c:numRef>
          </c:val>
        </c:ser>
        <c:dLbls>
          <c:numFmt formatCode="#,##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C7D2E0"/>
                </a:solidFill>
                <a:latin typeface="Calibri"/>
              </a:defRPr>
            </a:pPr>
            <a:endParaRPr lang="en-US"/>
          </a:p>
        </c:txPr>
        <c:crossAx val="2094734552"/>
        <c:crosses val="autoZero"/>
        <c:auto val="1"/>
        <c:lblAlgn val="ctr"/>
        <c:noMultiLvlLbl val="1"/>
      </c:catAx>
      <c:valAx>
        <c:axId val="2094734552"/>
        <c:scaling>
          <c:orientation val="minMax"/>
          <c:max val="10000"/>
          <c:min val="0"/>
        </c:scaling>
        <c:delete val="0"/>
        <c:axPos val="l"/>
        <c:majorGridlines>
          <c:spPr>
            <a:ln w="6350" cap="flat">
              <a:solidFill>
                <a:srgbClr val="1E3A5F"/>
              </a:solidFill>
              <a:prstDash val="dot"/>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9FB3C8"/>
                </a:solidFill>
                <a:latin typeface="Calibri"/>
              </a:defRPr>
            </a:pPr>
            <a:endParaRPr lang="en-US"/>
          </a:p>
        </c:txPr>
        <c:crossAx val="2094734554"/>
        <c:crosses val="autoZero"/>
        <c:crossBetween val="between"/>
      </c:valAx>
      <c:spPr>
        <a:solidFill>
          <a:srgbClr val="12294A"/>
        </a:solidFill>
        <a:ln>
          <a:noFill/>
        </a:ln>
        <a:effectLst/>
      </c:spPr>
    </c:plotArea>
    <c:plotVisOnly val="1"/>
    <c:dispBlanksAs val="span"/>
  </c:chart>
  <c:spPr>
    <a:solidFill>
      <a:srgbClr val="12294A"/>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Share of patients</c:v>
                </c:pt>
              </c:strCache>
            </c:strRef>
          </c:tx>
          <c:spPr>
            <a:solidFill>
              <a:srgbClr val="0D9488"/>
            </a:solidFill>
            <a:effectLst/>
          </c:spPr>
          <c:invertIfNegative val="0"/>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3B82F6"/>
              </a:solidFill>
              <a:effectLst/>
            </c:spPr>
          </c:dPt>
          <c:dPt>
            <c:idx val="2"/>
            <c:invertIfNegative val="0"/>
            <c:bubble3D val="0"/>
            <c:spPr>
              <a:solidFill>
                <a:srgbClr val="D97706"/>
              </a:solidFill>
              <a:effectLst/>
            </c:spPr>
          </c:dPt>
          <c:dPt>
            <c:idx val="3"/>
            <c:invertIfNegative val="0"/>
            <c:bubble3D val="0"/>
            <c:spPr>
              <a:solidFill>
                <a:srgbClr val="EF4444"/>
              </a:solidFill>
              <a:effectLst/>
            </c:spPr>
          </c:dPt>
          <c:cat>
            <c:multiLvlStrRef>
              <c:f>Sheet1!$A$2:$A$5</c:f>
              <c:multiLvlStrCache>
                <c:ptCount val="4"/>
                <c:lvl>
                  <c:pt idx="0">
                    <c:v>Low</c:v>
                  </c:pt>
                  <c:pt idx="1">
                    <c:v>Moderate</c:v>
                  </c:pt>
                  <c:pt idx="2">
                    <c:v>High</c:v>
                  </c:pt>
                  <c:pt idx="3">
                    <c:v>Very High</c:v>
                  </c:pt>
                </c:lvl>
              </c:multiLvlStrCache>
            </c:multiLvlStrRef>
          </c:cat>
          <c:val>
            <c:numRef>
              <c:f>Sheet1!$B$2:$B$5</c:f>
              <c:numCache>
                <c:formatCode>General</c:formatCode>
                <c:ptCount val="4"/>
                <c:pt idx="0">
                  <c:v>32.6</c:v>
                </c:pt>
                <c:pt idx="1">
                  <c:v>37.2</c:v>
                </c:pt>
                <c:pt idx="2">
                  <c:v>18.4</c:v>
                </c:pt>
                <c:pt idx="3">
                  <c:v>11.7</c:v>
                </c:pt>
              </c:numCache>
            </c:numRef>
          </c:val>
        </c:ser>
        <c:dLbls>
          <c:numFmt formatCode="0.0" sourceLinked="0"/>
          <c:txPr>
            <a:bodyPr/>
            <a:lstStyle/>
            <a:p>
              <a:pPr>
                <a:defRPr b="0" i="0" strike="noStrike" sz="900" u="none">
                  <a:solidFill>
                    <a:srgbClr val="F5F7FA"/>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C7D2E0"/>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1E3A5F"/>
              </a:solidFill>
              <a:prstDash val="dot"/>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9FB3C8"/>
                </a:solidFill>
                <a:latin typeface="Calibri"/>
              </a:defRPr>
            </a:pPr>
            <a:endParaRPr lang="en-US"/>
          </a:p>
        </c:txPr>
        <c:crossAx val="2094734554"/>
        <c:crosses val="autoZero"/>
        <c:crossBetween val="between"/>
      </c:valAx>
      <c:spPr>
        <a:solidFill>
          <a:srgbClr val="12294A"/>
        </a:solidFill>
        <a:ln>
          <a:noFill/>
        </a:ln>
        <a:effectLst/>
      </c:spPr>
    </c:plotArea>
    <c:plotVisOnly val="1"/>
    <c:dispBlanksAs val="span"/>
  </c:chart>
  <c:spPr>
    <a:solidFill>
      <a:srgbClr val="12294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Project 3 in the health-analytics portfolio: a full population-health analytics workflow built on a 50,000-patient synthetic dataset and designed for Power BI. All numbers are from the executed notebook (docs/summary_stats.json).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project from a population-health perspective: accountability for the whole attributed population, not only the patients who present. The four questions map to dashboard pages 2, 3, 4 and 6 respectively.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injects realistic defects on purpose so the cleaning notebook demonstrates real work: duplicates, inconsistent casing, states as full names, implausible vitals, future dates, orphan events. The scorecard (docs/data_quality_scorecard.csv) shows every class at zero after cleaning.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dim_patient is the hub. dim_geography is snowflaked off it to keep the patient table narrow; because all relationships are single-direction dimension→fact, one region filter secures all five facts (also used for row-level security). Full relationship table in powerbi/dashboard_spec.md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page 2. Prevalence uses distinct patients with at least one condition record over the attributed population. Control uses guideline thresholds implemented identically in the notebook and the DAX. The South's excess burden is consistent across all three conditions, which points to regional programme design rather than a single-disease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page 3. A screening counts only when documented with a valid date inside the guideline interval (HEDIS-style numerator). 87% of patients have at least one open gap. The enrolled vs not-enrolled comparison is descriptive: enrolled patients are younger, more urban and more often have a PCP, so the dashboard shows the lift within age band and region to check it survives adjustment.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page 4. MAU grew from 7,083 to 16,452 as enrolment accumulated. Engagement rate is defined as Active (3+ active months) ÷ enrolled. Roughly 15.3% of enrolled patients never returned after signup — a re-activation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page 5. Wearable metrics cover device users only (55.6%) — every card on that page carries the denominator. Plausibility ranges (steps 1–50,000, sleep 2–16 h, HR 35–200) are enforced per metric so a bad step value does not discard the month's sleep and HR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page 6. The score is deliberately a transparent heuristic (Charlson/HCC in spirit) so a clinician can read every point. Each component is stored on fact_patient_risk_snapshot for a 'why is this patient high risk' visual. In production it would sit next to a calibrated predictive model and be validated for fairness across region, race/ethnicity and deprivation.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blueprint and the roadmap. The spec is detailed enough for a Power BI developer to build every page; the DAX file provides ~110 measures with format strings; the theme file matches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w="12700">
            <a:solidFill>
              <a:srgbClr val="0B1F3A"/>
            </a:solidFill>
            <a:prstDash val="solid"/>
          </a:ln>
        </p:spPr>
      </p:sp>
      <p:sp>
        <p:nvSpPr>
          <p:cNvPr id="3" name="Shape 1"/>
          <p:cNvSpPr/>
          <p:nvPr/>
        </p:nvSpPr>
        <p:spPr>
          <a:xfrm>
            <a:off x="8412480" y="-1463040"/>
            <a:ext cx="5669280" cy="5669280"/>
          </a:xfrm>
          <a:prstGeom prst="ellipse">
            <a:avLst/>
          </a:prstGeom>
          <a:solidFill>
            <a:srgbClr val="0D9488">
              <a:alpha val="18000"/>
            </a:srgbClr>
          </a:solidFill>
          <a:ln w="12700">
            <a:solidFill>
              <a:srgbClr val="0D9488">
                <a:alpha val="0"/>
              </a:srgbClr>
            </a:solidFill>
            <a:prstDash val="solid"/>
          </a:ln>
        </p:spPr>
      </p:sp>
      <p:sp>
        <p:nvSpPr>
          <p:cNvPr id="4" name="Shape 2"/>
          <p:cNvSpPr/>
          <p:nvPr/>
        </p:nvSpPr>
        <p:spPr>
          <a:xfrm>
            <a:off x="9692640" y="3291840"/>
            <a:ext cx="4023360" cy="4023360"/>
          </a:xfrm>
          <a:prstGeom prst="ellipse">
            <a:avLst/>
          </a:prstGeom>
          <a:solidFill>
            <a:srgbClr val="3B82F6">
              <a:alpha val="12000"/>
            </a:srgbClr>
          </a:solidFill>
          <a:ln w="12700">
            <a:solidFill>
              <a:srgbClr val="3B82F6">
                <a:alpha val="0"/>
              </a:srgbClr>
            </a:solidFill>
            <a:prstDash val="solid"/>
          </a:ln>
        </p:spPr>
      </p:sp>
      <p:sp>
        <p:nvSpPr>
          <p:cNvPr id="5" name="Text 3"/>
          <p:cNvSpPr txBox="1"/>
          <p:nvPr/>
        </p:nvSpPr>
        <p:spPr>
          <a:xfrm>
            <a:off x="548640" y="1234440"/>
            <a:ext cx="7315200" cy="32004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PROJECT 03  ·  POWER BI</a:t>
            </a:r>
            <a:endParaRPr lang="en-US" sz="1200" dirty="0"/>
          </a:p>
        </p:txBody>
      </p:sp>
      <p:sp>
        <p:nvSpPr>
          <p:cNvPr id="6" name="Text 4"/>
          <p:cNvSpPr txBox="1"/>
          <p:nvPr/>
        </p:nvSpPr>
        <p:spPr>
          <a:xfrm>
            <a:off x="548640" y="1600200"/>
            <a:ext cx="9326880" cy="1645920"/>
          </a:xfrm>
          <a:prstGeom prst="rect">
            <a:avLst/>
          </a:prstGeom>
          <a:noFill/>
          <a:ln/>
        </p:spPr>
        <p:txBody>
          <a:bodyPr wrap="square" lIns="0" tIns="0" rIns="0" bIns="0" rtlCol="0" anchor="t"/>
          <a:lstStyle/>
          <a:p>
            <a:pPr indent="0" marL="0">
              <a:buNone/>
            </a:pPr>
            <a:r>
              <a:rPr lang="en-US" sz="4000" b="1" dirty="0">
                <a:solidFill>
                  <a:srgbClr val="F5F7FA"/>
                </a:solidFill>
                <a:latin typeface="Calibri" pitchFamily="34" charset="0"/>
                <a:ea typeface="Calibri" pitchFamily="34" charset="-122"/>
                <a:cs typeface="Calibri" pitchFamily="34" charset="-120"/>
              </a:rPr>
              <a:t>Population Health &amp;</a:t>
            </a:r>
            <a:endParaRPr lang="en-US" sz="4000" dirty="0"/>
          </a:p>
          <a:p>
            <a:pPr indent="0" marL="0">
              <a:buNone/>
            </a:pPr>
            <a:r>
              <a:rPr lang="en-US" sz="4000" b="1" dirty="0">
                <a:solidFill>
                  <a:srgbClr val="F5F7FA"/>
                </a:solidFill>
                <a:latin typeface="Calibri" pitchFamily="34" charset="0"/>
                <a:ea typeface="Calibri" pitchFamily="34" charset="-122"/>
                <a:cs typeface="Calibri" pitchFamily="34" charset="-120"/>
              </a:rPr>
              <a:t>Preventive Care Dashboard</a:t>
            </a:r>
            <a:endParaRPr lang="en-US" sz="4000" dirty="0"/>
          </a:p>
        </p:txBody>
      </p:sp>
      <p:sp>
        <p:nvSpPr>
          <p:cNvPr id="7" name="Text 5"/>
          <p:cNvSpPr txBox="1"/>
          <p:nvPr/>
        </p:nvSpPr>
        <p:spPr>
          <a:xfrm>
            <a:off x="548640" y="3429000"/>
            <a:ext cx="6949440" cy="1005840"/>
          </a:xfrm>
          <a:prstGeom prst="rect">
            <a:avLst/>
          </a:prstGeom>
          <a:noFill/>
          <a:ln/>
        </p:spPr>
        <p:txBody>
          <a:bodyPr wrap="square" lIns="0" tIns="0" rIns="0" bIns="0" rtlCol="0" anchor="t"/>
          <a:lstStyle/>
          <a:p>
            <a:pPr indent="0" marL="0">
              <a:buNone/>
            </a:pPr>
            <a:r>
              <a:rPr lang="en-US" sz="1400" dirty="0">
                <a:solidFill>
                  <a:srgbClr val="C7D2E0"/>
                </a:solidFill>
                <a:latin typeface="Calibri" pitchFamily="34" charset="0"/>
                <a:ea typeface="Calibri" pitchFamily="34" charset="-122"/>
                <a:cs typeface="Calibri" pitchFamily="34" charset="-120"/>
              </a:rPr>
              <a:t>From a 50,000-patient attributed population to a prioritised outreach list — chronic disease prevalence, preventive screening gaps, digital engagement, wearable vitals and risk stratification in one governed data model.</a:t>
            </a:r>
            <a:endParaRPr lang="en-US" sz="1400" dirty="0"/>
          </a:p>
        </p:txBody>
      </p:sp>
      <p:sp>
        <p:nvSpPr>
          <p:cNvPr id="8" name="Shape 6"/>
          <p:cNvSpPr/>
          <p:nvPr/>
        </p:nvSpPr>
        <p:spPr>
          <a:xfrm>
            <a:off x="548640" y="4709160"/>
            <a:ext cx="2514600" cy="1143000"/>
          </a:xfrm>
          <a:prstGeom prst="roundRect">
            <a:avLst>
              <a:gd name="adj" fmla="val 9600"/>
            </a:avLst>
          </a:prstGeom>
          <a:solidFill>
            <a:srgbClr val="12294A"/>
          </a:solidFill>
          <a:ln w="9525">
            <a:solidFill>
              <a:srgbClr val="1E3A5F"/>
            </a:solidFill>
            <a:prstDash val="solid"/>
          </a:ln>
        </p:spPr>
      </p:sp>
      <p:sp>
        <p:nvSpPr>
          <p:cNvPr id="9" name="Text 7"/>
          <p:cNvSpPr txBox="1"/>
          <p:nvPr/>
        </p:nvSpPr>
        <p:spPr>
          <a:xfrm>
            <a:off x="731520" y="4800600"/>
            <a:ext cx="2194560" cy="548640"/>
          </a:xfrm>
          <a:prstGeom prst="rect">
            <a:avLst/>
          </a:prstGeom>
          <a:noFill/>
          <a:ln/>
        </p:spPr>
        <p:txBody>
          <a:bodyPr wrap="square" lIns="0" tIns="0" rIns="0" bIns="0" rtlCol="0" anchor="ctr"/>
          <a:lstStyle/>
          <a:p>
            <a:pPr indent="0" marL="0">
              <a:buNone/>
            </a:pPr>
            <a:r>
              <a:rPr lang="en-US" sz="2600" b="1" dirty="0">
                <a:solidFill>
                  <a:srgbClr val="2DD4BF"/>
                </a:solidFill>
                <a:latin typeface="Calibri" pitchFamily="34" charset="0"/>
                <a:ea typeface="Calibri" pitchFamily="34" charset="-122"/>
                <a:cs typeface="Calibri" pitchFamily="34" charset="-120"/>
              </a:rPr>
              <a:t>50,000</a:t>
            </a:r>
            <a:endParaRPr lang="en-US" sz="2600" dirty="0"/>
          </a:p>
        </p:txBody>
      </p:sp>
      <p:sp>
        <p:nvSpPr>
          <p:cNvPr id="10" name="Text 8"/>
          <p:cNvSpPr txBox="1"/>
          <p:nvPr/>
        </p:nvSpPr>
        <p:spPr>
          <a:xfrm>
            <a:off x="731520" y="5376672"/>
            <a:ext cx="21945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synthetic adult patients</a:t>
            </a:r>
            <a:endParaRPr lang="en-US" sz="1100" dirty="0"/>
          </a:p>
        </p:txBody>
      </p:sp>
      <p:sp>
        <p:nvSpPr>
          <p:cNvPr id="11" name="Shape 9"/>
          <p:cNvSpPr/>
          <p:nvPr/>
        </p:nvSpPr>
        <p:spPr>
          <a:xfrm>
            <a:off x="3246120" y="4709160"/>
            <a:ext cx="2514600" cy="1143000"/>
          </a:xfrm>
          <a:prstGeom prst="roundRect">
            <a:avLst>
              <a:gd name="adj" fmla="val 9600"/>
            </a:avLst>
          </a:prstGeom>
          <a:solidFill>
            <a:srgbClr val="12294A"/>
          </a:solidFill>
          <a:ln w="9525">
            <a:solidFill>
              <a:srgbClr val="1E3A5F"/>
            </a:solidFill>
            <a:prstDash val="solid"/>
          </a:ln>
        </p:spPr>
      </p:sp>
      <p:sp>
        <p:nvSpPr>
          <p:cNvPr id="12" name="Text 10"/>
          <p:cNvSpPr txBox="1"/>
          <p:nvPr/>
        </p:nvSpPr>
        <p:spPr>
          <a:xfrm>
            <a:off x="3429000" y="4800600"/>
            <a:ext cx="2194560" cy="548640"/>
          </a:xfrm>
          <a:prstGeom prst="rect">
            <a:avLst/>
          </a:prstGeom>
          <a:noFill/>
          <a:ln/>
        </p:spPr>
        <p:txBody>
          <a:bodyPr wrap="square" lIns="0" tIns="0" rIns="0" bIns="0" rtlCol="0" anchor="ctr"/>
          <a:lstStyle/>
          <a:p>
            <a:pPr indent="0" marL="0">
              <a:buNone/>
            </a:pPr>
            <a:r>
              <a:rPr lang="en-US" sz="2600" b="1" dirty="0">
                <a:solidFill>
                  <a:srgbClr val="2DD4BF"/>
                </a:solidFill>
                <a:latin typeface="Calibri" pitchFamily="34" charset="0"/>
                <a:ea typeface="Calibri" pitchFamily="34" charset="-122"/>
                <a:cs typeface="Calibri" pitchFamily="34" charset="-120"/>
              </a:rPr>
              <a:t>65.2%</a:t>
            </a:r>
            <a:endParaRPr lang="en-US" sz="2600" dirty="0"/>
          </a:p>
        </p:txBody>
      </p:sp>
      <p:sp>
        <p:nvSpPr>
          <p:cNvPr id="13" name="Text 11"/>
          <p:cNvSpPr txBox="1"/>
          <p:nvPr/>
        </p:nvSpPr>
        <p:spPr>
          <a:xfrm>
            <a:off x="3429000" y="5376672"/>
            <a:ext cx="21945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preventive screening rate</a:t>
            </a:r>
            <a:endParaRPr lang="en-US" sz="1100" dirty="0"/>
          </a:p>
        </p:txBody>
      </p:sp>
      <p:sp>
        <p:nvSpPr>
          <p:cNvPr id="14" name="Shape 12"/>
          <p:cNvSpPr/>
          <p:nvPr/>
        </p:nvSpPr>
        <p:spPr>
          <a:xfrm>
            <a:off x="5943600" y="4709160"/>
            <a:ext cx="2514600" cy="1143000"/>
          </a:xfrm>
          <a:prstGeom prst="roundRect">
            <a:avLst>
              <a:gd name="adj" fmla="val 9600"/>
            </a:avLst>
          </a:prstGeom>
          <a:solidFill>
            <a:srgbClr val="12294A"/>
          </a:solidFill>
          <a:ln w="9525">
            <a:solidFill>
              <a:srgbClr val="1E3A5F"/>
            </a:solidFill>
            <a:prstDash val="solid"/>
          </a:ln>
        </p:spPr>
      </p:sp>
      <p:sp>
        <p:nvSpPr>
          <p:cNvPr id="15" name="Text 13"/>
          <p:cNvSpPr txBox="1"/>
          <p:nvPr/>
        </p:nvSpPr>
        <p:spPr>
          <a:xfrm>
            <a:off x="6126480" y="4800600"/>
            <a:ext cx="2194560" cy="548640"/>
          </a:xfrm>
          <a:prstGeom prst="rect">
            <a:avLst/>
          </a:prstGeom>
          <a:noFill/>
          <a:ln/>
        </p:spPr>
        <p:txBody>
          <a:bodyPr wrap="square" lIns="0" tIns="0" rIns="0" bIns="0" rtlCol="0" anchor="ctr"/>
          <a:lstStyle/>
          <a:p>
            <a:pPr indent="0" marL="0">
              <a:buNone/>
            </a:pPr>
            <a:r>
              <a:rPr lang="en-US" sz="2600" b="1" dirty="0">
                <a:solidFill>
                  <a:srgbClr val="2DD4BF"/>
                </a:solidFill>
                <a:latin typeface="Calibri" pitchFamily="34" charset="0"/>
                <a:ea typeface="Calibri" pitchFamily="34" charset="-122"/>
                <a:cs typeface="Calibri" pitchFamily="34" charset="-120"/>
              </a:rPr>
              <a:t>30.2%</a:t>
            </a:r>
            <a:endParaRPr lang="en-US" sz="2600" dirty="0"/>
          </a:p>
        </p:txBody>
      </p:sp>
      <p:sp>
        <p:nvSpPr>
          <p:cNvPr id="16" name="Text 14"/>
          <p:cNvSpPr txBox="1"/>
          <p:nvPr/>
        </p:nvSpPr>
        <p:spPr>
          <a:xfrm>
            <a:off x="6126480" y="5376672"/>
            <a:ext cx="21945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high or very-high risk</a:t>
            </a:r>
            <a:endParaRPr lang="en-US" sz="1100" dirty="0"/>
          </a:p>
        </p:txBody>
      </p:sp>
      <p:sp>
        <p:nvSpPr>
          <p:cNvPr id="17" name="Shape 15"/>
          <p:cNvSpPr/>
          <p:nvPr/>
        </p:nvSpPr>
        <p:spPr>
          <a:xfrm>
            <a:off x="8641080" y="4709160"/>
            <a:ext cx="2514600" cy="1143000"/>
          </a:xfrm>
          <a:prstGeom prst="roundRect">
            <a:avLst>
              <a:gd name="adj" fmla="val 9600"/>
            </a:avLst>
          </a:prstGeom>
          <a:solidFill>
            <a:srgbClr val="12294A"/>
          </a:solidFill>
          <a:ln w="9525">
            <a:solidFill>
              <a:srgbClr val="1E3A5F"/>
            </a:solidFill>
            <a:prstDash val="solid"/>
          </a:ln>
        </p:spPr>
      </p:sp>
      <p:sp>
        <p:nvSpPr>
          <p:cNvPr id="18" name="Text 16"/>
          <p:cNvSpPr txBox="1"/>
          <p:nvPr/>
        </p:nvSpPr>
        <p:spPr>
          <a:xfrm>
            <a:off x="8823960" y="4800600"/>
            <a:ext cx="2194560" cy="548640"/>
          </a:xfrm>
          <a:prstGeom prst="rect">
            <a:avLst/>
          </a:prstGeom>
          <a:noFill/>
          <a:ln/>
        </p:spPr>
        <p:txBody>
          <a:bodyPr wrap="square" lIns="0" tIns="0" rIns="0" bIns="0" rtlCol="0" anchor="ctr"/>
          <a:lstStyle/>
          <a:p>
            <a:pPr indent="0" marL="0">
              <a:buNone/>
            </a:pPr>
            <a:r>
              <a:rPr lang="en-US" sz="2600" b="1" dirty="0">
                <a:solidFill>
                  <a:srgbClr val="2DD4BF"/>
                </a:solidFill>
                <a:latin typeface="Calibri" pitchFamily="34" charset="0"/>
                <a:ea typeface="Calibri" pitchFamily="34" charset="-122"/>
                <a:cs typeface="Calibri" pitchFamily="34" charset="-120"/>
              </a:rPr>
              <a:t>66.5%</a:t>
            </a:r>
            <a:endParaRPr lang="en-US" sz="2600" dirty="0"/>
          </a:p>
        </p:txBody>
      </p:sp>
      <p:sp>
        <p:nvSpPr>
          <p:cNvPr id="19" name="Text 17"/>
          <p:cNvSpPr txBox="1"/>
          <p:nvPr/>
        </p:nvSpPr>
        <p:spPr>
          <a:xfrm>
            <a:off x="8823960" y="5376672"/>
            <a:ext cx="2194560" cy="36576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enrolled in the patient app</a:t>
            </a:r>
            <a:endParaRPr lang="en-US" sz="1100" dirty="0"/>
          </a:p>
        </p:txBody>
      </p:sp>
      <p:sp>
        <p:nvSpPr>
          <p:cNvPr id="20" name="Text 18"/>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50" dirty="0">
                <a:solidFill>
                  <a:srgbClr val="9FB3C8"/>
                </a:solidFill>
                <a:latin typeface="Calibri" pitchFamily="34" charset="0"/>
                <a:ea typeface="Calibri" pitchFamily="34" charset="-122"/>
                <a:cs typeface="Calibri" pitchFamily="34" charset="-120"/>
              </a:rPr>
              <a:t>Synthetic Synthea-style data  ·  snapshot 31 Dec 2025  ·  health-analytics / 03-population-health-powerbi</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Population health asks four questions</a:t>
            </a:r>
            <a:endParaRPr lang="en-US" sz="2600" dirty="0"/>
          </a:p>
        </p:txBody>
      </p:sp>
      <p:sp>
        <p:nvSpPr>
          <p:cNvPr id="3" name="Text 1"/>
          <p:cNvSpPr txBox="1"/>
          <p:nvPr/>
        </p:nvSpPr>
        <p:spPr>
          <a:xfrm>
            <a:off x="548640" y="77724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The dashboard is organised around them — every page moves from population KPI to cohort comparison to an actionable patient list.</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54480"/>
            <a:ext cx="5362956" cy="2148840"/>
          </a:xfrm>
          <a:prstGeom prst="roundRect">
            <a:avLst>
              <a:gd name="adj" fmla="val 5106"/>
            </a:avLst>
          </a:prstGeom>
          <a:solidFill>
            <a:srgbClr val="12294A"/>
          </a:solidFill>
          <a:ln w="9525">
            <a:solidFill>
              <a:srgbClr val="1E3A5F"/>
            </a:solidFill>
            <a:prstDash val="solid"/>
          </a:ln>
        </p:spPr>
      </p:sp>
      <p:sp>
        <p:nvSpPr>
          <p:cNvPr id="7" name="Shape 5"/>
          <p:cNvSpPr/>
          <p:nvPr/>
        </p:nvSpPr>
        <p:spPr>
          <a:xfrm>
            <a:off x="777240" y="1783080"/>
            <a:ext cx="384048" cy="384048"/>
          </a:xfrm>
          <a:prstGeom prst="ellipse">
            <a:avLst/>
          </a:prstGeom>
          <a:solidFill>
            <a:srgbClr val="2DD4BF"/>
          </a:solidFill>
          <a:ln w="12700">
            <a:solidFill>
              <a:srgbClr val="2DD4BF"/>
            </a:solidFill>
            <a:prstDash val="solid"/>
          </a:ln>
        </p:spPr>
      </p:sp>
      <p:sp>
        <p:nvSpPr>
          <p:cNvPr id="8" name="Text 6"/>
          <p:cNvSpPr txBox="1"/>
          <p:nvPr/>
        </p:nvSpPr>
        <p:spPr>
          <a:xfrm>
            <a:off x="777240" y="178308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25880" y="1737360"/>
            <a:ext cx="4357116" cy="502920"/>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Who is in our population and what is their disease burden?</a:t>
            </a:r>
            <a:endParaRPr lang="en-US" sz="1600" dirty="0"/>
          </a:p>
        </p:txBody>
      </p:sp>
      <p:sp>
        <p:nvSpPr>
          <p:cNvPr id="10" name="Text 8"/>
          <p:cNvSpPr txBox="1"/>
          <p:nvPr/>
        </p:nvSpPr>
        <p:spPr>
          <a:xfrm>
            <a:off x="777240" y="2377440"/>
            <a:ext cx="4905756" cy="1143000"/>
          </a:xfrm>
          <a:prstGeom prst="rect">
            <a:avLst/>
          </a:prstGeom>
          <a:noFill/>
          <a:ln/>
        </p:spPr>
        <p:txBody>
          <a:bodyPr wrap="square" lIns="0" tIns="0" rIns="0" bIns="0" rtlCol="0" anchor="t"/>
          <a:lstStyle/>
          <a:p>
            <a:pPr indent="0" marL="0">
              <a:buNone/>
            </a:pPr>
            <a:r>
              <a:rPr lang="en-US" sz="1250" dirty="0">
                <a:solidFill>
                  <a:srgbClr val="C7D2E0"/>
                </a:solidFill>
                <a:latin typeface="Calibri" pitchFamily="34" charset="0"/>
                <a:ea typeface="Calibri" pitchFamily="34" charset="-122"/>
                <a:cs typeface="Calibri" pitchFamily="34" charset="-120"/>
              </a:rPr>
              <a:t>Prevalence of diabetes, hypertension and obesity, multimorbidity and how well each condition is controlled. Today: 50.1% live with at least one focus condition; 18.3% have two or more chronic conditions.</a:t>
            </a:r>
            <a:endParaRPr lang="en-US" sz="1250" dirty="0"/>
          </a:p>
        </p:txBody>
      </p:sp>
      <p:sp>
        <p:nvSpPr>
          <p:cNvPr id="11" name="Shape 9"/>
          <p:cNvSpPr/>
          <p:nvPr/>
        </p:nvSpPr>
        <p:spPr>
          <a:xfrm>
            <a:off x="6277356" y="1554480"/>
            <a:ext cx="5362956" cy="2148840"/>
          </a:xfrm>
          <a:prstGeom prst="roundRect">
            <a:avLst>
              <a:gd name="adj" fmla="val 5106"/>
            </a:avLst>
          </a:prstGeom>
          <a:solidFill>
            <a:srgbClr val="12294A"/>
          </a:solidFill>
          <a:ln w="9525">
            <a:solidFill>
              <a:srgbClr val="1E3A5F"/>
            </a:solidFill>
            <a:prstDash val="solid"/>
          </a:ln>
        </p:spPr>
      </p:sp>
      <p:sp>
        <p:nvSpPr>
          <p:cNvPr id="12" name="Shape 10"/>
          <p:cNvSpPr/>
          <p:nvPr/>
        </p:nvSpPr>
        <p:spPr>
          <a:xfrm>
            <a:off x="6505956" y="1783080"/>
            <a:ext cx="384048" cy="384048"/>
          </a:xfrm>
          <a:prstGeom prst="ellipse">
            <a:avLst/>
          </a:prstGeom>
          <a:solidFill>
            <a:srgbClr val="3B82F6"/>
          </a:solidFill>
          <a:ln w="12700">
            <a:solidFill>
              <a:srgbClr val="3B82F6"/>
            </a:solidFill>
            <a:prstDash val="solid"/>
          </a:ln>
        </p:spPr>
      </p:sp>
      <p:sp>
        <p:nvSpPr>
          <p:cNvPr id="13" name="Text 11"/>
          <p:cNvSpPr txBox="1"/>
          <p:nvPr/>
        </p:nvSpPr>
        <p:spPr>
          <a:xfrm>
            <a:off x="6505956" y="178308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54596" y="1737360"/>
            <a:ext cx="4357116" cy="502920"/>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Where are the preventive-care gaps?</a:t>
            </a:r>
            <a:endParaRPr lang="en-US" sz="1600" dirty="0"/>
          </a:p>
        </p:txBody>
      </p:sp>
      <p:sp>
        <p:nvSpPr>
          <p:cNvPr id="15" name="Text 13"/>
          <p:cNvSpPr txBox="1"/>
          <p:nvPr/>
        </p:nvSpPr>
        <p:spPr>
          <a:xfrm>
            <a:off x="6505956" y="2377440"/>
            <a:ext cx="4905756" cy="1143000"/>
          </a:xfrm>
          <a:prstGeom prst="rect">
            <a:avLst/>
          </a:prstGeom>
          <a:noFill/>
          <a:ln/>
        </p:spPr>
        <p:txBody>
          <a:bodyPr wrap="square" lIns="0" tIns="0" rIns="0" bIns="0" rtlCol="0" anchor="t"/>
          <a:lstStyle/>
          <a:p>
            <a:pPr indent="0" marL="0">
              <a:buNone/>
            </a:pPr>
            <a:r>
              <a:rPr lang="en-US" sz="1250" dirty="0">
                <a:solidFill>
                  <a:srgbClr val="C7D2E0"/>
                </a:solidFill>
                <a:latin typeface="Calibri" pitchFamily="34" charset="0"/>
                <a:ea typeface="Calibri" pitchFamily="34" charset="-122"/>
                <a:cs typeface="Calibri" pitchFamily="34" charset="-120"/>
              </a:rPr>
              <a:t>Guideline-recommended screenings (USPSTF / HEDIS) that eligible patients have not completed — and the regional, age and deprivation disparities behind them. Today: 102,654 open care gaps across 87.2% of patients.</a:t>
            </a:r>
            <a:endParaRPr lang="en-US" sz="1250" dirty="0"/>
          </a:p>
        </p:txBody>
      </p:sp>
      <p:sp>
        <p:nvSpPr>
          <p:cNvPr id="16" name="Shape 14"/>
          <p:cNvSpPr/>
          <p:nvPr/>
        </p:nvSpPr>
        <p:spPr>
          <a:xfrm>
            <a:off x="548640" y="4023360"/>
            <a:ext cx="5362956" cy="2148840"/>
          </a:xfrm>
          <a:prstGeom prst="roundRect">
            <a:avLst>
              <a:gd name="adj" fmla="val 5106"/>
            </a:avLst>
          </a:prstGeom>
          <a:solidFill>
            <a:srgbClr val="12294A"/>
          </a:solidFill>
          <a:ln w="9525">
            <a:solidFill>
              <a:srgbClr val="1E3A5F"/>
            </a:solidFill>
            <a:prstDash val="solid"/>
          </a:ln>
        </p:spPr>
      </p:sp>
      <p:sp>
        <p:nvSpPr>
          <p:cNvPr id="17" name="Shape 15"/>
          <p:cNvSpPr/>
          <p:nvPr/>
        </p:nvSpPr>
        <p:spPr>
          <a:xfrm>
            <a:off x="777240" y="4251960"/>
            <a:ext cx="384048" cy="384048"/>
          </a:xfrm>
          <a:prstGeom prst="ellipse">
            <a:avLst/>
          </a:prstGeom>
          <a:solidFill>
            <a:srgbClr val="D97706"/>
          </a:solidFill>
          <a:ln w="12700">
            <a:solidFill>
              <a:srgbClr val="D97706"/>
            </a:solidFill>
            <a:prstDash val="solid"/>
          </a:ln>
        </p:spPr>
      </p:sp>
      <p:sp>
        <p:nvSpPr>
          <p:cNvPr id="18" name="Text 16"/>
          <p:cNvSpPr txBox="1"/>
          <p:nvPr/>
        </p:nvSpPr>
        <p:spPr>
          <a:xfrm>
            <a:off x="777240" y="42519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25880" y="4206240"/>
            <a:ext cx="4357116" cy="502920"/>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Which levers are working?</a:t>
            </a:r>
            <a:endParaRPr lang="en-US" sz="1600" dirty="0"/>
          </a:p>
        </p:txBody>
      </p:sp>
      <p:sp>
        <p:nvSpPr>
          <p:cNvPr id="20" name="Text 18"/>
          <p:cNvSpPr txBox="1"/>
          <p:nvPr/>
        </p:nvSpPr>
        <p:spPr>
          <a:xfrm>
            <a:off x="777240" y="4846320"/>
            <a:ext cx="4905756" cy="1143000"/>
          </a:xfrm>
          <a:prstGeom prst="rect">
            <a:avLst/>
          </a:prstGeom>
          <a:noFill/>
          <a:ln/>
        </p:spPr>
        <p:txBody>
          <a:bodyPr wrap="square" lIns="0" tIns="0" rIns="0" bIns="0" rtlCol="0" anchor="t"/>
          <a:lstStyle/>
          <a:p>
            <a:pPr indent="0" marL="0">
              <a:buNone/>
            </a:pPr>
            <a:r>
              <a:rPr lang="en-US" sz="1250" dirty="0">
                <a:solidFill>
                  <a:srgbClr val="C7D2E0"/>
                </a:solidFill>
                <a:latin typeface="Calibri" pitchFamily="34" charset="0"/>
                <a:ea typeface="Calibri" pitchFamily="34" charset="-122"/>
                <a:cs typeface="Calibri" pitchFamily="34" charset="-120"/>
              </a:rPr>
              <a:t>Patient app, reminders and wearables only earn investment if they change screening and self-management behaviour. Today: enrolled patients screen at 69.6% vs 56.9% — a 12.7-point lift.</a:t>
            </a:r>
            <a:endParaRPr lang="en-US" sz="1250" dirty="0"/>
          </a:p>
        </p:txBody>
      </p:sp>
      <p:sp>
        <p:nvSpPr>
          <p:cNvPr id="21" name="Shape 19"/>
          <p:cNvSpPr/>
          <p:nvPr/>
        </p:nvSpPr>
        <p:spPr>
          <a:xfrm>
            <a:off x="6277356" y="4023360"/>
            <a:ext cx="5362956" cy="2148840"/>
          </a:xfrm>
          <a:prstGeom prst="roundRect">
            <a:avLst>
              <a:gd name="adj" fmla="val 5106"/>
            </a:avLst>
          </a:prstGeom>
          <a:solidFill>
            <a:srgbClr val="12294A"/>
          </a:solidFill>
          <a:ln w="9525">
            <a:solidFill>
              <a:srgbClr val="1E3A5F"/>
            </a:solidFill>
            <a:prstDash val="solid"/>
          </a:ln>
        </p:spPr>
      </p:sp>
      <p:sp>
        <p:nvSpPr>
          <p:cNvPr id="22" name="Shape 20"/>
          <p:cNvSpPr/>
          <p:nvPr/>
        </p:nvSpPr>
        <p:spPr>
          <a:xfrm>
            <a:off x="6505956" y="4251960"/>
            <a:ext cx="384048" cy="384048"/>
          </a:xfrm>
          <a:prstGeom prst="ellipse">
            <a:avLst/>
          </a:prstGeom>
          <a:solidFill>
            <a:srgbClr val="EF4444"/>
          </a:solidFill>
          <a:ln w="12700">
            <a:solidFill>
              <a:srgbClr val="EF4444"/>
            </a:solidFill>
            <a:prstDash val="solid"/>
          </a:ln>
        </p:spPr>
      </p:sp>
      <p:sp>
        <p:nvSpPr>
          <p:cNvPr id="23" name="Text 21"/>
          <p:cNvSpPr txBox="1"/>
          <p:nvPr/>
        </p:nvSpPr>
        <p:spPr>
          <a:xfrm>
            <a:off x="6505956" y="42519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54596" y="4206240"/>
            <a:ext cx="4357116" cy="502920"/>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Who do we call first?</a:t>
            </a:r>
            <a:endParaRPr lang="en-US" sz="1600" dirty="0"/>
          </a:p>
        </p:txBody>
      </p:sp>
      <p:sp>
        <p:nvSpPr>
          <p:cNvPr id="25" name="Text 23"/>
          <p:cNvSpPr txBox="1"/>
          <p:nvPr/>
        </p:nvSpPr>
        <p:spPr>
          <a:xfrm>
            <a:off x="6505956" y="4846320"/>
            <a:ext cx="4905756" cy="1143000"/>
          </a:xfrm>
          <a:prstGeom prst="rect">
            <a:avLst/>
          </a:prstGeom>
          <a:noFill/>
          <a:ln/>
        </p:spPr>
        <p:txBody>
          <a:bodyPr wrap="square" lIns="0" tIns="0" rIns="0" bIns="0" rtlCol="0" anchor="t"/>
          <a:lstStyle/>
          <a:p>
            <a:pPr indent="0" marL="0">
              <a:buNone/>
            </a:pPr>
            <a:r>
              <a:rPr lang="en-US" sz="1250" dirty="0">
                <a:solidFill>
                  <a:srgbClr val="C7D2E0"/>
                </a:solidFill>
                <a:latin typeface="Calibri" pitchFamily="34" charset="0"/>
                <a:ea typeface="Calibri" pitchFamily="34" charset="-122"/>
                <a:cs typeface="Calibri" pitchFamily="34" charset="-120"/>
              </a:rPr>
              <a:t>A transparent risk score that ranks outreach by expected benefit, not by who happened to book. Today: 10,280 high-risk patients have an open gap and are not actively engaged.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Data and pipeline: from messy extracts to a governed star schema</a:t>
            </a:r>
            <a:endParaRPr lang="en-US" sz="26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Synthetic Synthea-style generator → data-quality audit → deterministic cleaning → integrity-checked export</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600200"/>
            <a:ext cx="2464308" cy="4160520"/>
          </a:xfrm>
          <a:prstGeom prst="roundRect">
            <a:avLst>
              <a:gd name="adj" fmla="val 4453"/>
            </a:avLst>
          </a:prstGeom>
          <a:solidFill>
            <a:srgbClr val="12294A"/>
          </a:solidFill>
          <a:ln w="9525">
            <a:solidFill>
              <a:srgbClr val="1E3A5F"/>
            </a:solidFill>
            <a:prstDash val="solid"/>
          </a:ln>
        </p:spPr>
      </p:sp>
      <p:sp>
        <p:nvSpPr>
          <p:cNvPr id="7" name="Shape 5"/>
          <p:cNvSpPr/>
          <p:nvPr/>
        </p:nvSpPr>
        <p:spPr>
          <a:xfrm>
            <a:off x="777240" y="1828800"/>
            <a:ext cx="384048" cy="384048"/>
          </a:xfrm>
          <a:prstGeom prst="ellipse">
            <a:avLst/>
          </a:prstGeom>
          <a:solidFill>
            <a:srgbClr val="3B82F6"/>
          </a:solidFill>
          <a:ln w="12700">
            <a:solidFill>
              <a:srgbClr val="3B82F6"/>
            </a:solidFill>
            <a:prstDash val="solid"/>
          </a:ln>
        </p:spPr>
      </p:sp>
      <p:sp>
        <p:nvSpPr>
          <p:cNvPr id="8" name="Text 6"/>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80160" y="1801368"/>
            <a:ext cx="1549908" cy="438912"/>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Raw extracts</a:t>
            </a:r>
            <a:endParaRPr lang="en-US" sz="1600" dirty="0"/>
          </a:p>
        </p:txBody>
      </p:sp>
      <p:sp>
        <p:nvSpPr>
          <p:cNvPr id="10" name="Text 8"/>
          <p:cNvSpPr txBox="1"/>
          <p:nvPr/>
        </p:nvSpPr>
        <p:spPr>
          <a:xfrm>
            <a:off x="777240" y="2377440"/>
            <a:ext cx="2007108" cy="320040"/>
          </a:xfrm>
          <a:prstGeom prst="rect">
            <a:avLst/>
          </a:prstGeom>
          <a:noFill/>
          <a:ln/>
        </p:spPr>
        <p:txBody>
          <a:bodyPr wrap="square" lIns="0" tIns="0" rIns="0" bIns="0" rtlCol="0" anchor="ctr"/>
          <a:lstStyle/>
          <a:p>
            <a:pPr indent="0" marL="0">
              <a:buNone/>
            </a:pPr>
            <a:r>
              <a:rPr lang="en-US" sz="1100" dirty="0">
                <a:solidFill>
                  <a:srgbClr val="2DD4BF"/>
                </a:solidFill>
                <a:latin typeface="Calibri" pitchFamily="34" charset="0"/>
                <a:ea typeface="Calibri" pitchFamily="34" charset="-122"/>
                <a:cs typeface="Calibri" pitchFamily="34" charset="-120"/>
              </a:rPr>
              <a:t>5 tables · 1,004,516 rows</a:t>
            </a:r>
            <a:endParaRPr lang="en-US" sz="1100" dirty="0"/>
          </a:p>
        </p:txBody>
      </p:sp>
      <p:sp>
        <p:nvSpPr>
          <p:cNvPr id="11" name="Text 9"/>
          <p:cNvSpPr txBox="1"/>
          <p:nvPr/>
        </p:nvSpPr>
        <p:spPr>
          <a:xfrm>
            <a:off x="777240" y="2788920"/>
            <a:ext cx="2007108" cy="27889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patients (demographics, region, BMI, insurance)</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conditions (SNOMED-coded, latest clinical measure)</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screenings (10 USPSTF / HEDIS services)</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wearable_monthly (steps, sleep, resting HR)</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engagement_events (logins, bookings, reminders)</a:t>
            </a:r>
            <a:endParaRPr lang="en-US" sz="1150" dirty="0"/>
          </a:p>
        </p:txBody>
      </p:sp>
      <p:sp>
        <p:nvSpPr>
          <p:cNvPr id="12" name="Shape 10"/>
          <p:cNvSpPr/>
          <p:nvPr/>
        </p:nvSpPr>
        <p:spPr>
          <a:xfrm>
            <a:off x="3104388" y="3525012"/>
            <a:ext cx="228600" cy="310896"/>
          </a:xfrm>
          <a:prstGeom prst="chevron">
            <a:avLst/>
          </a:prstGeom>
          <a:solidFill>
            <a:srgbClr val="0D9488"/>
          </a:solidFill>
          <a:ln w="12700">
            <a:solidFill>
              <a:srgbClr val="0D9488"/>
            </a:solidFill>
            <a:prstDash val="solid"/>
          </a:ln>
        </p:spPr>
      </p:sp>
      <p:sp>
        <p:nvSpPr>
          <p:cNvPr id="13" name="Shape 11"/>
          <p:cNvSpPr/>
          <p:nvPr/>
        </p:nvSpPr>
        <p:spPr>
          <a:xfrm>
            <a:off x="3424428" y="1600200"/>
            <a:ext cx="2464308" cy="4160520"/>
          </a:xfrm>
          <a:prstGeom prst="roundRect">
            <a:avLst>
              <a:gd name="adj" fmla="val 4453"/>
            </a:avLst>
          </a:prstGeom>
          <a:solidFill>
            <a:srgbClr val="12294A"/>
          </a:solidFill>
          <a:ln w="9525">
            <a:solidFill>
              <a:srgbClr val="1E3A5F"/>
            </a:solidFill>
            <a:prstDash val="solid"/>
          </a:ln>
        </p:spPr>
      </p:sp>
      <p:sp>
        <p:nvSpPr>
          <p:cNvPr id="14" name="Shape 12"/>
          <p:cNvSpPr/>
          <p:nvPr/>
        </p:nvSpPr>
        <p:spPr>
          <a:xfrm>
            <a:off x="3653028" y="1828800"/>
            <a:ext cx="384048" cy="384048"/>
          </a:xfrm>
          <a:prstGeom prst="ellipse">
            <a:avLst/>
          </a:prstGeom>
          <a:solidFill>
            <a:srgbClr val="3B82F6"/>
          </a:solidFill>
          <a:ln w="12700">
            <a:solidFill>
              <a:srgbClr val="3B82F6"/>
            </a:solidFill>
            <a:prstDash val="solid"/>
          </a:ln>
        </p:spPr>
      </p:sp>
      <p:sp>
        <p:nvSpPr>
          <p:cNvPr id="15" name="Text 13"/>
          <p:cNvSpPr txBox="1"/>
          <p:nvPr/>
        </p:nvSpPr>
        <p:spPr>
          <a:xfrm>
            <a:off x="3653028" y="182880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155948" y="1801368"/>
            <a:ext cx="1549908" cy="438912"/>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Audit &amp; clean</a:t>
            </a:r>
            <a:endParaRPr lang="en-US" sz="1600" dirty="0"/>
          </a:p>
        </p:txBody>
      </p:sp>
      <p:sp>
        <p:nvSpPr>
          <p:cNvPr id="17" name="Text 15"/>
          <p:cNvSpPr txBox="1"/>
          <p:nvPr/>
        </p:nvSpPr>
        <p:spPr>
          <a:xfrm>
            <a:off x="3653028" y="2377440"/>
            <a:ext cx="2007108" cy="320040"/>
          </a:xfrm>
          <a:prstGeom prst="rect">
            <a:avLst/>
          </a:prstGeom>
          <a:noFill/>
          <a:ln/>
        </p:spPr>
        <p:txBody>
          <a:bodyPr wrap="square" lIns="0" tIns="0" rIns="0" bIns="0" rtlCol="0" anchor="ctr"/>
          <a:lstStyle/>
          <a:p>
            <a:pPr indent="0" marL="0">
              <a:buNone/>
            </a:pPr>
            <a:r>
              <a:rPr lang="en-US" sz="1100" dirty="0">
                <a:solidFill>
                  <a:srgbClr val="2DD4BF"/>
                </a:solidFill>
                <a:latin typeface="Calibri" pitchFamily="34" charset="0"/>
                <a:ea typeface="Calibri" pitchFamily="34" charset="-122"/>
                <a:cs typeface="Calibri" pitchFamily="34" charset="-120"/>
              </a:rPr>
              <a:t>18 defect classes · all resolved</a:t>
            </a:r>
            <a:endParaRPr lang="en-US" sz="1100" dirty="0"/>
          </a:p>
        </p:txBody>
      </p:sp>
      <p:sp>
        <p:nvSpPr>
          <p:cNvPr id="18" name="Text 16"/>
          <p:cNvSpPr txBox="1"/>
          <p:nvPr/>
        </p:nvSpPr>
        <p:spPr>
          <a:xfrm>
            <a:off x="3653028" y="2788920"/>
            <a:ext cx="2007108" cy="27889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320 duplicate patients removed</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1395 missing / 90 implausible BMI handled</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3186 out-of-window events dropped</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650 impossible step values nulled</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labels, states, dates standardised</a:t>
            </a:r>
            <a:endParaRPr lang="en-US" sz="1150" dirty="0"/>
          </a:p>
        </p:txBody>
      </p:sp>
      <p:sp>
        <p:nvSpPr>
          <p:cNvPr id="19" name="Shape 17"/>
          <p:cNvSpPr/>
          <p:nvPr/>
        </p:nvSpPr>
        <p:spPr>
          <a:xfrm>
            <a:off x="5980176" y="3525012"/>
            <a:ext cx="228600" cy="310896"/>
          </a:xfrm>
          <a:prstGeom prst="chevron">
            <a:avLst/>
          </a:prstGeom>
          <a:solidFill>
            <a:srgbClr val="0D9488"/>
          </a:solidFill>
          <a:ln w="12700">
            <a:solidFill>
              <a:srgbClr val="0D9488"/>
            </a:solidFill>
            <a:prstDash val="solid"/>
          </a:ln>
        </p:spPr>
      </p:sp>
      <p:sp>
        <p:nvSpPr>
          <p:cNvPr id="20" name="Shape 18"/>
          <p:cNvSpPr/>
          <p:nvPr/>
        </p:nvSpPr>
        <p:spPr>
          <a:xfrm>
            <a:off x="6300216" y="1600200"/>
            <a:ext cx="2464308" cy="4160520"/>
          </a:xfrm>
          <a:prstGeom prst="roundRect">
            <a:avLst>
              <a:gd name="adj" fmla="val 4453"/>
            </a:avLst>
          </a:prstGeom>
          <a:solidFill>
            <a:srgbClr val="12294A"/>
          </a:solidFill>
          <a:ln w="9525">
            <a:solidFill>
              <a:srgbClr val="1E3A5F"/>
            </a:solidFill>
            <a:prstDash val="solid"/>
          </a:ln>
        </p:spPr>
      </p:sp>
      <p:sp>
        <p:nvSpPr>
          <p:cNvPr id="21" name="Shape 19"/>
          <p:cNvSpPr/>
          <p:nvPr/>
        </p:nvSpPr>
        <p:spPr>
          <a:xfrm>
            <a:off x="6528816" y="1828800"/>
            <a:ext cx="384048" cy="384048"/>
          </a:xfrm>
          <a:prstGeom prst="ellipse">
            <a:avLst/>
          </a:prstGeom>
          <a:solidFill>
            <a:srgbClr val="3B82F6"/>
          </a:solidFill>
          <a:ln w="12700">
            <a:solidFill>
              <a:srgbClr val="3B82F6"/>
            </a:solidFill>
            <a:prstDash val="solid"/>
          </a:ln>
        </p:spPr>
      </p:sp>
      <p:sp>
        <p:nvSpPr>
          <p:cNvPr id="22" name="Text 20"/>
          <p:cNvSpPr txBox="1"/>
          <p:nvPr/>
        </p:nvSpPr>
        <p:spPr>
          <a:xfrm>
            <a:off x="6528816" y="182880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7031736" y="1801368"/>
            <a:ext cx="1549908" cy="438912"/>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Enrich</a:t>
            </a:r>
            <a:endParaRPr lang="en-US" sz="1600" dirty="0"/>
          </a:p>
        </p:txBody>
      </p:sp>
      <p:sp>
        <p:nvSpPr>
          <p:cNvPr id="24" name="Text 22"/>
          <p:cNvSpPr txBox="1"/>
          <p:nvPr/>
        </p:nvSpPr>
        <p:spPr>
          <a:xfrm>
            <a:off x="6528816" y="2377440"/>
            <a:ext cx="2007108" cy="320040"/>
          </a:xfrm>
          <a:prstGeom prst="rect">
            <a:avLst/>
          </a:prstGeom>
          <a:noFill/>
          <a:ln/>
        </p:spPr>
        <p:txBody>
          <a:bodyPr wrap="square" lIns="0" tIns="0" rIns="0" bIns="0" rtlCol="0" anchor="ctr"/>
          <a:lstStyle/>
          <a:p>
            <a:pPr indent="0" marL="0">
              <a:buNone/>
            </a:pPr>
            <a:r>
              <a:rPr lang="en-US" sz="1100" dirty="0">
                <a:solidFill>
                  <a:srgbClr val="2DD4BF"/>
                </a:solidFill>
                <a:latin typeface="Calibri" pitchFamily="34" charset="0"/>
                <a:ea typeface="Calibri" pitchFamily="34" charset="-122"/>
                <a:cs typeface="Calibri" pitchFamily="34" charset="-120"/>
              </a:rPr>
              <a:t>guideline logic</a:t>
            </a:r>
            <a:endParaRPr lang="en-US" sz="1100" dirty="0"/>
          </a:p>
        </p:txBody>
      </p:sp>
      <p:sp>
        <p:nvSpPr>
          <p:cNvPr id="25" name="Text 23"/>
          <p:cNvSpPr txBox="1"/>
          <p:nvPr/>
        </p:nvSpPr>
        <p:spPr>
          <a:xfrm>
            <a:off x="6528816" y="2788920"/>
            <a:ext cx="2007108" cy="27889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age &amp; BMI bands, ADI bands</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control status (BP &lt;140/90, A1c &lt;8, LDL &lt;130)</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screening status: completed / overdue / never</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activity &amp; sleep bands</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additive risk score → 4 tiers</a:t>
            </a:r>
            <a:endParaRPr lang="en-US" sz="1150" dirty="0"/>
          </a:p>
        </p:txBody>
      </p:sp>
      <p:sp>
        <p:nvSpPr>
          <p:cNvPr id="26" name="Shape 24"/>
          <p:cNvSpPr/>
          <p:nvPr/>
        </p:nvSpPr>
        <p:spPr>
          <a:xfrm>
            <a:off x="8855964" y="3525012"/>
            <a:ext cx="228600" cy="310896"/>
          </a:xfrm>
          <a:prstGeom prst="chevron">
            <a:avLst/>
          </a:prstGeom>
          <a:solidFill>
            <a:srgbClr val="0D9488"/>
          </a:solidFill>
          <a:ln w="12700">
            <a:solidFill>
              <a:srgbClr val="0D9488"/>
            </a:solidFill>
            <a:prstDash val="solid"/>
          </a:ln>
        </p:spPr>
      </p:sp>
      <p:sp>
        <p:nvSpPr>
          <p:cNvPr id="27" name="Shape 25"/>
          <p:cNvSpPr/>
          <p:nvPr/>
        </p:nvSpPr>
        <p:spPr>
          <a:xfrm>
            <a:off x="9176004" y="1600200"/>
            <a:ext cx="2464308" cy="4160520"/>
          </a:xfrm>
          <a:prstGeom prst="roundRect">
            <a:avLst>
              <a:gd name="adj" fmla="val 4453"/>
            </a:avLst>
          </a:prstGeom>
          <a:solidFill>
            <a:srgbClr val="12294A"/>
          </a:solidFill>
          <a:ln w="9525">
            <a:solidFill>
              <a:srgbClr val="1E3A5F"/>
            </a:solidFill>
            <a:prstDash val="solid"/>
          </a:ln>
        </p:spPr>
      </p:sp>
      <p:sp>
        <p:nvSpPr>
          <p:cNvPr id="28" name="Shape 26"/>
          <p:cNvSpPr/>
          <p:nvPr/>
        </p:nvSpPr>
        <p:spPr>
          <a:xfrm>
            <a:off x="9404604" y="1828800"/>
            <a:ext cx="384048" cy="384048"/>
          </a:xfrm>
          <a:prstGeom prst="ellipse">
            <a:avLst/>
          </a:prstGeom>
          <a:solidFill>
            <a:srgbClr val="2DD4BF"/>
          </a:solidFill>
          <a:ln w="12700">
            <a:solidFill>
              <a:srgbClr val="2DD4BF"/>
            </a:solidFill>
            <a:prstDash val="solid"/>
          </a:ln>
        </p:spPr>
      </p:sp>
      <p:sp>
        <p:nvSpPr>
          <p:cNvPr id="29" name="Text 27"/>
          <p:cNvSpPr txBox="1"/>
          <p:nvPr/>
        </p:nvSpPr>
        <p:spPr>
          <a:xfrm>
            <a:off x="9404604" y="182880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4</a:t>
            </a:r>
            <a:endParaRPr lang="en-US" sz="1300" dirty="0"/>
          </a:p>
        </p:txBody>
      </p:sp>
      <p:sp>
        <p:nvSpPr>
          <p:cNvPr id="30" name="Text 28"/>
          <p:cNvSpPr txBox="1"/>
          <p:nvPr/>
        </p:nvSpPr>
        <p:spPr>
          <a:xfrm>
            <a:off x="9907524" y="1801368"/>
            <a:ext cx="1549908" cy="438912"/>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Star schema</a:t>
            </a:r>
            <a:endParaRPr lang="en-US" sz="1600" dirty="0"/>
          </a:p>
        </p:txBody>
      </p:sp>
      <p:sp>
        <p:nvSpPr>
          <p:cNvPr id="31" name="Text 29"/>
          <p:cNvSpPr txBox="1"/>
          <p:nvPr/>
        </p:nvSpPr>
        <p:spPr>
          <a:xfrm>
            <a:off x="9404604" y="2377440"/>
            <a:ext cx="2007108" cy="320040"/>
          </a:xfrm>
          <a:prstGeom prst="rect">
            <a:avLst/>
          </a:prstGeom>
          <a:noFill/>
          <a:ln/>
        </p:spPr>
        <p:txBody>
          <a:bodyPr wrap="square" lIns="0" tIns="0" rIns="0" bIns="0" rtlCol="0" anchor="ctr"/>
          <a:lstStyle/>
          <a:p>
            <a:pPr indent="0" marL="0">
              <a:buNone/>
            </a:pPr>
            <a:r>
              <a:rPr lang="en-US" sz="1100" dirty="0">
                <a:solidFill>
                  <a:srgbClr val="2DD4BF"/>
                </a:solidFill>
                <a:latin typeface="Calibri" pitchFamily="34" charset="0"/>
                <a:ea typeface="Calibri" pitchFamily="34" charset="-122"/>
                <a:cs typeface="Calibri" pitchFamily="34" charset="-120"/>
              </a:rPr>
              <a:t>6 dims · 5 facts · 1,071,331 rows</a:t>
            </a:r>
            <a:endParaRPr lang="en-US" sz="1100" dirty="0"/>
          </a:p>
        </p:txBody>
      </p:sp>
      <p:sp>
        <p:nvSpPr>
          <p:cNvPr id="32" name="Text 30"/>
          <p:cNvSpPr txBox="1"/>
          <p:nvPr/>
        </p:nvSpPr>
        <p:spPr>
          <a:xfrm>
            <a:off x="9404604" y="2788920"/>
            <a:ext cx="2007108" cy="27889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integer surrogate keys</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1980–2036 calendar</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one row per patient in dim_patient</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risk components on their own fact</a:t>
            </a:r>
            <a:endParaRPr lang="en-US" sz="1150" dirty="0"/>
          </a:p>
          <a:p>
            <a:pPr marL="177800" indent="-177800">
              <a:spcAft>
                <a:spcPts val="600"/>
              </a:spcAft>
              <a:buSzPct val="100000"/>
              <a:buChar char="•"/>
            </a:pPr>
            <a:r>
              <a:rPr lang="en-US" sz="1150" dirty="0">
                <a:solidFill>
                  <a:srgbClr val="C7D2E0"/>
                </a:solidFill>
                <a:latin typeface="Calibri" pitchFamily="34" charset="0"/>
                <a:ea typeface="Calibri" pitchFamily="34" charset="-122"/>
                <a:cs typeface="Calibri" pitchFamily="34" charset="-120"/>
              </a:rPr>
              <a:t>referential-integrity assertions pass</a:t>
            </a:r>
            <a:endParaRPr lang="en-US" sz="1150" dirty="0"/>
          </a:p>
        </p:txBody>
      </p:sp>
      <p:sp>
        <p:nvSpPr>
          <p:cNvPr id="33" name="Text 31"/>
          <p:cNvSpPr txBox="1"/>
          <p:nvPr/>
        </p:nvSpPr>
        <p:spPr>
          <a:xfrm>
            <a:off x="548640" y="5897880"/>
            <a:ext cx="11091672" cy="274320"/>
          </a:xfrm>
          <a:prstGeom prst="rect">
            <a:avLst/>
          </a:prstGeom>
          <a:noFill/>
          <a:ln/>
        </p:spPr>
        <p:txBody>
          <a:bodyPr wrap="square" lIns="0" tIns="0" rIns="0" bIns="0" rtlCol="0" anchor="ctr"/>
          <a:lstStyle/>
          <a:p>
            <a:pPr indent="0" marL="0">
              <a:buNone/>
            </a:pPr>
            <a:r>
              <a:rPr lang="en-US" sz="1000" dirty="0">
                <a:solidFill>
                  <a:srgbClr val="9FB3C8"/>
                </a:solidFill>
                <a:latin typeface="Calibri" pitchFamily="34" charset="0"/>
                <a:ea typeface="Calibri" pitchFamily="34" charset="-122"/>
                <a:cs typeface="Calibri" pitchFamily="34" charset="-120"/>
              </a:rPr>
              <a:t>Notebook: notebooks/01_clean_and_build_star_schema.ipynb  ·  Generator: src/generate_synthetic_data.py  ·  Output: data/star_schema/*.csv</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Data model: a star schema built for honest denominators</a:t>
            </a:r>
            <a:endParaRPr lang="en-US" sz="2600" dirty="0"/>
          </a:p>
        </p:txBody>
      </p:sp>
      <p:sp>
        <p:nvSpPr>
          <p:cNvPr id="3" name="Text 1"/>
          <p:cNvSpPr txBox="1"/>
          <p:nvPr/>
        </p:nvSpPr>
        <p:spPr>
          <a:xfrm>
            <a:off x="548640" y="77724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Every fact joins to dim_patient, so any slicer (region, age band, condition, risk tier) filters every KPI consistently.</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8549640" y="1783080"/>
            <a:ext cx="3063240" cy="768096"/>
          </a:xfrm>
          <a:prstGeom prst="roundRect">
            <a:avLst>
              <a:gd name="adj" fmla="val 14286"/>
            </a:avLst>
          </a:prstGeom>
          <a:solidFill>
            <a:srgbClr val="16325C"/>
          </a:solidFill>
          <a:ln w="9525">
            <a:solidFill>
              <a:srgbClr val="1E3A5F"/>
            </a:solidFill>
            <a:prstDash val="solid"/>
          </a:ln>
        </p:spPr>
      </p:sp>
      <p:sp>
        <p:nvSpPr>
          <p:cNvPr id="7" name="Text 5"/>
          <p:cNvSpPr txBox="1"/>
          <p:nvPr/>
        </p:nvSpPr>
        <p:spPr>
          <a:xfrm>
            <a:off x="8686800" y="1837944"/>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fact_screening</a:t>
            </a:r>
            <a:endParaRPr lang="en-US" sz="1200" dirty="0"/>
          </a:p>
        </p:txBody>
      </p:sp>
      <p:sp>
        <p:nvSpPr>
          <p:cNvPr id="8" name="Text 6"/>
          <p:cNvSpPr txBox="1"/>
          <p:nvPr/>
        </p:nvSpPr>
        <p:spPr>
          <a:xfrm>
            <a:off x="8686800" y="2112264"/>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294,717 rows</a:t>
            </a:r>
            <a:endParaRPr lang="en-US" sz="950" dirty="0"/>
          </a:p>
        </p:txBody>
      </p:sp>
      <p:sp>
        <p:nvSpPr>
          <p:cNvPr id="9" name="Text 7"/>
          <p:cNvSpPr txBox="1"/>
          <p:nvPr/>
        </p:nvSpPr>
        <p:spPr>
          <a:xfrm>
            <a:off x="8686800" y="2331720"/>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eligible × completed × status</a:t>
            </a:r>
            <a:endParaRPr lang="en-US" sz="900" dirty="0"/>
          </a:p>
        </p:txBody>
      </p:sp>
      <p:sp>
        <p:nvSpPr>
          <p:cNvPr id="10" name="Shape 8"/>
          <p:cNvSpPr/>
          <p:nvPr/>
        </p:nvSpPr>
        <p:spPr>
          <a:xfrm>
            <a:off x="7543800" y="3886200"/>
            <a:ext cx="1005840" cy="-1719072"/>
          </a:xfrm>
          <a:prstGeom prst="line">
            <a:avLst/>
          </a:prstGeom>
          <a:noFill/>
          <a:ln w="15875">
            <a:solidFill>
              <a:srgbClr val="0D9488"/>
            </a:solidFill>
            <a:prstDash val="solid"/>
          </a:ln>
        </p:spPr>
      </p:sp>
      <p:sp>
        <p:nvSpPr>
          <p:cNvPr id="11" name="Shape 9"/>
          <p:cNvSpPr/>
          <p:nvPr/>
        </p:nvSpPr>
        <p:spPr>
          <a:xfrm>
            <a:off x="8549640" y="2642616"/>
            <a:ext cx="3063240" cy="768096"/>
          </a:xfrm>
          <a:prstGeom prst="roundRect">
            <a:avLst>
              <a:gd name="adj" fmla="val 14286"/>
            </a:avLst>
          </a:prstGeom>
          <a:solidFill>
            <a:srgbClr val="16325C"/>
          </a:solidFill>
          <a:ln w="9525">
            <a:solidFill>
              <a:srgbClr val="1E3A5F"/>
            </a:solidFill>
            <a:prstDash val="solid"/>
          </a:ln>
        </p:spPr>
      </p:sp>
      <p:sp>
        <p:nvSpPr>
          <p:cNvPr id="12" name="Text 10"/>
          <p:cNvSpPr txBox="1"/>
          <p:nvPr/>
        </p:nvSpPr>
        <p:spPr>
          <a:xfrm>
            <a:off x="8686800" y="2697480"/>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fact_condition</a:t>
            </a:r>
            <a:endParaRPr lang="en-US" sz="1200" dirty="0"/>
          </a:p>
        </p:txBody>
      </p:sp>
      <p:sp>
        <p:nvSpPr>
          <p:cNvPr id="13" name="Text 11"/>
          <p:cNvSpPr txBox="1"/>
          <p:nvPr/>
        </p:nvSpPr>
        <p:spPr>
          <a:xfrm>
            <a:off x="8686800" y="2971800"/>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52,746 rows</a:t>
            </a:r>
            <a:endParaRPr lang="en-US" sz="950" dirty="0"/>
          </a:p>
        </p:txBody>
      </p:sp>
      <p:sp>
        <p:nvSpPr>
          <p:cNvPr id="14" name="Text 12"/>
          <p:cNvSpPr txBox="1"/>
          <p:nvPr/>
        </p:nvSpPr>
        <p:spPr>
          <a:xfrm>
            <a:off x="8686800" y="3191256"/>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measure, control status, medication</a:t>
            </a:r>
            <a:endParaRPr lang="en-US" sz="900" dirty="0"/>
          </a:p>
        </p:txBody>
      </p:sp>
      <p:sp>
        <p:nvSpPr>
          <p:cNvPr id="15" name="Shape 13"/>
          <p:cNvSpPr/>
          <p:nvPr/>
        </p:nvSpPr>
        <p:spPr>
          <a:xfrm>
            <a:off x="7543800" y="3886200"/>
            <a:ext cx="1005840" cy="-859536"/>
          </a:xfrm>
          <a:prstGeom prst="line">
            <a:avLst/>
          </a:prstGeom>
          <a:noFill/>
          <a:ln w="15875">
            <a:solidFill>
              <a:srgbClr val="0D9488"/>
            </a:solidFill>
            <a:prstDash val="solid"/>
          </a:ln>
        </p:spPr>
      </p:sp>
      <p:sp>
        <p:nvSpPr>
          <p:cNvPr id="16" name="Shape 14"/>
          <p:cNvSpPr/>
          <p:nvPr/>
        </p:nvSpPr>
        <p:spPr>
          <a:xfrm>
            <a:off x="8549640" y="3502152"/>
            <a:ext cx="3063240" cy="768096"/>
          </a:xfrm>
          <a:prstGeom prst="roundRect">
            <a:avLst>
              <a:gd name="adj" fmla="val 14286"/>
            </a:avLst>
          </a:prstGeom>
          <a:solidFill>
            <a:srgbClr val="16325C"/>
          </a:solidFill>
          <a:ln w="9525">
            <a:solidFill>
              <a:srgbClr val="1E3A5F"/>
            </a:solidFill>
            <a:prstDash val="solid"/>
          </a:ln>
        </p:spPr>
      </p:sp>
      <p:sp>
        <p:nvSpPr>
          <p:cNvPr id="17" name="Text 15"/>
          <p:cNvSpPr txBox="1"/>
          <p:nvPr/>
        </p:nvSpPr>
        <p:spPr>
          <a:xfrm>
            <a:off x="8686800" y="3557016"/>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fact_wearable_monthly</a:t>
            </a:r>
            <a:endParaRPr lang="en-US" sz="1200" dirty="0"/>
          </a:p>
        </p:txBody>
      </p:sp>
      <p:sp>
        <p:nvSpPr>
          <p:cNvPr id="18" name="Text 16"/>
          <p:cNvSpPr txBox="1"/>
          <p:nvPr/>
        </p:nvSpPr>
        <p:spPr>
          <a:xfrm>
            <a:off x="8686800" y="3831336"/>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307,534 rows</a:t>
            </a:r>
            <a:endParaRPr lang="en-US" sz="950" dirty="0"/>
          </a:p>
        </p:txBody>
      </p:sp>
      <p:sp>
        <p:nvSpPr>
          <p:cNvPr id="19" name="Text 17"/>
          <p:cNvSpPr txBox="1"/>
          <p:nvPr/>
        </p:nvSpPr>
        <p:spPr>
          <a:xfrm>
            <a:off x="8686800" y="4050792"/>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steps, sleep, resting HR by month</a:t>
            </a:r>
            <a:endParaRPr lang="en-US" sz="900" dirty="0"/>
          </a:p>
        </p:txBody>
      </p:sp>
      <p:sp>
        <p:nvSpPr>
          <p:cNvPr id="20" name="Shape 18"/>
          <p:cNvSpPr/>
          <p:nvPr/>
        </p:nvSpPr>
        <p:spPr>
          <a:xfrm>
            <a:off x="7543800" y="3886200"/>
            <a:ext cx="1005840" cy="0"/>
          </a:xfrm>
          <a:prstGeom prst="line">
            <a:avLst/>
          </a:prstGeom>
          <a:noFill/>
          <a:ln w="15875">
            <a:solidFill>
              <a:srgbClr val="0D9488"/>
            </a:solidFill>
            <a:prstDash val="solid"/>
          </a:ln>
        </p:spPr>
      </p:sp>
      <p:sp>
        <p:nvSpPr>
          <p:cNvPr id="21" name="Shape 19"/>
          <p:cNvSpPr/>
          <p:nvPr/>
        </p:nvSpPr>
        <p:spPr>
          <a:xfrm>
            <a:off x="8549640" y="4361688"/>
            <a:ext cx="3063240" cy="768096"/>
          </a:xfrm>
          <a:prstGeom prst="roundRect">
            <a:avLst>
              <a:gd name="adj" fmla="val 14286"/>
            </a:avLst>
          </a:prstGeom>
          <a:solidFill>
            <a:srgbClr val="16325C"/>
          </a:solidFill>
          <a:ln w="9525">
            <a:solidFill>
              <a:srgbClr val="1E3A5F"/>
            </a:solidFill>
            <a:prstDash val="solid"/>
          </a:ln>
        </p:spPr>
      </p:sp>
      <p:sp>
        <p:nvSpPr>
          <p:cNvPr id="22" name="Text 20"/>
          <p:cNvSpPr txBox="1"/>
          <p:nvPr/>
        </p:nvSpPr>
        <p:spPr>
          <a:xfrm>
            <a:off x="8686800" y="4416552"/>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fact_engagement_event</a:t>
            </a:r>
            <a:endParaRPr lang="en-US" sz="1200" dirty="0"/>
          </a:p>
        </p:txBody>
      </p:sp>
      <p:sp>
        <p:nvSpPr>
          <p:cNvPr id="23" name="Text 21"/>
          <p:cNvSpPr txBox="1"/>
          <p:nvPr/>
        </p:nvSpPr>
        <p:spPr>
          <a:xfrm>
            <a:off x="8686800" y="4690872"/>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295,432 rows</a:t>
            </a:r>
            <a:endParaRPr lang="en-US" sz="950" dirty="0"/>
          </a:p>
        </p:txBody>
      </p:sp>
      <p:sp>
        <p:nvSpPr>
          <p:cNvPr id="24" name="Text 22"/>
          <p:cNvSpPr txBox="1"/>
          <p:nvPr/>
        </p:nvSpPr>
        <p:spPr>
          <a:xfrm>
            <a:off x="8686800" y="4910328"/>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logins, bookings, reminders</a:t>
            </a:r>
            <a:endParaRPr lang="en-US" sz="900" dirty="0"/>
          </a:p>
        </p:txBody>
      </p:sp>
      <p:sp>
        <p:nvSpPr>
          <p:cNvPr id="25" name="Shape 23"/>
          <p:cNvSpPr/>
          <p:nvPr/>
        </p:nvSpPr>
        <p:spPr>
          <a:xfrm>
            <a:off x="7543800" y="3886200"/>
            <a:ext cx="1005840" cy="859536"/>
          </a:xfrm>
          <a:prstGeom prst="line">
            <a:avLst/>
          </a:prstGeom>
          <a:noFill/>
          <a:ln w="15875">
            <a:solidFill>
              <a:srgbClr val="0D9488"/>
            </a:solidFill>
            <a:prstDash val="solid"/>
          </a:ln>
        </p:spPr>
      </p:sp>
      <p:sp>
        <p:nvSpPr>
          <p:cNvPr id="26" name="Shape 24"/>
          <p:cNvSpPr/>
          <p:nvPr/>
        </p:nvSpPr>
        <p:spPr>
          <a:xfrm>
            <a:off x="8549640" y="5221224"/>
            <a:ext cx="3063240" cy="768096"/>
          </a:xfrm>
          <a:prstGeom prst="roundRect">
            <a:avLst>
              <a:gd name="adj" fmla="val 14286"/>
            </a:avLst>
          </a:prstGeom>
          <a:solidFill>
            <a:srgbClr val="16325C"/>
          </a:solidFill>
          <a:ln w="9525">
            <a:solidFill>
              <a:srgbClr val="1E3A5F"/>
            </a:solidFill>
            <a:prstDash val="solid"/>
          </a:ln>
        </p:spPr>
      </p:sp>
      <p:sp>
        <p:nvSpPr>
          <p:cNvPr id="27" name="Text 25"/>
          <p:cNvSpPr txBox="1"/>
          <p:nvPr/>
        </p:nvSpPr>
        <p:spPr>
          <a:xfrm>
            <a:off x="8686800" y="5276088"/>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fact_patient_risk_snapshot</a:t>
            </a:r>
            <a:endParaRPr lang="en-US" sz="1200" dirty="0"/>
          </a:p>
        </p:txBody>
      </p:sp>
      <p:sp>
        <p:nvSpPr>
          <p:cNvPr id="28" name="Text 26"/>
          <p:cNvSpPr txBox="1"/>
          <p:nvPr/>
        </p:nvSpPr>
        <p:spPr>
          <a:xfrm>
            <a:off x="8686800" y="5550408"/>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50,000 rows</a:t>
            </a:r>
            <a:endParaRPr lang="en-US" sz="950" dirty="0"/>
          </a:p>
        </p:txBody>
      </p:sp>
      <p:sp>
        <p:nvSpPr>
          <p:cNvPr id="29" name="Text 27"/>
          <p:cNvSpPr txBox="1"/>
          <p:nvPr/>
        </p:nvSpPr>
        <p:spPr>
          <a:xfrm>
            <a:off x="8686800" y="5769864"/>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score, tier, nine point components</a:t>
            </a:r>
            <a:endParaRPr lang="en-US" sz="900" dirty="0"/>
          </a:p>
        </p:txBody>
      </p:sp>
      <p:sp>
        <p:nvSpPr>
          <p:cNvPr id="30" name="Shape 28"/>
          <p:cNvSpPr/>
          <p:nvPr/>
        </p:nvSpPr>
        <p:spPr>
          <a:xfrm>
            <a:off x="7543800" y="3886200"/>
            <a:ext cx="1005840" cy="1719072"/>
          </a:xfrm>
          <a:prstGeom prst="line">
            <a:avLst/>
          </a:prstGeom>
          <a:noFill/>
          <a:ln w="15875">
            <a:solidFill>
              <a:srgbClr val="0D9488"/>
            </a:solidFill>
            <a:prstDash val="solid"/>
          </a:ln>
        </p:spPr>
      </p:sp>
      <p:sp>
        <p:nvSpPr>
          <p:cNvPr id="31" name="Shape 29"/>
          <p:cNvSpPr/>
          <p:nvPr/>
        </p:nvSpPr>
        <p:spPr>
          <a:xfrm>
            <a:off x="548640" y="1783080"/>
            <a:ext cx="3063240" cy="768096"/>
          </a:xfrm>
          <a:prstGeom prst="roundRect">
            <a:avLst>
              <a:gd name="adj" fmla="val 14286"/>
            </a:avLst>
          </a:prstGeom>
          <a:solidFill>
            <a:srgbClr val="12294A"/>
          </a:solidFill>
          <a:ln w="9525">
            <a:solidFill>
              <a:srgbClr val="1E3A5F"/>
            </a:solidFill>
            <a:prstDash val="solid"/>
          </a:ln>
        </p:spPr>
      </p:sp>
      <p:sp>
        <p:nvSpPr>
          <p:cNvPr id="32" name="Text 30"/>
          <p:cNvSpPr txBox="1"/>
          <p:nvPr/>
        </p:nvSpPr>
        <p:spPr>
          <a:xfrm>
            <a:off x="685800" y="1837944"/>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dim_geography</a:t>
            </a:r>
            <a:endParaRPr lang="en-US" sz="1200" dirty="0"/>
          </a:p>
        </p:txBody>
      </p:sp>
      <p:sp>
        <p:nvSpPr>
          <p:cNvPr id="33" name="Text 31"/>
          <p:cNvSpPr txBox="1"/>
          <p:nvPr/>
        </p:nvSpPr>
        <p:spPr>
          <a:xfrm>
            <a:off x="685800" y="2112264"/>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60 rows</a:t>
            </a:r>
            <a:endParaRPr lang="en-US" sz="950" dirty="0"/>
          </a:p>
        </p:txBody>
      </p:sp>
      <p:sp>
        <p:nvSpPr>
          <p:cNvPr id="34" name="Text 32"/>
          <p:cNvSpPr txBox="1"/>
          <p:nvPr/>
        </p:nvSpPr>
        <p:spPr>
          <a:xfrm>
            <a:off x="685800" y="2331720"/>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region · state · urbanicity</a:t>
            </a:r>
            <a:endParaRPr lang="en-US" sz="900" dirty="0"/>
          </a:p>
        </p:txBody>
      </p:sp>
      <p:sp>
        <p:nvSpPr>
          <p:cNvPr id="35" name="Shape 33"/>
          <p:cNvSpPr/>
          <p:nvPr/>
        </p:nvSpPr>
        <p:spPr>
          <a:xfrm>
            <a:off x="548640" y="2642616"/>
            <a:ext cx="3063240" cy="768096"/>
          </a:xfrm>
          <a:prstGeom prst="roundRect">
            <a:avLst>
              <a:gd name="adj" fmla="val 14286"/>
            </a:avLst>
          </a:prstGeom>
          <a:solidFill>
            <a:srgbClr val="12294A"/>
          </a:solidFill>
          <a:ln w="9525">
            <a:solidFill>
              <a:srgbClr val="1E3A5F"/>
            </a:solidFill>
            <a:prstDash val="solid"/>
          </a:ln>
        </p:spPr>
      </p:sp>
      <p:sp>
        <p:nvSpPr>
          <p:cNvPr id="36" name="Text 34"/>
          <p:cNvSpPr txBox="1"/>
          <p:nvPr/>
        </p:nvSpPr>
        <p:spPr>
          <a:xfrm>
            <a:off x="685800" y="2697480"/>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dim_date</a:t>
            </a:r>
            <a:endParaRPr lang="en-US" sz="1200" dirty="0"/>
          </a:p>
        </p:txBody>
      </p:sp>
      <p:sp>
        <p:nvSpPr>
          <p:cNvPr id="37" name="Text 35"/>
          <p:cNvSpPr txBox="1"/>
          <p:nvPr/>
        </p:nvSpPr>
        <p:spPr>
          <a:xfrm>
            <a:off x="685800" y="2971800"/>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20,820 rows</a:t>
            </a:r>
            <a:endParaRPr lang="en-US" sz="950" dirty="0"/>
          </a:p>
        </p:txBody>
      </p:sp>
      <p:sp>
        <p:nvSpPr>
          <p:cNvPr id="38" name="Text 36"/>
          <p:cNvSpPr txBox="1"/>
          <p:nvPr/>
        </p:nvSpPr>
        <p:spPr>
          <a:xfrm>
            <a:off x="685800" y="3191256"/>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1980 – 2036 calendar</a:t>
            </a:r>
            <a:endParaRPr lang="en-US" sz="900" dirty="0"/>
          </a:p>
        </p:txBody>
      </p:sp>
      <p:sp>
        <p:nvSpPr>
          <p:cNvPr id="39" name="Shape 37"/>
          <p:cNvSpPr/>
          <p:nvPr/>
        </p:nvSpPr>
        <p:spPr>
          <a:xfrm>
            <a:off x="548640" y="3502152"/>
            <a:ext cx="3063240" cy="768096"/>
          </a:xfrm>
          <a:prstGeom prst="roundRect">
            <a:avLst>
              <a:gd name="adj" fmla="val 14286"/>
            </a:avLst>
          </a:prstGeom>
          <a:solidFill>
            <a:srgbClr val="12294A"/>
          </a:solidFill>
          <a:ln w="9525">
            <a:solidFill>
              <a:srgbClr val="1E3A5F"/>
            </a:solidFill>
            <a:prstDash val="solid"/>
          </a:ln>
        </p:spPr>
      </p:sp>
      <p:sp>
        <p:nvSpPr>
          <p:cNvPr id="40" name="Text 38"/>
          <p:cNvSpPr txBox="1"/>
          <p:nvPr/>
        </p:nvSpPr>
        <p:spPr>
          <a:xfrm>
            <a:off x="685800" y="3557016"/>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dim_condition</a:t>
            </a:r>
            <a:endParaRPr lang="en-US" sz="1200" dirty="0"/>
          </a:p>
        </p:txBody>
      </p:sp>
      <p:sp>
        <p:nvSpPr>
          <p:cNvPr id="41" name="Text 39"/>
          <p:cNvSpPr txBox="1"/>
          <p:nvPr/>
        </p:nvSpPr>
        <p:spPr>
          <a:xfrm>
            <a:off x="685800" y="3831336"/>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5 rows</a:t>
            </a:r>
            <a:endParaRPr lang="en-US" sz="950" dirty="0"/>
          </a:p>
        </p:txBody>
      </p:sp>
      <p:sp>
        <p:nvSpPr>
          <p:cNvPr id="42" name="Text 40"/>
          <p:cNvSpPr txBox="1"/>
          <p:nvPr/>
        </p:nvSpPr>
        <p:spPr>
          <a:xfrm>
            <a:off x="685800" y="4050792"/>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SNOMED code · category · control target</a:t>
            </a:r>
            <a:endParaRPr lang="en-US" sz="900" dirty="0"/>
          </a:p>
        </p:txBody>
      </p:sp>
      <p:sp>
        <p:nvSpPr>
          <p:cNvPr id="43" name="Shape 41"/>
          <p:cNvSpPr/>
          <p:nvPr/>
        </p:nvSpPr>
        <p:spPr>
          <a:xfrm>
            <a:off x="548640" y="4361688"/>
            <a:ext cx="3063240" cy="768096"/>
          </a:xfrm>
          <a:prstGeom prst="roundRect">
            <a:avLst>
              <a:gd name="adj" fmla="val 14286"/>
            </a:avLst>
          </a:prstGeom>
          <a:solidFill>
            <a:srgbClr val="12294A"/>
          </a:solidFill>
          <a:ln w="9525">
            <a:solidFill>
              <a:srgbClr val="1E3A5F"/>
            </a:solidFill>
            <a:prstDash val="solid"/>
          </a:ln>
        </p:spPr>
      </p:sp>
      <p:sp>
        <p:nvSpPr>
          <p:cNvPr id="44" name="Text 42"/>
          <p:cNvSpPr txBox="1"/>
          <p:nvPr/>
        </p:nvSpPr>
        <p:spPr>
          <a:xfrm>
            <a:off x="685800" y="4416552"/>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dim_screening</a:t>
            </a:r>
            <a:endParaRPr lang="en-US" sz="1200" dirty="0"/>
          </a:p>
        </p:txBody>
      </p:sp>
      <p:sp>
        <p:nvSpPr>
          <p:cNvPr id="45" name="Text 43"/>
          <p:cNvSpPr txBox="1"/>
          <p:nvPr/>
        </p:nvSpPr>
        <p:spPr>
          <a:xfrm>
            <a:off x="685800" y="4690872"/>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10 rows</a:t>
            </a:r>
            <a:endParaRPr lang="en-US" sz="950" dirty="0"/>
          </a:p>
        </p:txBody>
      </p:sp>
      <p:sp>
        <p:nvSpPr>
          <p:cNvPr id="46" name="Text 44"/>
          <p:cNvSpPr txBox="1"/>
          <p:nvPr/>
        </p:nvSpPr>
        <p:spPr>
          <a:xfrm>
            <a:off x="685800" y="4910328"/>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guideline · interval · eligibility</a:t>
            </a:r>
            <a:endParaRPr lang="en-US" sz="900" dirty="0"/>
          </a:p>
        </p:txBody>
      </p:sp>
      <p:sp>
        <p:nvSpPr>
          <p:cNvPr id="47" name="Shape 45"/>
          <p:cNvSpPr/>
          <p:nvPr/>
        </p:nvSpPr>
        <p:spPr>
          <a:xfrm>
            <a:off x="548640" y="5221224"/>
            <a:ext cx="3063240" cy="768096"/>
          </a:xfrm>
          <a:prstGeom prst="roundRect">
            <a:avLst>
              <a:gd name="adj" fmla="val 14286"/>
            </a:avLst>
          </a:prstGeom>
          <a:solidFill>
            <a:srgbClr val="12294A"/>
          </a:solidFill>
          <a:ln w="9525">
            <a:solidFill>
              <a:srgbClr val="1E3A5F"/>
            </a:solidFill>
            <a:prstDash val="solid"/>
          </a:ln>
        </p:spPr>
      </p:sp>
      <p:sp>
        <p:nvSpPr>
          <p:cNvPr id="48" name="Text 46"/>
          <p:cNvSpPr txBox="1"/>
          <p:nvPr/>
        </p:nvSpPr>
        <p:spPr>
          <a:xfrm>
            <a:off x="685800" y="5276088"/>
            <a:ext cx="2788920" cy="292608"/>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dim_event_type</a:t>
            </a:r>
            <a:endParaRPr lang="en-US" sz="1200" dirty="0"/>
          </a:p>
        </p:txBody>
      </p:sp>
      <p:sp>
        <p:nvSpPr>
          <p:cNvPr id="49" name="Text 47"/>
          <p:cNvSpPr txBox="1"/>
          <p:nvPr/>
        </p:nvSpPr>
        <p:spPr>
          <a:xfrm>
            <a:off x="685800" y="5550408"/>
            <a:ext cx="2788920" cy="228600"/>
          </a:xfrm>
          <a:prstGeom prst="rect">
            <a:avLst/>
          </a:prstGeom>
          <a:noFill/>
          <a:ln/>
        </p:spPr>
        <p:txBody>
          <a:bodyPr wrap="square" lIns="0" tIns="0" rIns="0" bIns="0" rtlCol="0" anchor="ctr"/>
          <a:lstStyle/>
          <a:p>
            <a:pPr indent="0" marL="0">
              <a:buNone/>
            </a:pPr>
            <a:r>
              <a:rPr lang="en-US" sz="950" dirty="0">
                <a:solidFill>
                  <a:srgbClr val="2DD4BF"/>
                </a:solidFill>
                <a:latin typeface="Calibri" pitchFamily="34" charset="0"/>
                <a:ea typeface="Calibri" pitchFamily="34" charset="-122"/>
                <a:cs typeface="Calibri" pitchFamily="34" charset="-120"/>
              </a:rPr>
              <a:t>7 rows</a:t>
            </a:r>
            <a:endParaRPr lang="en-US" sz="950" dirty="0"/>
          </a:p>
        </p:txBody>
      </p:sp>
      <p:sp>
        <p:nvSpPr>
          <p:cNvPr id="50" name="Text 48"/>
          <p:cNvSpPr txBox="1"/>
          <p:nvPr/>
        </p:nvSpPr>
        <p:spPr>
          <a:xfrm>
            <a:off x="685800" y="5769864"/>
            <a:ext cx="2788920" cy="164592"/>
          </a:xfrm>
          <a:prstGeom prst="rect">
            <a:avLst/>
          </a:prstGeom>
          <a:noFill/>
          <a:ln/>
        </p:spPr>
        <p:txBody>
          <a:bodyPr wrap="square" lIns="0" tIns="0" rIns="0" bIns="0" rtlCol="0" anchor="t"/>
          <a:lstStyle/>
          <a:p>
            <a:pPr indent="0" marL="0">
              <a:buNone/>
            </a:pPr>
            <a:r>
              <a:rPr lang="en-US" sz="900" dirty="0">
                <a:solidFill>
                  <a:srgbClr val="9FB3C8"/>
                </a:solidFill>
                <a:latin typeface="Calibri" pitchFamily="34" charset="0"/>
                <a:ea typeface="Calibri" pitchFamily="34" charset="-122"/>
                <a:cs typeface="Calibri" pitchFamily="34" charset="-120"/>
              </a:rPr>
              <a:t>category · meaningful-action flag</a:t>
            </a:r>
            <a:endParaRPr lang="en-US" sz="900" dirty="0"/>
          </a:p>
        </p:txBody>
      </p:sp>
      <p:sp>
        <p:nvSpPr>
          <p:cNvPr id="51" name="Shape 49"/>
          <p:cNvSpPr/>
          <p:nvPr/>
        </p:nvSpPr>
        <p:spPr>
          <a:xfrm>
            <a:off x="3611880" y="2167128"/>
            <a:ext cx="1005840" cy="1719072"/>
          </a:xfrm>
          <a:prstGeom prst="line">
            <a:avLst/>
          </a:prstGeom>
          <a:noFill/>
          <a:ln w="15875">
            <a:solidFill>
              <a:srgbClr val="0D9488"/>
            </a:solidFill>
            <a:prstDash val="solid"/>
          </a:ln>
        </p:spPr>
      </p:sp>
      <p:sp>
        <p:nvSpPr>
          <p:cNvPr id="52" name="Shape 50"/>
          <p:cNvSpPr/>
          <p:nvPr/>
        </p:nvSpPr>
        <p:spPr>
          <a:xfrm>
            <a:off x="3611880" y="3026664"/>
            <a:ext cx="4937760" cy="859536"/>
          </a:xfrm>
          <a:prstGeom prst="line">
            <a:avLst/>
          </a:prstGeom>
          <a:noFill/>
          <a:ln w="15875">
            <a:solidFill>
              <a:srgbClr val="0D9488"/>
            </a:solidFill>
            <a:prstDash val="solid"/>
          </a:ln>
        </p:spPr>
      </p:sp>
      <p:sp>
        <p:nvSpPr>
          <p:cNvPr id="53" name="Shape 51"/>
          <p:cNvSpPr/>
          <p:nvPr/>
        </p:nvSpPr>
        <p:spPr>
          <a:xfrm>
            <a:off x="3611880" y="3886200"/>
            <a:ext cx="4937760" cy="-859536"/>
          </a:xfrm>
          <a:prstGeom prst="line">
            <a:avLst/>
          </a:prstGeom>
          <a:noFill/>
          <a:ln w="15875">
            <a:solidFill>
              <a:srgbClr val="0D9488"/>
            </a:solidFill>
            <a:prstDash val="solid"/>
          </a:ln>
        </p:spPr>
      </p:sp>
      <p:sp>
        <p:nvSpPr>
          <p:cNvPr id="54" name="Shape 52"/>
          <p:cNvSpPr/>
          <p:nvPr/>
        </p:nvSpPr>
        <p:spPr>
          <a:xfrm>
            <a:off x="3611880" y="4745736"/>
            <a:ext cx="4937760" cy="-2578608"/>
          </a:xfrm>
          <a:prstGeom prst="line">
            <a:avLst/>
          </a:prstGeom>
          <a:noFill/>
          <a:ln w="15875">
            <a:solidFill>
              <a:srgbClr val="0D9488"/>
            </a:solidFill>
            <a:prstDash val="solid"/>
          </a:ln>
        </p:spPr>
      </p:sp>
      <p:sp>
        <p:nvSpPr>
          <p:cNvPr id="55" name="Shape 53"/>
          <p:cNvSpPr/>
          <p:nvPr/>
        </p:nvSpPr>
        <p:spPr>
          <a:xfrm>
            <a:off x="3611880" y="5605272"/>
            <a:ext cx="4937760" cy="-859536"/>
          </a:xfrm>
          <a:prstGeom prst="line">
            <a:avLst/>
          </a:prstGeom>
          <a:noFill/>
          <a:ln w="15875">
            <a:solidFill>
              <a:srgbClr val="0D9488"/>
            </a:solidFill>
            <a:prstDash val="solid"/>
          </a:ln>
        </p:spPr>
      </p:sp>
      <p:sp>
        <p:nvSpPr>
          <p:cNvPr id="56" name="Shape 54"/>
          <p:cNvSpPr/>
          <p:nvPr/>
        </p:nvSpPr>
        <p:spPr>
          <a:xfrm>
            <a:off x="4617720" y="3200400"/>
            <a:ext cx="2926080" cy="1371600"/>
          </a:xfrm>
          <a:prstGeom prst="roundRect">
            <a:avLst>
              <a:gd name="adj" fmla="val 8000"/>
            </a:avLst>
          </a:prstGeom>
          <a:solidFill>
            <a:srgbClr val="2DD4BF"/>
          </a:solidFill>
          <a:ln w="9525">
            <a:solidFill>
              <a:srgbClr val="1E3A5F"/>
            </a:solidFill>
            <a:prstDash val="solid"/>
          </a:ln>
        </p:spPr>
      </p:sp>
      <p:sp>
        <p:nvSpPr>
          <p:cNvPr id="57" name="Text 55"/>
          <p:cNvSpPr txBox="1"/>
          <p:nvPr/>
        </p:nvSpPr>
        <p:spPr>
          <a:xfrm>
            <a:off x="4754880" y="3255264"/>
            <a:ext cx="2651760" cy="29260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dim_patient</a:t>
            </a:r>
            <a:endParaRPr lang="en-US" sz="1200" dirty="0"/>
          </a:p>
        </p:txBody>
      </p:sp>
      <p:sp>
        <p:nvSpPr>
          <p:cNvPr id="58" name="Text 56"/>
          <p:cNvSpPr txBox="1"/>
          <p:nvPr/>
        </p:nvSpPr>
        <p:spPr>
          <a:xfrm>
            <a:off x="4754880" y="3529584"/>
            <a:ext cx="2651760" cy="228600"/>
          </a:xfrm>
          <a:prstGeom prst="rect">
            <a:avLst/>
          </a:prstGeom>
          <a:noFill/>
          <a:ln/>
        </p:spPr>
        <p:txBody>
          <a:bodyPr wrap="square" lIns="0" tIns="0" rIns="0" bIns="0" rtlCol="0" anchor="ctr"/>
          <a:lstStyle/>
          <a:p>
            <a:pPr indent="0" marL="0">
              <a:buNone/>
            </a:pPr>
            <a:r>
              <a:rPr lang="en-US" sz="950" dirty="0">
                <a:solidFill>
                  <a:srgbClr val="0B1F3A"/>
                </a:solidFill>
                <a:latin typeface="Calibri" pitchFamily="34" charset="0"/>
                <a:ea typeface="Calibri" pitchFamily="34" charset="-122"/>
                <a:cs typeface="Calibri" pitchFamily="34" charset="-120"/>
              </a:rPr>
              <a:t>50,000 rows</a:t>
            </a:r>
            <a:endParaRPr lang="en-US" sz="950" dirty="0"/>
          </a:p>
        </p:txBody>
      </p:sp>
      <p:sp>
        <p:nvSpPr>
          <p:cNvPr id="59" name="Text 57"/>
          <p:cNvSpPr txBox="1"/>
          <p:nvPr/>
        </p:nvSpPr>
        <p:spPr>
          <a:xfrm>
            <a:off x="4754880" y="3749040"/>
            <a:ext cx="2651760" cy="768096"/>
          </a:xfrm>
          <a:prstGeom prst="rect">
            <a:avLst/>
          </a:prstGeom>
          <a:noFill/>
          <a:ln/>
        </p:spPr>
        <p:txBody>
          <a:bodyPr wrap="square" lIns="0" tIns="0" rIns="0" bIns="0" rtlCol="0" anchor="t"/>
          <a:lstStyle/>
          <a:p>
            <a:pPr indent="0" marL="0">
              <a:buNone/>
            </a:pPr>
            <a:r>
              <a:rPr lang="en-US" sz="900" dirty="0">
                <a:solidFill>
                  <a:srgbClr val="0B1F3A"/>
                </a:solidFill>
                <a:latin typeface="Calibri" pitchFamily="34" charset="0"/>
                <a:ea typeface="Calibri" pitchFamily="34" charset="-122"/>
                <a:cs typeface="Calibri" pitchFamily="34" charset="-120"/>
              </a:rPr>
              <a:t>46 attributes: demographics, geo_key, BMI band, condition flags, care gaps, engagement segment, wearable summary, risk score &amp; tier</a:t>
            </a:r>
            <a:endParaRPr lang="en-US" sz="900" dirty="0"/>
          </a:p>
        </p:txBody>
      </p:sp>
      <p:sp>
        <p:nvSpPr>
          <p:cNvPr id="60" name="Text 58"/>
          <p:cNvSpPr txBox="1"/>
          <p:nvPr/>
        </p:nvSpPr>
        <p:spPr>
          <a:xfrm>
            <a:off x="548640" y="1508760"/>
            <a:ext cx="2743200" cy="256032"/>
          </a:xfrm>
          <a:prstGeom prst="rect">
            <a:avLst/>
          </a:prstGeom>
          <a:noFill/>
          <a:ln/>
        </p:spPr>
        <p:txBody>
          <a:bodyPr wrap="square" lIns="0" tIns="0" rIns="0" bIns="0" rtlCol="0" anchor="ctr"/>
          <a:lstStyle/>
          <a:p>
            <a:pPr indent="0" marL="0">
              <a:buNone/>
            </a:pPr>
            <a:r>
              <a:rPr lang="en-US" sz="1100" b="1" dirty="0">
                <a:solidFill>
                  <a:srgbClr val="9FB3C8"/>
                </a:solidFill>
                <a:latin typeface="Calibri" pitchFamily="34" charset="0"/>
                <a:ea typeface="Calibri" pitchFamily="34" charset="-122"/>
                <a:cs typeface="Calibri" pitchFamily="34" charset="-120"/>
              </a:rPr>
              <a:t>Dimensions</a:t>
            </a:r>
            <a:endParaRPr lang="en-US" sz="1100" dirty="0"/>
          </a:p>
        </p:txBody>
      </p:sp>
      <p:sp>
        <p:nvSpPr>
          <p:cNvPr id="61" name="Text 59"/>
          <p:cNvSpPr txBox="1"/>
          <p:nvPr/>
        </p:nvSpPr>
        <p:spPr>
          <a:xfrm>
            <a:off x="8549640" y="1508760"/>
            <a:ext cx="2743200" cy="256032"/>
          </a:xfrm>
          <a:prstGeom prst="rect">
            <a:avLst/>
          </a:prstGeom>
          <a:noFill/>
          <a:ln/>
        </p:spPr>
        <p:txBody>
          <a:bodyPr wrap="square" lIns="0" tIns="0" rIns="0" bIns="0" rtlCol="0" anchor="ctr"/>
          <a:lstStyle/>
          <a:p>
            <a:pPr indent="0" marL="0">
              <a:buNone/>
            </a:pPr>
            <a:r>
              <a:rPr lang="en-US" sz="1100" b="1" dirty="0">
                <a:solidFill>
                  <a:srgbClr val="9FB3C8"/>
                </a:solidFill>
                <a:latin typeface="Calibri" pitchFamily="34" charset="0"/>
                <a:ea typeface="Calibri" pitchFamily="34" charset="-122"/>
                <a:cs typeface="Calibri" pitchFamily="34" charset="-120"/>
              </a:rPr>
              <a:t>Facts</a:t>
            </a:r>
            <a:endParaRPr lang="en-US" sz="1100" dirty="0"/>
          </a:p>
        </p:txBody>
      </p:sp>
      <p:sp>
        <p:nvSpPr>
          <p:cNvPr id="62" name="Text 60"/>
          <p:cNvSpPr txBox="1"/>
          <p:nvPr/>
        </p:nvSpPr>
        <p:spPr>
          <a:xfrm>
            <a:off x="548640" y="6144768"/>
            <a:ext cx="11091672" cy="274320"/>
          </a:xfrm>
          <a:prstGeom prst="rect">
            <a:avLst/>
          </a:prstGeom>
          <a:noFill/>
          <a:ln/>
        </p:spPr>
        <p:txBody>
          <a:bodyPr wrap="square" lIns="0" tIns="0" rIns="0" bIns="0" rtlCol="0" anchor="ctr"/>
          <a:lstStyle/>
          <a:p>
            <a:pPr indent="0" marL="0">
              <a:buNone/>
            </a:pPr>
            <a:r>
              <a:rPr lang="en-US" sz="1000" dirty="0">
                <a:solidFill>
                  <a:srgbClr val="9FB3C8"/>
                </a:solidFill>
                <a:latin typeface="Calibri" pitchFamily="34" charset="0"/>
                <a:ea typeface="Calibri" pitchFamily="34" charset="-122"/>
                <a:cs typeface="Calibri" pitchFamily="34" charset="-120"/>
              </a:rPr>
              <a:t>Inactive relationships from dim_date to screening completion, condition onset and app enrollment dates enable “in period” measures via USERELATIONSHIP.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Chronic disease burden is concentrated in the South and rises steeply with age</a:t>
            </a:r>
            <a:endParaRPr lang="en-US" sz="26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50.1% of patients live with diabetes, hypertension or obesity · 18.3% have two or more chronic conditions</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554480"/>
            <a:ext cx="6766560" cy="4480560"/>
          </a:xfrm>
          <a:prstGeom prst="roundRect">
            <a:avLst>
              <a:gd name="adj" fmla="val 2449"/>
            </a:avLst>
          </a:prstGeom>
          <a:solidFill>
            <a:srgbClr val="12294A"/>
          </a:solidFill>
          <a:ln w="9525">
            <a:solidFill>
              <a:srgbClr val="1E3A5F"/>
            </a:solidFill>
            <a:prstDash val="solid"/>
          </a:ln>
        </p:spPr>
      </p:sp>
      <p:sp>
        <p:nvSpPr>
          <p:cNvPr id="7" name="Text 5"/>
          <p:cNvSpPr txBox="1"/>
          <p:nvPr/>
        </p:nvSpPr>
        <p:spPr>
          <a:xfrm>
            <a:off x="777240" y="1645920"/>
            <a:ext cx="4572000" cy="27432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Prevalence by region (%)</a:t>
            </a:r>
            <a:endParaRPr lang="en-US" sz="1250" dirty="0"/>
          </a:p>
        </p:txBody>
      </p:sp>
      <p:graphicFrame>
        <p:nvGraphicFramePr>
          <p:cNvPr id="8" name="Chart 0" descr=""/>
          <p:cNvGraphicFramePr/>
          <p:nvPr/>
        </p:nvGraphicFramePr>
        <p:xfrm>
          <a:off x="685800" y="1965960"/>
          <a:ext cx="6492240" cy="39319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635240" y="1554480"/>
            <a:ext cx="4005072" cy="1005840"/>
          </a:xfrm>
          <a:prstGeom prst="roundRect">
            <a:avLst>
              <a:gd name="adj" fmla="val 10909"/>
            </a:avLst>
          </a:prstGeom>
          <a:solidFill>
            <a:srgbClr val="12294A"/>
          </a:solidFill>
          <a:ln w="9525">
            <a:solidFill>
              <a:srgbClr val="1E3A5F"/>
            </a:solidFill>
            <a:prstDash val="solid"/>
          </a:ln>
        </p:spPr>
      </p:sp>
      <p:sp>
        <p:nvSpPr>
          <p:cNvPr id="10" name="Text 7"/>
          <p:cNvSpPr txBox="1"/>
          <p:nvPr/>
        </p:nvSpPr>
        <p:spPr>
          <a:xfrm>
            <a:off x="7818120" y="1664208"/>
            <a:ext cx="3639312" cy="50292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34.9%</a:t>
            </a:r>
            <a:endParaRPr lang="en-US" sz="3000" dirty="0"/>
          </a:p>
        </p:txBody>
      </p:sp>
      <p:sp>
        <p:nvSpPr>
          <p:cNvPr id="11" name="Text 8"/>
          <p:cNvSpPr txBox="1"/>
          <p:nvPr/>
        </p:nvSpPr>
        <p:spPr>
          <a:xfrm>
            <a:off x="7818120" y="2130552"/>
            <a:ext cx="3639312" cy="241402"/>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Obesity (BMI ≥ 30)</a:t>
            </a:r>
            <a:endParaRPr lang="en-US" sz="1150" dirty="0"/>
          </a:p>
        </p:txBody>
      </p:sp>
      <p:sp>
        <p:nvSpPr>
          <p:cNvPr id="12" name="Text 9"/>
          <p:cNvSpPr txBox="1"/>
          <p:nvPr/>
        </p:nvSpPr>
        <p:spPr>
          <a:xfrm>
            <a:off x="7818120" y="2298802"/>
            <a:ext cx="3639312" cy="221285"/>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39.8% in the South vs 29.1% in the West</a:t>
            </a:r>
            <a:endParaRPr lang="en-US" sz="950" dirty="0"/>
          </a:p>
        </p:txBody>
      </p:sp>
      <p:sp>
        <p:nvSpPr>
          <p:cNvPr id="13" name="Shape 10"/>
          <p:cNvSpPr/>
          <p:nvPr/>
        </p:nvSpPr>
        <p:spPr>
          <a:xfrm>
            <a:off x="7635240" y="2697480"/>
            <a:ext cx="4005072" cy="1005840"/>
          </a:xfrm>
          <a:prstGeom prst="roundRect">
            <a:avLst>
              <a:gd name="adj" fmla="val 10909"/>
            </a:avLst>
          </a:prstGeom>
          <a:solidFill>
            <a:srgbClr val="12294A"/>
          </a:solidFill>
          <a:ln w="9525">
            <a:solidFill>
              <a:srgbClr val="1E3A5F"/>
            </a:solidFill>
            <a:prstDash val="solid"/>
          </a:ln>
        </p:spPr>
      </p:sp>
      <p:sp>
        <p:nvSpPr>
          <p:cNvPr id="14" name="Text 11"/>
          <p:cNvSpPr txBox="1"/>
          <p:nvPr/>
        </p:nvSpPr>
        <p:spPr>
          <a:xfrm>
            <a:off x="7818120" y="2807208"/>
            <a:ext cx="3639312" cy="50292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25.9%</a:t>
            </a:r>
            <a:endParaRPr lang="en-US" sz="3000" dirty="0"/>
          </a:p>
        </p:txBody>
      </p:sp>
      <p:sp>
        <p:nvSpPr>
          <p:cNvPr id="15" name="Text 12"/>
          <p:cNvSpPr txBox="1"/>
          <p:nvPr/>
        </p:nvSpPr>
        <p:spPr>
          <a:xfrm>
            <a:off x="7818120" y="3273552"/>
            <a:ext cx="3639312" cy="241402"/>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Hypertension</a:t>
            </a:r>
            <a:endParaRPr lang="en-US" sz="1150" dirty="0"/>
          </a:p>
        </p:txBody>
      </p:sp>
      <p:sp>
        <p:nvSpPr>
          <p:cNvPr id="16" name="Text 13"/>
          <p:cNvSpPr txBox="1"/>
          <p:nvPr/>
        </p:nvSpPr>
        <p:spPr>
          <a:xfrm>
            <a:off x="7818120" y="3441802"/>
            <a:ext cx="3639312" cy="221285"/>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51.2% controlled (BP &lt; 140/90)</a:t>
            </a:r>
            <a:endParaRPr lang="en-US" sz="950" dirty="0"/>
          </a:p>
        </p:txBody>
      </p:sp>
      <p:sp>
        <p:nvSpPr>
          <p:cNvPr id="17" name="Shape 14"/>
          <p:cNvSpPr/>
          <p:nvPr/>
        </p:nvSpPr>
        <p:spPr>
          <a:xfrm>
            <a:off x="7635240" y="3840480"/>
            <a:ext cx="4005072" cy="1005840"/>
          </a:xfrm>
          <a:prstGeom prst="roundRect">
            <a:avLst>
              <a:gd name="adj" fmla="val 10909"/>
            </a:avLst>
          </a:prstGeom>
          <a:solidFill>
            <a:srgbClr val="12294A"/>
          </a:solidFill>
          <a:ln w="9525">
            <a:solidFill>
              <a:srgbClr val="1E3A5F"/>
            </a:solidFill>
            <a:prstDash val="solid"/>
          </a:ln>
        </p:spPr>
      </p:sp>
      <p:sp>
        <p:nvSpPr>
          <p:cNvPr id="18" name="Text 15"/>
          <p:cNvSpPr txBox="1"/>
          <p:nvPr/>
        </p:nvSpPr>
        <p:spPr>
          <a:xfrm>
            <a:off x="7818120" y="3950208"/>
            <a:ext cx="3639312" cy="50292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12.1%</a:t>
            </a:r>
            <a:endParaRPr lang="en-US" sz="3000" dirty="0"/>
          </a:p>
        </p:txBody>
      </p:sp>
      <p:sp>
        <p:nvSpPr>
          <p:cNvPr id="19" name="Text 16"/>
          <p:cNvSpPr txBox="1"/>
          <p:nvPr/>
        </p:nvSpPr>
        <p:spPr>
          <a:xfrm>
            <a:off x="7818120" y="4416552"/>
            <a:ext cx="3639312" cy="241402"/>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Type 2 diabetes</a:t>
            </a:r>
            <a:endParaRPr lang="en-US" sz="1150" dirty="0"/>
          </a:p>
        </p:txBody>
      </p:sp>
      <p:sp>
        <p:nvSpPr>
          <p:cNvPr id="20" name="Text 17"/>
          <p:cNvSpPr txBox="1"/>
          <p:nvPr/>
        </p:nvSpPr>
        <p:spPr>
          <a:xfrm>
            <a:off x="7818120" y="4584802"/>
            <a:ext cx="3639312" cy="221285"/>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63.2% controlled (HbA1c &lt; 8%)</a:t>
            </a:r>
            <a:endParaRPr lang="en-US" sz="950" dirty="0"/>
          </a:p>
        </p:txBody>
      </p:sp>
      <p:sp>
        <p:nvSpPr>
          <p:cNvPr id="21" name="Shape 18"/>
          <p:cNvSpPr/>
          <p:nvPr/>
        </p:nvSpPr>
        <p:spPr>
          <a:xfrm>
            <a:off x="7635240" y="4983480"/>
            <a:ext cx="4005072" cy="1051560"/>
          </a:xfrm>
          <a:prstGeom prst="roundRect">
            <a:avLst>
              <a:gd name="adj" fmla="val 10435"/>
            </a:avLst>
          </a:prstGeom>
          <a:solidFill>
            <a:srgbClr val="16325C"/>
          </a:solidFill>
          <a:ln w="9525">
            <a:solidFill>
              <a:srgbClr val="1E3A5F"/>
            </a:solidFill>
            <a:prstDash val="solid"/>
          </a:ln>
        </p:spPr>
      </p:sp>
      <p:sp>
        <p:nvSpPr>
          <p:cNvPr id="22" name="Text 19"/>
          <p:cNvSpPr txBox="1"/>
          <p:nvPr/>
        </p:nvSpPr>
        <p:spPr>
          <a:xfrm>
            <a:off x="7818120" y="5029200"/>
            <a:ext cx="3639312" cy="960120"/>
          </a:xfrm>
          <a:prstGeom prst="rect">
            <a:avLst/>
          </a:prstGeom>
          <a:noFill/>
          <a:ln/>
        </p:spPr>
        <p:txBody>
          <a:bodyPr wrap="square" lIns="0" tIns="0"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Age gradient. </a:t>
            </a:r>
            <a:pPr indent="0" marL="0">
              <a:buNone/>
            </a:pPr>
            <a:r>
              <a:rPr lang="en-US" sz="1150" dirty="0">
                <a:solidFill>
                  <a:srgbClr val="C7D2E0"/>
                </a:solidFill>
                <a:latin typeface="Calibri" pitchFamily="34" charset="0"/>
                <a:ea typeface="Calibri" pitchFamily="34" charset="-122"/>
                <a:cs typeface="Calibri" pitchFamily="34" charset="-120"/>
              </a:rPr>
              <a:t>Hypertension climbs from 6.1% of 18–29-year-olds to 78.4% of those 80+; diabetes from 2.8% to 45.7%.</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Screening completion is 65.2% against a 75% target — 102,654 open care gaps</a:t>
            </a:r>
            <a:endParaRPr lang="en-US" sz="26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BP checks and mammography lead; flu vaccination and diabetic eye exams trail. Enrolment is associated with a double-digit lift.</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554480"/>
            <a:ext cx="6766560" cy="4480560"/>
          </a:xfrm>
          <a:prstGeom prst="roundRect">
            <a:avLst>
              <a:gd name="adj" fmla="val 2449"/>
            </a:avLst>
          </a:prstGeom>
          <a:solidFill>
            <a:srgbClr val="12294A"/>
          </a:solidFill>
          <a:ln w="9525">
            <a:solidFill>
              <a:srgbClr val="1E3A5F"/>
            </a:solidFill>
            <a:prstDash val="solid"/>
          </a:ln>
        </p:spPr>
      </p:sp>
      <p:sp>
        <p:nvSpPr>
          <p:cNvPr id="7" name="Text 5"/>
          <p:cNvSpPr txBox="1"/>
          <p:nvPr/>
        </p:nvSpPr>
        <p:spPr>
          <a:xfrm>
            <a:off x="777240" y="1645920"/>
            <a:ext cx="5943600" cy="27432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Completion rate by preventive service (%) — target 75</a:t>
            </a:r>
            <a:endParaRPr lang="en-US" sz="1250" dirty="0"/>
          </a:p>
        </p:txBody>
      </p:sp>
      <p:graphicFrame>
        <p:nvGraphicFramePr>
          <p:cNvPr id="8" name="Chart 0" descr=""/>
          <p:cNvGraphicFramePr/>
          <p:nvPr/>
        </p:nvGraphicFramePr>
        <p:xfrm>
          <a:off x="685800" y="1965960"/>
          <a:ext cx="6492240" cy="39776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635240" y="1554480"/>
            <a:ext cx="1888236" cy="1097280"/>
          </a:xfrm>
          <a:prstGeom prst="roundRect">
            <a:avLst>
              <a:gd name="adj" fmla="val 10000"/>
            </a:avLst>
          </a:prstGeom>
          <a:solidFill>
            <a:srgbClr val="12294A"/>
          </a:solidFill>
          <a:ln w="9525">
            <a:solidFill>
              <a:srgbClr val="1E3A5F"/>
            </a:solidFill>
            <a:prstDash val="solid"/>
          </a:ln>
        </p:spPr>
      </p:sp>
      <p:sp>
        <p:nvSpPr>
          <p:cNvPr id="10" name="Text 7"/>
          <p:cNvSpPr txBox="1"/>
          <p:nvPr/>
        </p:nvSpPr>
        <p:spPr>
          <a:xfrm>
            <a:off x="7818120" y="1664208"/>
            <a:ext cx="1522476" cy="54864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69.6%</a:t>
            </a:r>
            <a:endParaRPr lang="en-US" sz="3000" dirty="0"/>
          </a:p>
        </p:txBody>
      </p:sp>
      <p:sp>
        <p:nvSpPr>
          <p:cNvPr id="11" name="Text 8"/>
          <p:cNvSpPr txBox="1"/>
          <p:nvPr/>
        </p:nvSpPr>
        <p:spPr>
          <a:xfrm>
            <a:off x="7818120" y="2176272"/>
            <a:ext cx="1522476" cy="263347"/>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App-enrolled</a:t>
            </a:r>
            <a:endParaRPr lang="en-US" sz="1150" dirty="0"/>
          </a:p>
        </p:txBody>
      </p:sp>
      <p:sp>
        <p:nvSpPr>
          <p:cNvPr id="12" name="Text 9"/>
          <p:cNvSpPr txBox="1"/>
          <p:nvPr/>
        </p:nvSpPr>
        <p:spPr>
          <a:xfrm>
            <a:off x="7818120" y="2366467"/>
            <a:ext cx="1522476" cy="241402"/>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screening rate</a:t>
            </a:r>
            <a:endParaRPr lang="en-US" sz="950" dirty="0"/>
          </a:p>
        </p:txBody>
      </p:sp>
      <p:sp>
        <p:nvSpPr>
          <p:cNvPr id="13" name="Shape 10"/>
          <p:cNvSpPr/>
          <p:nvPr/>
        </p:nvSpPr>
        <p:spPr>
          <a:xfrm>
            <a:off x="9752076" y="1554480"/>
            <a:ext cx="1888236" cy="1097280"/>
          </a:xfrm>
          <a:prstGeom prst="roundRect">
            <a:avLst>
              <a:gd name="adj" fmla="val 10000"/>
            </a:avLst>
          </a:prstGeom>
          <a:solidFill>
            <a:srgbClr val="12294A"/>
          </a:solidFill>
          <a:ln w="9525">
            <a:solidFill>
              <a:srgbClr val="1E3A5F"/>
            </a:solidFill>
            <a:prstDash val="solid"/>
          </a:ln>
        </p:spPr>
      </p:sp>
      <p:sp>
        <p:nvSpPr>
          <p:cNvPr id="14" name="Text 11"/>
          <p:cNvSpPr txBox="1"/>
          <p:nvPr/>
        </p:nvSpPr>
        <p:spPr>
          <a:xfrm>
            <a:off x="9934956" y="1664208"/>
            <a:ext cx="1522476" cy="548640"/>
          </a:xfrm>
          <a:prstGeom prst="rect">
            <a:avLst/>
          </a:prstGeom>
          <a:noFill/>
          <a:ln/>
        </p:spPr>
        <p:txBody>
          <a:bodyPr wrap="square" lIns="0" tIns="0" rIns="0" bIns="0" rtlCol="0" anchor="ctr"/>
          <a:lstStyle/>
          <a:p>
            <a:pPr indent="0" marL="0">
              <a:buNone/>
            </a:pPr>
            <a:r>
              <a:rPr lang="en-US" sz="3000" b="1" dirty="0">
                <a:solidFill>
                  <a:srgbClr val="9FB3C8"/>
                </a:solidFill>
                <a:latin typeface="Calibri" pitchFamily="34" charset="0"/>
                <a:ea typeface="Calibri" pitchFamily="34" charset="-122"/>
                <a:cs typeface="Calibri" pitchFamily="34" charset="-120"/>
              </a:rPr>
              <a:t>56.9%</a:t>
            </a:r>
            <a:endParaRPr lang="en-US" sz="3000" dirty="0"/>
          </a:p>
        </p:txBody>
      </p:sp>
      <p:sp>
        <p:nvSpPr>
          <p:cNvPr id="15" name="Text 12"/>
          <p:cNvSpPr txBox="1"/>
          <p:nvPr/>
        </p:nvSpPr>
        <p:spPr>
          <a:xfrm>
            <a:off x="9934956" y="2176272"/>
            <a:ext cx="1522476" cy="263347"/>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Not enrolled</a:t>
            </a:r>
            <a:endParaRPr lang="en-US" sz="1150" dirty="0"/>
          </a:p>
        </p:txBody>
      </p:sp>
      <p:sp>
        <p:nvSpPr>
          <p:cNvPr id="16" name="Text 13"/>
          <p:cNvSpPr txBox="1"/>
          <p:nvPr/>
        </p:nvSpPr>
        <p:spPr>
          <a:xfrm>
            <a:off x="9934956" y="2366467"/>
            <a:ext cx="1522476" cy="241402"/>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screening rate</a:t>
            </a:r>
            <a:endParaRPr lang="en-US" sz="950" dirty="0"/>
          </a:p>
        </p:txBody>
      </p:sp>
      <p:sp>
        <p:nvSpPr>
          <p:cNvPr id="17" name="Shape 14"/>
          <p:cNvSpPr/>
          <p:nvPr/>
        </p:nvSpPr>
        <p:spPr>
          <a:xfrm>
            <a:off x="7635240" y="2788920"/>
            <a:ext cx="4005072" cy="1097280"/>
          </a:xfrm>
          <a:prstGeom prst="roundRect">
            <a:avLst>
              <a:gd name="adj" fmla="val 10000"/>
            </a:avLst>
          </a:prstGeom>
          <a:solidFill>
            <a:srgbClr val="12294A"/>
          </a:solidFill>
          <a:ln w="9525">
            <a:solidFill>
              <a:srgbClr val="1E3A5F"/>
            </a:solidFill>
            <a:prstDash val="solid"/>
          </a:ln>
        </p:spPr>
      </p:sp>
      <p:sp>
        <p:nvSpPr>
          <p:cNvPr id="18" name="Text 15"/>
          <p:cNvSpPr txBox="1"/>
          <p:nvPr/>
        </p:nvSpPr>
        <p:spPr>
          <a:xfrm>
            <a:off x="7818120" y="2898648"/>
            <a:ext cx="3639312" cy="54864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+12.7 pts</a:t>
            </a:r>
            <a:endParaRPr lang="en-US" sz="3000" dirty="0"/>
          </a:p>
        </p:txBody>
      </p:sp>
      <p:sp>
        <p:nvSpPr>
          <p:cNvPr id="19" name="Text 16"/>
          <p:cNvSpPr txBox="1"/>
          <p:nvPr/>
        </p:nvSpPr>
        <p:spPr>
          <a:xfrm>
            <a:off x="7818120" y="3410712"/>
            <a:ext cx="3639312" cy="263347"/>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Digital engagement lift</a:t>
            </a:r>
            <a:endParaRPr lang="en-US" sz="1150" dirty="0"/>
          </a:p>
        </p:txBody>
      </p:sp>
      <p:sp>
        <p:nvSpPr>
          <p:cNvPr id="20" name="Text 17"/>
          <p:cNvSpPr txBox="1"/>
          <p:nvPr/>
        </p:nvSpPr>
        <p:spPr>
          <a:xfrm>
            <a:off x="7818120" y="3600907"/>
            <a:ext cx="3639312" cy="241402"/>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association, not causation</a:t>
            </a:r>
            <a:endParaRPr lang="en-US" sz="950" dirty="0"/>
          </a:p>
        </p:txBody>
      </p:sp>
      <p:sp>
        <p:nvSpPr>
          <p:cNvPr id="21" name="Shape 18"/>
          <p:cNvSpPr/>
          <p:nvPr/>
        </p:nvSpPr>
        <p:spPr>
          <a:xfrm>
            <a:off x="7635240" y="4023360"/>
            <a:ext cx="4005072" cy="2011680"/>
          </a:xfrm>
          <a:prstGeom prst="roundRect">
            <a:avLst>
              <a:gd name="adj" fmla="val 5455"/>
            </a:avLst>
          </a:prstGeom>
          <a:solidFill>
            <a:srgbClr val="16325C"/>
          </a:solidFill>
          <a:ln w="9525">
            <a:solidFill>
              <a:srgbClr val="1E3A5F"/>
            </a:solidFill>
            <a:prstDash val="solid"/>
          </a:ln>
        </p:spPr>
      </p:sp>
      <p:sp>
        <p:nvSpPr>
          <p:cNvPr id="22" name="Text 19"/>
          <p:cNvSpPr txBox="1"/>
          <p:nvPr/>
        </p:nvSpPr>
        <p:spPr>
          <a:xfrm>
            <a:off x="7818120" y="4087368"/>
            <a:ext cx="3639312" cy="274320"/>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Regional spread</a:t>
            </a:r>
            <a:endParaRPr lang="en-US" sz="1200" dirty="0"/>
          </a:p>
        </p:txBody>
      </p:sp>
      <p:sp>
        <p:nvSpPr>
          <p:cNvPr id="23" name="Text 20"/>
          <p:cNvSpPr txBox="1"/>
          <p:nvPr/>
        </p:nvSpPr>
        <p:spPr>
          <a:xfrm>
            <a:off x="7818120" y="4434840"/>
            <a:ext cx="1188720" cy="274320"/>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Northeast</a:t>
            </a:r>
            <a:endParaRPr lang="en-US" sz="1100" dirty="0"/>
          </a:p>
        </p:txBody>
      </p:sp>
      <p:sp>
        <p:nvSpPr>
          <p:cNvPr id="24" name="Shape 21"/>
          <p:cNvSpPr/>
          <p:nvPr/>
        </p:nvSpPr>
        <p:spPr>
          <a:xfrm>
            <a:off x="9006840" y="4498848"/>
            <a:ext cx="1170267" cy="146304"/>
          </a:xfrm>
          <a:prstGeom prst="rect">
            <a:avLst/>
          </a:prstGeom>
          <a:solidFill>
            <a:srgbClr val="0D9488"/>
          </a:solidFill>
          <a:ln w="12700">
            <a:solidFill>
              <a:srgbClr val="16325C"/>
            </a:solidFill>
            <a:prstDash val="solid"/>
          </a:ln>
        </p:spPr>
      </p:sp>
      <p:sp>
        <p:nvSpPr>
          <p:cNvPr id="25" name="Text 22"/>
          <p:cNvSpPr txBox="1"/>
          <p:nvPr/>
        </p:nvSpPr>
        <p:spPr>
          <a:xfrm>
            <a:off x="10771632" y="4434840"/>
            <a:ext cx="685800" cy="274320"/>
          </a:xfrm>
          <a:prstGeom prst="rect">
            <a:avLst/>
          </a:prstGeom>
          <a:noFill/>
          <a:ln/>
        </p:spPr>
        <p:txBody>
          <a:bodyPr wrap="square" lIns="0" tIns="0" rIns="0" bIns="0" rtlCol="0" anchor="ctr"/>
          <a:lstStyle/>
          <a:p>
            <a:pPr algn="r" indent="0" marL="0">
              <a:buNone/>
            </a:pPr>
            <a:r>
              <a:rPr lang="en-US" sz="1100" dirty="0">
                <a:solidFill>
                  <a:srgbClr val="F5F7FA"/>
                </a:solidFill>
                <a:latin typeface="Calibri" pitchFamily="34" charset="0"/>
                <a:ea typeface="Calibri" pitchFamily="34" charset="-122"/>
                <a:cs typeface="Calibri" pitchFamily="34" charset="-120"/>
              </a:rPr>
              <a:t>71.9%</a:t>
            </a:r>
            <a:endParaRPr lang="en-US" sz="1100" dirty="0"/>
          </a:p>
        </p:txBody>
      </p:sp>
      <p:sp>
        <p:nvSpPr>
          <p:cNvPr id="26" name="Text 23"/>
          <p:cNvSpPr txBox="1"/>
          <p:nvPr/>
        </p:nvSpPr>
        <p:spPr>
          <a:xfrm>
            <a:off x="7818120" y="4809744"/>
            <a:ext cx="1188720" cy="274320"/>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West</a:t>
            </a:r>
            <a:endParaRPr lang="en-US" sz="1100" dirty="0"/>
          </a:p>
        </p:txBody>
      </p:sp>
      <p:sp>
        <p:nvSpPr>
          <p:cNvPr id="27" name="Shape 24"/>
          <p:cNvSpPr/>
          <p:nvPr/>
        </p:nvSpPr>
        <p:spPr>
          <a:xfrm>
            <a:off x="9006840" y="4873752"/>
            <a:ext cx="1084003" cy="146304"/>
          </a:xfrm>
          <a:prstGeom prst="rect">
            <a:avLst/>
          </a:prstGeom>
          <a:solidFill>
            <a:srgbClr val="3B82F6"/>
          </a:solidFill>
          <a:ln w="12700">
            <a:solidFill>
              <a:srgbClr val="16325C"/>
            </a:solidFill>
            <a:prstDash val="solid"/>
          </a:ln>
        </p:spPr>
      </p:sp>
      <p:sp>
        <p:nvSpPr>
          <p:cNvPr id="28" name="Text 25"/>
          <p:cNvSpPr txBox="1"/>
          <p:nvPr/>
        </p:nvSpPr>
        <p:spPr>
          <a:xfrm>
            <a:off x="10771632" y="4809744"/>
            <a:ext cx="685800" cy="274320"/>
          </a:xfrm>
          <a:prstGeom prst="rect">
            <a:avLst/>
          </a:prstGeom>
          <a:noFill/>
          <a:ln/>
        </p:spPr>
        <p:txBody>
          <a:bodyPr wrap="square" lIns="0" tIns="0" rIns="0" bIns="0" rtlCol="0" anchor="ctr"/>
          <a:lstStyle/>
          <a:p>
            <a:pPr algn="r" indent="0" marL="0">
              <a:buNone/>
            </a:pPr>
            <a:r>
              <a:rPr lang="en-US" sz="1100" dirty="0">
                <a:solidFill>
                  <a:srgbClr val="F5F7FA"/>
                </a:solidFill>
                <a:latin typeface="Calibri" pitchFamily="34" charset="0"/>
                <a:ea typeface="Calibri" pitchFamily="34" charset="-122"/>
                <a:cs typeface="Calibri" pitchFamily="34" charset="-120"/>
              </a:rPr>
              <a:t>66.6%</a:t>
            </a:r>
            <a:endParaRPr lang="en-US" sz="1100" dirty="0"/>
          </a:p>
        </p:txBody>
      </p:sp>
      <p:sp>
        <p:nvSpPr>
          <p:cNvPr id="29" name="Text 26"/>
          <p:cNvSpPr txBox="1"/>
          <p:nvPr/>
        </p:nvSpPr>
        <p:spPr>
          <a:xfrm>
            <a:off x="7818120" y="5184648"/>
            <a:ext cx="1188720" cy="274320"/>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Midwest</a:t>
            </a:r>
            <a:endParaRPr lang="en-US" sz="1100" dirty="0"/>
          </a:p>
        </p:txBody>
      </p:sp>
      <p:sp>
        <p:nvSpPr>
          <p:cNvPr id="30" name="Shape 27"/>
          <p:cNvSpPr/>
          <p:nvPr/>
        </p:nvSpPr>
        <p:spPr>
          <a:xfrm>
            <a:off x="9006840" y="5248656"/>
            <a:ext cx="1070982" cy="146304"/>
          </a:xfrm>
          <a:prstGeom prst="rect">
            <a:avLst/>
          </a:prstGeom>
          <a:solidFill>
            <a:srgbClr val="3B82F6"/>
          </a:solidFill>
          <a:ln w="12700">
            <a:solidFill>
              <a:srgbClr val="16325C"/>
            </a:solidFill>
            <a:prstDash val="solid"/>
          </a:ln>
        </p:spPr>
      </p:sp>
      <p:sp>
        <p:nvSpPr>
          <p:cNvPr id="31" name="Text 28"/>
          <p:cNvSpPr txBox="1"/>
          <p:nvPr/>
        </p:nvSpPr>
        <p:spPr>
          <a:xfrm>
            <a:off x="10771632" y="5184648"/>
            <a:ext cx="685800" cy="274320"/>
          </a:xfrm>
          <a:prstGeom prst="rect">
            <a:avLst/>
          </a:prstGeom>
          <a:noFill/>
          <a:ln/>
        </p:spPr>
        <p:txBody>
          <a:bodyPr wrap="square" lIns="0" tIns="0" rIns="0" bIns="0" rtlCol="0" anchor="ctr"/>
          <a:lstStyle/>
          <a:p>
            <a:pPr algn="r" indent="0" marL="0">
              <a:buNone/>
            </a:pPr>
            <a:r>
              <a:rPr lang="en-US" sz="1100" dirty="0">
                <a:solidFill>
                  <a:srgbClr val="F5F7FA"/>
                </a:solidFill>
                <a:latin typeface="Calibri" pitchFamily="34" charset="0"/>
                <a:ea typeface="Calibri" pitchFamily="34" charset="-122"/>
                <a:cs typeface="Calibri" pitchFamily="34" charset="-120"/>
              </a:rPr>
              <a:t>65.8%</a:t>
            </a:r>
            <a:endParaRPr lang="en-US" sz="1100" dirty="0"/>
          </a:p>
        </p:txBody>
      </p:sp>
      <p:sp>
        <p:nvSpPr>
          <p:cNvPr id="32" name="Text 29"/>
          <p:cNvSpPr txBox="1"/>
          <p:nvPr/>
        </p:nvSpPr>
        <p:spPr>
          <a:xfrm>
            <a:off x="7818120" y="5559552"/>
            <a:ext cx="1188720" cy="274320"/>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South</a:t>
            </a:r>
            <a:endParaRPr lang="en-US" sz="1100" dirty="0"/>
          </a:p>
        </p:txBody>
      </p:sp>
      <p:sp>
        <p:nvSpPr>
          <p:cNvPr id="33" name="Shape 30"/>
          <p:cNvSpPr/>
          <p:nvPr/>
        </p:nvSpPr>
        <p:spPr>
          <a:xfrm>
            <a:off x="9006840" y="5623560"/>
            <a:ext cx="992856" cy="146304"/>
          </a:xfrm>
          <a:prstGeom prst="rect">
            <a:avLst/>
          </a:prstGeom>
          <a:solidFill>
            <a:srgbClr val="D97706"/>
          </a:solidFill>
          <a:ln w="12700">
            <a:solidFill>
              <a:srgbClr val="16325C"/>
            </a:solidFill>
            <a:prstDash val="solid"/>
          </a:ln>
        </p:spPr>
      </p:sp>
      <p:sp>
        <p:nvSpPr>
          <p:cNvPr id="34" name="Text 31"/>
          <p:cNvSpPr txBox="1"/>
          <p:nvPr/>
        </p:nvSpPr>
        <p:spPr>
          <a:xfrm>
            <a:off x="10771632" y="5559552"/>
            <a:ext cx="685800" cy="274320"/>
          </a:xfrm>
          <a:prstGeom prst="rect">
            <a:avLst/>
          </a:prstGeom>
          <a:noFill/>
          <a:ln/>
        </p:spPr>
        <p:txBody>
          <a:bodyPr wrap="square" lIns="0" tIns="0" rIns="0" bIns="0" rtlCol="0" anchor="ctr"/>
          <a:lstStyle/>
          <a:p>
            <a:pPr algn="r" indent="0" marL="0">
              <a:buNone/>
            </a:pPr>
            <a:r>
              <a:rPr lang="en-US" sz="1100" dirty="0">
                <a:solidFill>
                  <a:srgbClr val="F5F7FA"/>
                </a:solidFill>
                <a:latin typeface="Calibri" pitchFamily="34" charset="0"/>
                <a:ea typeface="Calibri" pitchFamily="34" charset="-122"/>
                <a:cs typeface="Calibri" pitchFamily="34" charset="-120"/>
              </a:rPr>
              <a:t>61.0%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Digital engagement more than doubled through the year — and it converts to care actions</a:t>
            </a:r>
            <a:endParaRPr lang="en-US" sz="26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66.5% of patients enrolled · 56.1% of enrolled active in 3+ months · 26,515 appointments booked in-app</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554480"/>
            <a:ext cx="6766560" cy="4480560"/>
          </a:xfrm>
          <a:prstGeom prst="roundRect">
            <a:avLst>
              <a:gd name="adj" fmla="val 2449"/>
            </a:avLst>
          </a:prstGeom>
          <a:solidFill>
            <a:srgbClr val="12294A"/>
          </a:solidFill>
          <a:ln w="9525">
            <a:solidFill>
              <a:srgbClr val="1E3A5F"/>
            </a:solidFill>
            <a:prstDash val="solid"/>
          </a:ln>
        </p:spPr>
      </p:sp>
      <p:sp>
        <p:nvSpPr>
          <p:cNvPr id="7" name="Text 5"/>
          <p:cNvSpPr txBox="1"/>
          <p:nvPr/>
        </p:nvSpPr>
        <p:spPr>
          <a:xfrm>
            <a:off x="777240" y="1645920"/>
            <a:ext cx="4572000" cy="27432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Monthly active users, 2025</a:t>
            </a:r>
            <a:endParaRPr lang="en-US" sz="1250" dirty="0"/>
          </a:p>
        </p:txBody>
      </p:sp>
      <p:graphicFrame>
        <p:nvGraphicFramePr>
          <p:cNvPr id="8" name="Chart 0" descr=""/>
          <p:cNvGraphicFramePr/>
          <p:nvPr/>
        </p:nvGraphicFramePr>
        <p:xfrm>
          <a:off x="685800" y="1965960"/>
          <a:ext cx="6492240" cy="3977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669280" y="2057400"/>
            <a:ext cx="1463040" cy="365760"/>
          </a:xfrm>
          <a:prstGeom prst="rect">
            <a:avLst/>
          </a:prstGeom>
          <a:noFill/>
          <a:ln/>
        </p:spPr>
        <p:txBody>
          <a:bodyPr wrap="square" lIns="0" tIns="0" rIns="0" bIns="0" rtlCol="0" anchor="ctr"/>
          <a:lstStyle/>
          <a:p>
            <a:pPr algn="r" indent="0" marL="0">
              <a:buNone/>
            </a:pPr>
            <a:r>
              <a:rPr lang="en-US" sz="1600" b="1" dirty="0">
                <a:solidFill>
                  <a:srgbClr val="2DD4BF"/>
                </a:solidFill>
                <a:latin typeface="Calibri" pitchFamily="34" charset="0"/>
                <a:ea typeface="Calibri" pitchFamily="34" charset="-122"/>
                <a:cs typeface="Calibri" pitchFamily="34" charset="-120"/>
              </a:rPr>
              <a:t>16,452</a:t>
            </a:r>
            <a:endParaRPr lang="en-US" sz="1600" dirty="0"/>
          </a:p>
        </p:txBody>
      </p:sp>
      <p:sp>
        <p:nvSpPr>
          <p:cNvPr id="10" name="Text 7"/>
          <p:cNvSpPr txBox="1"/>
          <p:nvPr/>
        </p:nvSpPr>
        <p:spPr>
          <a:xfrm>
            <a:off x="5669280" y="2395728"/>
            <a:ext cx="1463040" cy="274320"/>
          </a:xfrm>
          <a:prstGeom prst="rect">
            <a:avLst/>
          </a:prstGeom>
          <a:noFill/>
          <a:ln/>
        </p:spPr>
        <p:txBody>
          <a:bodyPr wrap="square" lIns="0" tIns="0" rIns="0" bIns="0" rtlCol="0" anchor="ctr"/>
          <a:lstStyle/>
          <a:p>
            <a:pPr algn="r" indent="0" marL="0">
              <a:buNone/>
            </a:pPr>
            <a:r>
              <a:rPr lang="en-US" sz="950" dirty="0">
                <a:solidFill>
                  <a:srgbClr val="9FB3C8"/>
                </a:solidFill>
                <a:latin typeface="Calibri" pitchFamily="34" charset="0"/>
                <a:ea typeface="Calibri" pitchFamily="34" charset="-122"/>
                <a:cs typeface="Calibri" pitchFamily="34" charset="-120"/>
              </a:rPr>
              <a:t>December MAU</a:t>
            </a:r>
            <a:endParaRPr lang="en-US" sz="950" dirty="0"/>
          </a:p>
        </p:txBody>
      </p:sp>
      <p:sp>
        <p:nvSpPr>
          <p:cNvPr id="11" name="Shape 8"/>
          <p:cNvSpPr/>
          <p:nvPr/>
        </p:nvSpPr>
        <p:spPr>
          <a:xfrm>
            <a:off x="7635240" y="1554480"/>
            <a:ext cx="1888236" cy="1097280"/>
          </a:xfrm>
          <a:prstGeom prst="roundRect">
            <a:avLst>
              <a:gd name="adj" fmla="val 10000"/>
            </a:avLst>
          </a:prstGeom>
          <a:solidFill>
            <a:srgbClr val="12294A"/>
          </a:solidFill>
          <a:ln w="9525">
            <a:solidFill>
              <a:srgbClr val="1E3A5F"/>
            </a:solidFill>
            <a:prstDash val="solid"/>
          </a:ln>
        </p:spPr>
      </p:sp>
      <p:sp>
        <p:nvSpPr>
          <p:cNvPr id="12" name="Text 9"/>
          <p:cNvSpPr txBox="1"/>
          <p:nvPr/>
        </p:nvSpPr>
        <p:spPr>
          <a:xfrm>
            <a:off x="7818120" y="1664208"/>
            <a:ext cx="1522476" cy="54864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66.5%</a:t>
            </a:r>
            <a:endParaRPr lang="en-US" sz="3000" dirty="0"/>
          </a:p>
        </p:txBody>
      </p:sp>
      <p:sp>
        <p:nvSpPr>
          <p:cNvPr id="13" name="Text 10"/>
          <p:cNvSpPr txBox="1"/>
          <p:nvPr/>
        </p:nvSpPr>
        <p:spPr>
          <a:xfrm>
            <a:off x="7818120" y="2176272"/>
            <a:ext cx="1522476" cy="263347"/>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Enrollment rate</a:t>
            </a:r>
            <a:endParaRPr lang="en-US" sz="1150" dirty="0"/>
          </a:p>
        </p:txBody>
      </p:sp>
      <p:sp>
        <p:nvSpPr>
          <p:cNvPr id="14" name="Text 11"/>
          <p:cNvSpPr txBox="1"/>
          <p:nvPr/>
        </p:nvSpPr>
        <p:spPr>
          <a:xfrm>
            <a:off x="7818120" y="2366467"/>
            <a:ext cx="1522476" cy="241402"/>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of attributed patients</a:t>
            </a:r>
            <a:endParaRPr lang="en-US" sz="950" dirty="0"/>
          </a:p>
        </p:txBody>
      </p:sp>
      <p:sp>
        <p:nvSpPr>
          <p:cNvPr id="15" name="Shape 12"/>
          <p:cNvSpPr/>
          <p:nvPr/>
        </p:nvSpPr>
        <p:spPr>
          <a:xfrm>
            <a:off x="9752076" y="1554480"/>
            <a:ext cx="1888236" cy="1097280"/>
          </a:xfrm>
          <a:prstGeom prst="roundRect">
            <a:avLst>
              <a:gd name="adj" fmla="val 10000"/>
            </a:avLst>
          </a:prstGeom>
          <a:solidFill>
            <a:srgbClr val="12294A"/>
          </a:solidFill>
          <a:ln w="9525">
            <a:solidFill>
              <a:srgbClr val="1E3A5F"/>
            </a:solidFill>
            <a:prstDash val="solid"/>
          </a:ln>
        </p:spPr>
      </p:sp>
      <p:sp>
        <p:nvSpPr>
          <p:cNvPr id="16" name="Text 13"/>
          <p:cNvSpPr txBox="1"/>
          <p:nvPr/>
        </p:nvSpPr>
        <p:spPr>
          <a:xfrm>
            <a:off x="9934956" y="1664208"/>
            <a:ext cx="1522476" cy="54864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56.1%</a:t>
            </a:r>
            <a:endParaRPr lang="en-US" sz="3000" dirty="0"/>
          </a:p>
        </p:txBody>
      </p:sp>
      <p:sp>
        <p:nvSpPr>
          <p:cNvPr id="17" name="Text 14"/>
          <p:cNvSpPr txBox="1"/>
          <p:nvPr/>
        </p:nvSpPr>
        <p:spPr>
          <a:xfrm>
            <a:off x="9934956" y="2176272"/>
            <a:ext cx="1522476" cy="263347"/>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Engagement rate</a:t>
            </a:r>
            <a:endParaRPr lang="en-US" sz="1150" dirty="0"/>
          </a:p>
        </p:txBody>
      </p:sp>
      <p:sp>
        <p:nvSpPr>
          <p:cNvPr id="18" name="Text 15"/>
          <p:cNvSpPr txBox="1"/>
          <p:nvPr/>
        </p:nvSpPr>
        <p:spPr>
          <a:xfrm>
            <a:off x="9934956" y="2366467"/>
            <a:ext cx="1522476" cy="241402"/>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active ÷ enrolled</a:t>
            </a:r>
            <a:endParaRPr lang="en-US" sz="950" dirty="0"/>
          </a:p>
        </p:txBody>
      </p:sp>
      <p:sp>
        <p:nvSpPr>
          <p:cNvPr id="19" name="Shape 16"/>
          <p:cNvSpPr/>
          <p:nvPr/>
        </p:nvSpPr>
        <p:spPr>
          <a:xfrm>
            <a:off x="7635240" y="2788920"/>
            <a:ext cx="1888236" cy="1097280"/>
          </a:xfrm>
          <a:prstGeom prst="roundRect">
            <a:avLst>
              <a:gd name="adj" fmla="val 10000"/>
            </a:avLst>
          </a:prstGeom>
          <a:solidFill>
            <a:srgbClr val="12294A"/>
          </a:solidFill>
          <a:ln w="9525">
            <a:solidFill>
              <a:srgbClr val="1E3A5F"/>
            </a:solidFill>
            <a:prstDash val="solid"/>
          </a:ln>
        </p:spPr>
      </p:sp>
      <p:sp>
        <p:nvSpPr>
          <p:cNvPr id="20" name="Text 17"/>
          <p:cNvSpPr txBox="1"/>
          <p:nvPr/>
        </p:nvSpPr>
        <p:spPr>
          <a:xfrm>
            <a:off x="7818120" y="2898648"/>
            <a:ext cx="1522476" cy="54864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70.6%</a:t>
            </a:r>
            <a:endParaRPr lang="en-US" sz="3000" dirty="0"/>
          </a:p>
        </p:txBody>
      </p:sp>
      <p:sp>
        <p:nvSpPr>
          <p:cNvPr id="21" name="Text 18"/>
          <p:cNvSpPr txBox="1"/>
          <p:nvPr/>
        </p:nvSpPr>
        <p:spPr>
          <a:xfrm>
            <a:off x="7818120" y="3410712"/>
            <a:ext cx="1522476" cy="263347"/>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Reminder ack rate</a:t>
            </a:r>
            <a:endParaRPr lang="en-US" sz="1150" dirty="0"/>
          </a:p>
        </p:txBody>
      </p:sp>
      <p:sp>
        <p:nvSpPr>
          <p:cNvPr id="22" name="Text 19"/>
          <p:cNvSpPr txBox="1"/>
          <p:nvPr/>
        </p:nvSpPr>
        <p:spPr>
          <a:xfrm>
            <a:off x="7818120" y="3600907"/>
            <a:ext cx="1522476" cy="241402"/>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medication reminders</a:t>
            </a:r>
            <a:endParaRPr lang="en-US" sz="950" dirty="0"/>
          </a:p>
        </p:txBody>
      </p:sp>
      <p:sp>
        <p:nvSpPr>
          <p:cNvPr id="23" name="Shape 20"/>
          <p:cNvSpPr/>
          <p:nvPr/>
        </p:nvSpPr>
        <p:spPr>
          <a:xfrm>
            <a:off x="9752076" y="2788920"/>
            <a:ext cx="1888236" cy="1097280"/>
          </a:xfrm>
          <a:prstGeom prst="roundRect">
            <a:avLst>
              <a:gd name="adj" fmla="val 10000"/>
            </a:avLst>
          </a:prstGeom>
          <a:solidFill>
            <a:srgbClr val="12294A"/>
          </a:solidFill>
          <a:ln w="9525">
            <a:solidFill>
              <a:srgbClr val="1E3A5F"/>
            </a:solidFill>
            <a:prstDash val="solid"/>
          </a:ln>
        </p:spPr>
      </p:sp>
      <p:sp>
        <p:nvSpPr>
          <p:cNvPr id="24" name="Text 21"/>
          <p:cNvSpPr txBox="1"/>
          <p:nvPr/>
        </p:nvSpPr>
        <p:spPr>
          <a:xfrm>
            <a:off x="9934956" y="2898648"/>
            <a:ext cx="1522476" cy="54864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15.3%</a:t>
            </a:r>
            <a:endParaRPr lang="en-US" sz="3000" dirty="0"/>
          </a:p>
        </p:txBody>
      </p:sp>
      <p:sp>
        <p:nvSpPr>
          <p:cNvPr id="25" name="Text 22"/>
          <p:cNvSpPr txBox="1"/>
          <p:nvPr/>
        </p:nvSpPr>
        <p:spPr>
          <a:xfrm>
            <a:off x="9934956" y="3410712"/>
            <a:ext cx="1522476" cy="263347"/>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Dormant</a:t>
            </a:r>
            <a:endParaRPr lang="en-US" sz="1150" dirty="0"/>
          </a:p>
        </p:txBody>
      </p:sp>
      <p:sp>
        <p:nvSpPr>
          <p:cNvPr id="26" name="Text 23"/>
          <p:cNvSpPr txBox="1"/>
          <p:nvPr/>
        </p:nvSpPr>
        <p:spPr>
          <a:xfrm>
            <a:off x="9934956" y="3600907"/>
            <a:ext cx="1522476" cy="241402"/>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enrolled, no activity</a:t>
            </a:r>
            <a:endParaRPr lang="en-US" sz="950" dirty="0"/>
          </a:p>
        </p:txBody>
      </p:sp>
      <p:sp>
        <p:nvSpPr>
          <p:cNvPr id="27" name="Shape 24"/>
          <p:cNvSpPr/>
          <p:nvPr/>
        </p:nvSpPr>
        <p:spPr>
          <a:xfrm>
            <a:off x="7635240" y="4023360"/>
            <a:ext cx="4005072" cy="2011680"/>
          </a:xfrm>
          <a:prstGeom prst="roundRect">
            <a:avLst>
              <a:gd name="adj" fmla="val 5455"/>
            </a:avLst>
          </a:prstGeom>
          <a:solidFill>
            <a:srgbClr val="16325C"/>
          </a:solidFill>
          <a:ln w="9525">
            <a:solidFill>
              <a:srgbClr val="1E3A5F"/>
            </a:solidFill>
            <a:prstDash val="solid"/>
          </a:ln>
        </p:spPr>
      </p:sp>
      <p:sp>
        <p:nvSpPr>
          <p:cNvPr id="28" name="Text 25"/>
          <p:cNvSpPr txBox="1"/>
          <p:nvPr/>
        </p:nvSpPr>
        <p:spPr>
          <a:xfrm>
            <a:off x="7818120" y="4087368"/>
            <a:ext cx="3639312" cy="274320"/>
          </a:xfrm>
          <a:prstGeom prst="rect">
            <a:avLst/>
          </a:prstGeom>
          <a:noFill/>
          <a:ln/>
        </p:spPr>
        <p:txBody>
          <a:bodyPr wrap="square" lIns="0" tIns="0"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Engagement segments, % of population</a:t>
            </a:r>
            <a:endParaRPr lang="en-US" sz="1150" dirty="0"/>
          </a:p>
        </p:txBody>
      </p:sp>
      <p:sp>
        <p:nvSpPr>
          <p:cNvPr id="29" name="Shape 26"/>
          <p:cNvSpPr/>
          <p:nvPr/>
        </p:nvSpPr>
        <p:spPr>
          <a:xfrm>
            <a:off x="7818120" y="4480560"/>
            <a:ext cx="1330031" cy="384048"/>
          </a:xfrm>
          <a:prstGeom prst="rect">
            <a:avLst/>
          </a:prstGeom>
          <a:solidFill>
            <a:srgbClr val="0D9488"/>
          </a:solidFill>
          <a:ln w="12700">
            <a:solidFill>
              <a:srgbClr val="16325C"/>
            </a:solidFill>
            <a:prstDash val="solid"/>
          </a:ln>
        </p:spPr>
      </p:sp>
      <p:sp>
        <p:nvSpPr>
          <p:cNvPr id="30" name="Shape 27"/>
          <p:cNvSpPr/>
          <p:nvPr/>
        </p:nvSpPr>
        <p:spPr>
          <a:xfrm>
            <a:off x="9175583" y="4480560"/>
            <a:ext cx="664037" cy="384048"/>
          </a:xfrm>
          <a:prstGeom prst="rect">
            <a:avLst/>
          </a:prstGeom>
          <a:solidFill>
            <a:srgbClr val="3B82F6"/>
          </a:solidFill>
          <a:ln w="12700">
            <a:solidFill>
              <a:srgbClr val="16325C"/>
            </a:solidFill>
            <a:prstDash val="solid"/>
          </a:ln>
        </p:spPr>
      </p:sp>
      <p:sp>
        <p:nvSpPr>
          <p:cNvPr id="31" name="Shape 28"/>
          <p:cNvSpPr/>
          <p:nvPr/>
        </p:nvSpPr>
        <p:spPr>
          <a:xfrm>
            <a:off x="9867053" y="4480560"/>
            <a:ext cx="343778" cy="384048"/>
          </a:xfrm>
          <a:prstGeom prst="rect">
            <a:avLst/>
          </a:prstGeom>
          <a:solidFill>
            <a:srgbClr val="D97706"/>
          </a:solidFill>
          <a:ln w="12700">
            <a:solidFill>
              <a:srgbClr val="16325C"/>
            </a:solidFill>
            <a:prstDash val="solid"/>
          </a:ln>
        </p:spPr>
      </p:sp>
      <p:sp>
        <p:nvSpPr>
          <p:cNvPr id="32" name="Shape 29"/>
          <p:cNvSpPr/>
          <p:nvPr/>
        </p:nvSpPr>
        <p:spPr>
          <a:xfrm>
            <a:off x="10238262" y="4480560"/>
            <a:ext cx="1191738" cy="384048"/>
          </a:xfrm>
          <a:prstGeom prst="rect">
            <a:avLst/>
          </a:prstGeom>
          <a:solidFill>
            <a:srgbClr val="3B5273"/>
          </a:solidFill>
          <a:ln w="12700">
            <a:solidFill>
              <a:srgbClr val="16325C"/>
            </a:solidFill>
            <a:prstDash val="solid"/>
          </a:ln>
        </p:spPr>
      </p:sp>
      <p:sp>
        <p:nvSpPr>
          <p:cNvPr id="33" name="Shape 30"/>
          <p:cNvSpPr/>
          <p:nvPr/>
        </p:nvSpPr>
        <p:spPr>
          <a:xfrm>
            <a:off x="7818120" y="5056632"/>
            <a:ext cx="146304" cy="146304"/>
          </a:xfrm>
          <a:prstGeom prst="ellipse">
            <a:avLst/>
          </a:prstGeom>
          <a:solidFill>
            <a:srgbClr val="0D9488"/>
          </a:solidFill>
          <a:ln w="12700">
            <a:solidFill>
              <a:srgbClr val="0D9488"/>
            </a:solidFill>
            <a:prstDash val="solid"/>
          </a:ln>
        </p:spPr>
      </p:sp>
      <p:sp>
        <p:nvSpPr>
          <p:cNvPr id="34" name="Text 31"/>
          <p:cNvSpPr txBox="1"/>
          <p:nvPr/>
        </p:nvSpPr>
        <p:spPr>
          <a:xfrm>
            <a:off x="8046720" y="4983480"/>
            <a:ext cx="1636776" cy="292608"/>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Active  37.3%</a:t>
            </a:r>
            <a:endParaRPr lang="en-US" sz="1100" dirty="0"/>
          </a:p>
        </p:txBody>
      </p:sp>
      <p:sp>
        <p:nvSpPr>
          <p:cNvPr id="35" name="Shape 32"/>
          <p:cNvSpPr/>
          <p:nvPr/>
        </p:nvSpPr>
        <p:spPr>
          <a:xfrm>
            <a:off x="9820656" y="5056632"/>
            <a:ext cx="146304" cy="146304"/>
          </a:xfrm>
          <a:prstGeom prst="ellipse">
            <a:avLst/>
          </a:prstGeom>
          <a:solidFill>
            <a:srgbClr val="3B82F6"/>
          </a:solidFill>
          <a:ln w="12700">
            <a:solidFill>
              <a:srgbClr val="3B82F6"/>
            </a:solidFill>
            <a:prstDash val="solid"/>
          </a:ln>
        </p:spPr>
      </p:sp>
      <p:sp>
        <p:nvSpPr>
          <p:cNvPr id="36" name="Text 33"/>
          <p:cNvSpPr txBox="1"/>
          <p:nvPr/>
        </p:nvSpPr>
        <p:spPr>
          <a:xfrm>
            <a:off x="10049256" y="4983480"/>
            <a:ext cx="1636776" cy="292608"/>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Occasional  19.0%</a:t>
            </a:r>
            <a:endParaRPr lang="en-US" sz="1100" dirty="0"/>
          </a:p>
        </p:txBody>
      </p:sp>
      <p:sp>
        <p:nvSpPr>
          <p:cNvPr id="37" name="Shape 34"/>
          <p:cNvSpPr/>
          <p:nvPr/>
        </p:nvSpPr>
        <p:spPr>
          <a:xfrm>
            <a:off x="7818120" y="5440680"/>
            <a:ext cx="146304" cy="146304"/>
          </a:xfrm>
          <a:prstGeom prst="ellipse">
            <a:avLst/>
          </a:prstGeom>
          <a:solidFill>
            <a:srgbClr val="D97706"/>
          </a:solidFill>
          <a:ln w="12700">
            <a:solidFill>
              <a:srgbClr val="D97706"/>
            </a:solidFill>
            <a:prstDash val="solid"/>
          </a:ln>
        </p:spPr>
      </p:sp>
      <p:sp>
        <p:nvSpPr>
          <p:cNvPr id="38" name="Text 35"/>
          <p:cNvSpPr txBox="1"/>
          <p:nvPr/>
        </p:nvSpPr>
        <p:spPr>
          <a:xfrm>
            <a:off x="8046720" y="5367528"/>
            <a:ext cx="1636776" cy="292608"/>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Dormant  10.2%</a:t>
            </a:r>
            <a:endParaRPr lang="en-US" sz="1100" dirty="0"/>
          </a:p>
        </p:txBody>
      </p:sp>
      <p:sp>
        <p:nvSpPr>
          <p:cNvPr id="39" name="Shape 36"/>
          <p:cNvSpPr/>
          <p:nvPr/>
        </p:nvSpPr>
        <p:spPr>
          <a:xfrm>
            <a:off x="9820656" y="5440680"/>
            <a:ext cx="146304" cy="146304"/>
          </a:xfrm>
          <a:prstGeom prst="ellipse">
            <a:avLst/>
          </a:prstGeom>
          <a:solidFill>
            <a:srgbClr val="3B5273"/>
          </a:solidFill>
          <a:ln w="12700">
            <a:solidFill>
              <a:srgbClr val="3B5273"/>
            </a:solidFill>
            <a:prstDash val="solid"/>
          </a:ln>
        </p:spPr>
      </p:sp>
      <p:sp>
        <p:nvSpPr>
          <p:cNvPr id="40" name="Text 37"/>
          <p:cNvSpPr txBox="1"/>
          <p:nvPr/>
        </p:nvSpPr>
        <p:spPr>
          <a:xfrm>
            <a:off x="10049256" y="5367528"/>
            <a:ext cx="1636776" cy="292608"/>
          </a:xfrm>
          <a:prstGeom prst="rect">
            <a:avLst/>
          </a:prstGeom>
          <a:noFill/>
          <a:ln/>
        </p:spPr>
        <p:txBody>
          <a:bodyPr wrap="square" lIns="0" tIns="0" rIns="0" bIns="0" rtlCol="0" anchor="ctr"/>
          <a:lstStyle/>
          <a:p>
            <a:pPr indent="0" marL="0">
              <a:buNone/>
            </a:pPr>
            <a:r>
              <a:rPr lang="en-US" sz="1100" dirty="0">
                <a:solidFill>
                  <a:srgbClr val="C7D2E0"/>
                </a:solidFill>
                <a:latin typeface="Calibri" pitchFamily="34" charset="0"/>
                <a:ea typeface="Calibri" pitchFamily="34" charset="-122"/>
                <a:cs typeface="Calibri" pitchFamily="34" charset="-120"/>
              </a:rPr>
              <a:t>Not enrolled  33.5%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Wearable vitals: activity falls with every step up the risk ladder</a:t>
            </a:r>
            <a:endParaRPr lang="en-US" sz="26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55.6% of patients sync a device · median 7,711 steps/day · 7.0 h sleep · 67 bpm resting HR</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554480"/>
            <a:ext cx="5385816" cy="4480560"/>
          </a:xfrm>
          <a:prstGeom prst="roundRect">
            <a:avLst>
              <a:gd name="adj" fmla="val 2449"/>
            </a:avLst>
          </a:prstGeom>
          <a:solidFill>
            <a:srgbClr val="12294A"/>
          </a:solidFill>
          <a:ln w="9525">
            <a:solidFill>
              <a:srgbClr val="1E3A5F"/>
            </a:solidFill>
            <a:prstDash val="solid"/>
          </a:ln>
        </p:spPr>
      </p:sp>
      <p:sp>
        <p:nvSpPr>
          <p:cNvPr id="7" name="Text 5"/>
          <p:cNvSpPr txBox="1"/>
          <p:nvPr/>
        </p:nvSpPr>
        <p:spPr>
          <a:xfrm>
            <a:off x="777240" y="1645920"/>
            <a:ext cx="4928616" cy="27432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Average daily steps by month, 2025 (device users)</a:t>
            </a:r>
            <a:endParaRPr lang="en-US" sz="1250" dirty="0"/>
          </a:p>
        </p:txBody>
      </p:sp>
      <p:graphicFrame>
        <p:nvGraphicFramePr>
          <p:cNvPr id="8" name="Chart 0" descr=""/>
          <p:cNvGraphicFramePr/>
          <p:nvPr/>
        </p:nvGraphicFramePr>
        <p:xfrm>
          <a:off x="685800" y="1965960"/>
          <a:ext cx="5111496" cy="32918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77240" y="5349240"/>
            <a:ext cx="4928616" cy="59436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Seasonal swing of ~1,600 steps/day between winter and summer; only 14.3% of device-months average 10,000+.</a:t>
            </a:r>
            <a:endParaRPr lang="en-US" sz="1100" dirty="0"/>
          </a:p>
        </p:txBody>
      </p:sp>
      <p:sp>
        <p:nvSpPr>
          <p:cNvPr id="10" name="Shape 7"/>
          <p:cNvSpPr/>
          <p:nvPr/>
        </p:nvSpPr>
        <p:spPr>
          <a:xfrm>
            <a:off x="6254496" y="1554480"/>
            <a:ext cx="5385816" cy="4480560"/>
          </a:xfrm>
          <a:prstGeom prst="roundRect">
            <a:avLst>
              <a:gd name="adj" fmla="val 2449"/>
            </a:avLst>
          </a:prstGeom>
          <a:solidFill>
            <a:srgbClr val="12294A"/>
          </a:solidFill>
          <a:ln w="9525">
            <a:solidFill>
              <a:srgbClr val="1E3A5F"/>
            </a:solidFill>
            <a:prstDash val="solid"/>
          </a:ln>
        </p:spPr>
      </p:sp>
      <p:sp>
        <p:nvSpPr>
          <p:cNvPr id="11" name="Text 8"/>
          <p:cNvSpPr txBox="1"/>
          <p:nvPr/>
        </p:nvSpPr>
        <p:spPr>
          <a:xfrm>
            <a:off x="6483096" y="1645920"/>
            <a:ext cx="4928616" cy="27432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Average daily steps by risk tier (12-month average)</a:t>
            </a:r>
            <a:endParaRPr lang="en-US" sz="1250" dirty="0"/>
          </a:p>
        </p:txBody>
      </p:sp>
      <p:graphicFrame>
        <p:nvGraphicFramePr>
          <p:cNvPr id="12" name="Chart 1" descr=""/>
          <p:cNvGraphicFramePr/>
          <p:nvPr/>
        </p:nvGraphicFramePr>
        <p:xfrm>
          <a:off x="6391656" y="1965960"/>
          <a:ext cx="5111496" cy="329184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6483096" y="5349240"/>
            <a:ext cx="4928616" cy="59436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Very-high-risk patients average 5,372 steps — 3,121 fewer than low-risk patients. Inactivity is both a risk-score input and a coachable behaviour.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30.2% of the population is high or very-high risk — and least reached by digital care</a:t>
            </a:r>
            <a:endParaRPr lang="en-US" sz="2600" dirty="0"/>
          </a:p>
        </p:txBody>
      </p:sp>
      <p:sp>
        <p:nvSpPr>
          <p:cNvPr id="3" name="Text 1"/>
          <p:cNvSpPr txBox="1"/>
          <p:nvPr/>
        </p:nvSpPr>
        <p:spPr>
          <a:xfrm>
            <a:off x="548640" y="109728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Transparent additive score over age, chronic burden, obesity, control, smoking, inactivity, care gaps, deprivation and PCP access</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54480"/>
            <a:ext cx="4937760" cy="4480560"/>
          </a:xfrm>
          <a:prstGeom prst="roundRect">
            <a:avLst>
              <a:gd name="adj" fmla="val 2449"/>
            </a:avLst>
          </a:prstGeom>
          <a:solidFill>
            <a:srgbClr val="12294A"/>
          </a:solidFill>
          <a:ln w="9525">
            <a:solidFill>
              <a:srgbClr val="1E3A5F"/>
            </a:solidFill>
            <a:prstDash val="solid"/>
          </a:ln>
        </p:spPr>
      </p:sp>
      <p:sp>
        <p:nvSpPr>
          <p:cNvPr id="7" name="Text 5"/>
          <p:cNvSpPr txBox="1"/>
          <p:nvPr/>
        </p:nvSpPr>
        <p:spPr>
          <a:xfrm>
            <a:off x="777240" y="1645920"/>
            <a:ext cx="4572000" cy="27432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Risk-tier distribution (% of patients)</a:t>
            </a:r>
            <a:endParaRPr lang="en-US" sz="1250" dirty="0"/>
          </a:p>
        </p:txBody>
      </p:sp>
      <p:graphicFrame>
        <p:nvGraphicFramePr>
          <p:cNvPr id="8" name="Chart 0" descr=""/>
          <p:cNvGraphicFramePr/>
          <p:nvPr/>
        </p:nvGraphicFramePr>
        <p:xfrm>
          <a:off x="685800" y="1965960"/>
          <a:ext cx="4663440" cy="39319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760720" y="1554480"/>
            <a:ext cx="5879592" cy="2514600"/>
          </a:xfrm>
          <a:prstGeom prst="roundRect">
            <a:avLst>
              <a:gd name="adj" fmla="val 4364"/>
            </a:avLst>
          </a:prstGeom>
          <a:solidFill>
            <a:srgbClr val="12294A"/>
          </a:solidFill>
          <a:ln w="9525">
            <a:solidFill>
              <a:srgbClr val="1E3A5F"/>
            </a:solidFill>
            <a:prstDash val="solid"/>
          </a:ln>
        </p:spPr>
      </p:sp>
      <p:sp>
        <p:nvSpPr>
          <p:cNvPr id="10" name="Text 7"/>
          <p:cNvSpPr txBox="1"/>
          <p:nvPr/>
        </p:nvSpPr>
        <p:spPr>
          <a:xfrm>
            <a:off x="5989320" y="1645920"/>
            <a:ext cx="5422392" cy="27432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The gradient runs the wrong way</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0" y="2011680"/>
          <a:ext cx="5513832" cy="914400"/>
        </p:xfrm>
        <a:graphic>
          <a:graphicData uri="http://schemas.openxmlformats.org/drawingml/2006/table">
            <a:tbl>
              <a:tblPr/>
              <a:tblGrid>
                <a:gridCol w="1188720"/>
                <a:gridCol w="1051560"/>
                <a:gridCol w="1234440"/>
                <a:gridCol w="1325880"/>
                <a:gridCol w="713232"/>
              </a:tblGrid>
              <a:tr h="347472">
                <a:tc>
                  <a:txBody>
                    <a:bodyPr/>
                    <a:lstStyle/>
                    <a:p>
                      <a:pPr indent="0" marL="0">
                        <a:buNone/>
                      </a:pPr>
                      <a:r>
                        <a:rPr lang="en-US" sz="1100" b="1" dirty="0">
                          <a:solidFill>
                            <a:srgbClr val="F5F7FA"/>
                          </a:solidFill>
                          <a:latin typeface="Calibri" pitchFamily="34" charset="0"/>
                          <a:ea typeface="Calibri" pitchFamily="34" charset="-122"/>
                          <a:cs typeface="Calibri" pitchFamily="34" charset="-120"/>
                        </a:rPr>
                        <a:t>Risk tier</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algn="r" indent="0" marL="0">
                        <a:buNone/>
                      </a:pPr>
                      <a:r>
                        <a:rPr lang="en-US" sz="1100" b="1" dirty="0">
                          <a:solidFill>
                            <a:srgbClr val="F5F7FA"/>
                          </a:solidFill>
                          <a:latin typeface="Calibri" pitchFamily="34" charset="0"/>
                          <a:ea typeface="Calibri" pitchFamily="34" charset="-122"/>
                          <a:cs typeface="Calibri" pitchFamily="34" charset="-120"/>
                        </a:rPr>
                        <a:t>Patients</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algn="r" indent="0" marL="0">
                        <a:buNone/>
                      </a:pPr>
                      <a:r>
                        <a:rPr lang="en-US" sz="1100" b="1" dirty="0">
                          <a:solidFill>
                            <a:srgbClr val="F5F7FA"/>
                          </a:solidFill>
                          <a:latin typeface="Calibri" pitchFamily="34" charset="0"/>
                          <a:ea typeface="Calibri" pitchFamily="34" charset="-122"/>
                          <a:cs typeface="Calibri" pitchFamily="34" charset="-120"/>
                        </a:rPr>
                        <a:t>Screening rate</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algn="r" indent="0" marL="0">
                        <a:buNone/>
                      </a:pPr>
                      <a:r>
                        <a:rPr lang="en-US" sz="1100" b="1" dirty="0">
                          <a:solidFill>
                            <a:srgbClr val="F5F7FA"/>
                          </a:solidFill>
                          <a:latin typeface="Calibri" pitchFamily="34" charset="0"/>
                          <a:ea typeface="Calibri" pitchFamily="34" charset="-122"/>
                          <a:cs typeface="Calibri" pitchFamily="34" charset="-120"/>
                        </a:rPr>
                        <a:t>Actively engaged</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algn="r" indent="0" marL="0">
                        <a:buNone/>
                      </a:pPr>
                      <a:r>
                        <a:rPr lang="en-US" sz="1100" b="1" dirty="0">
                          <a:solidFill>
                            <a:srgbClr val="F5F7FA"/>
                          </a:solidFill>
                          <a:latin typeface="Calibri" pitchFamily="34" charset="0"/>
                          <a:ea typeface="Calibri" pitchFamily="34" charset="-122"/>
                          <a:cs typeface="Calibri" pitchFamily="34" charset="-120"/>
                        </a:rPr>
                        <a:t>Gaps / patient</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347472">
                <a:tc>
                  <a:txBody>
                    <a:bodyPr/>
                    <a:lstStyle/>
                    <a:p>
                      <a:pPr indent="0" marL="0">
                        <a:buNone/>
                      </a:pPr>
                      <a:r>
                        <a:rPr lang="en-US" sz="1100" b="1" dirty="0">
                          <a:solidFill>
                            <a:srgbClr val="2DD4B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16,303</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78.0%</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46.0%</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1.11</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r>
              <a:tr h="347472">
                <a:tc>
                  <a:txBody>
                    <a:bodyPr/>
                    <a:lstStyle/>
                    <a:p>
                      <a:pPr indent="0" marL="0">
                        <a:buNone/>
                      </a:pPr>
                      <a:r>
                        <a:rPr lang="en-US" sz="1100" b="1" dirty="0">
                          <a:solidFill>
                            <a:srgbClr val="3B82F6"/>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18,612</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61.7%</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37.1%</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2.30</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r>
              <a:tr h="347472">
                <a:tc>
                  <a:txBody>
                    <a:bodyPr/>
                    <a:lstStyle/>
                    <a:p>
                      <a:pPr indent="0" marL="0">
                        <a:buNone/>
                      </a:pPr>
                      <a:r>
                        <a:rPr lang="en-US" sz="1100" b="1" dirty="0">
                          <a:solidFill>
                            <a:srgbClr val="D97706"/>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9,215</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59.5%</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30.8%</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2.63</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r>
              <a:tr h="347472">
                <a:tc>
                  <a:txBody>
                    <a:bodyPr/>
                    <a:lstStyle/>
                    <a:p>
                      <a:pPr indent="0" marL="0">
                        <a:buNone/>
                      </a:pPr>
                      <a:r>
                        <a:rPr lang="en-US" sz="1100" b="1" dirty="0">
                          <a:solidFill>
                            <a:srgbClr val="EF4444"/>
                          </a:solidFill>
                          <a:latin typeface="Calibri" pitchFamily="34" charset="0"/>
                          <a:ea typeface="Calibri" pitchFamily="34" charset="-122"/>
                          <a:cs typeface="Calibri" pitchFamily="34" charset="-120"/>
                        </a:rPr>
                        <a:t>Very High</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5,870</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57.1%</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24.1%</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c>
                  <a:txBody>
                    <a:bodyPr/>
                    <a:lstStyle/>
                    <a:p>
                      <a:pPr algn="r" indent="0" marL="0">
                        <a:buNone/>
                      </a:pPr>
                      <a:r>
                        <a:rPr lang="en-US" sz="1100" dirty="0">
                          <a:solidFill>
                            <a:srgbClr val="C7D2E0"/>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45720" marR="45720" marT="45720" marB="45720" anchor="ct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2294A"/>
                    </a:solidFill>
                  </a:tcPr>
                </a:tc>
              </a:tr>
            </a:tbl>
          </a:graphicData>
        </a:graphic>
      </p:graphicFrame>
      <p:sp>
        <p:nvSpPr>
          <p:cNvPr id="12" name="Shape 8"/>
          <p:cNvSpPr/>
          <p:nvPr/>
        </p:nvSpPr>
        <p:spPr>
          <a:xfrm>
            <a:off x="5760720" y="4206240"/>
            <a:ext cx="2825496" cy="914400"/>
          </a:xfrm>
          <a:prstGeom prst="roundRect">
            <a:avLst>
              <a:gd name="adj" fmla="val 12000"/>
            </a:avLst>
          </a:prstGeom>
          <a:solidFill>
            <a:srgbClr val="12294A"/>
          </a:solidFill>
          <a:ln w="9525">
            <a:solidFill>
              <a:srgbClr val="1E3A5F"/>
            </a:solidFill>
            <a:prstDash val="solid"/>
          </a:ln>
        </p:spPr>
      </p:sp>
      <p:sp>
        <p:nvSpPr>
          <p:cNvPr id="13" name="Text 9"/>
          <p:cNvSpPr txBox="1"/>
          <p:nvPr/>
        </p:nvSpPr>
        <p:spPr>
          <a:xfrm>
            <a:off x="5943600" y="4315968"/>
            <a:ext cx="2459736" cy="457200"/>
          </a:xfrm>
          <a:prstGeom prst="rect">
            <a:avLst/>
          </a:prstGeom>
          <a:noFill/>
          <a:ln/>
        </p:spPr>
        <p:txBody>
          <a:bodyPr wrap="square" lIns="0" tIns="0" rIns="0" bIns="0" rtlCol="0" anchor="ctr"/>
          <a:lstStyle/>
          <a:p>
            <a:pPr indent="0" marL="0">
              <a:buNone/>
            </a:pPr>
            <a:r>
              <a:rPr lang="en-US" sz="3000" b="1" dirty="0">
                <a:solidFill>
                  <a:srgbClr val="EF4444"/>
                </a:solidFill>
                <a:latin typeface="Calibri" pitchFamily="34" charset="0"/>
                <a:ea typeface="Calibri" pitchFamily="34" charset="-122"/>
                <a:cs typeface="Calibri" pitchFamily="34" charset="-120"/>
              </a:rPr>
              <a:t>10,280</a:t>
            </a:r>
            <a:endParaRPr lang="en-US" sz="3000" dirty="0"/>
          </a:p>
        </p:txBody>
      </p:sp>
      <p:sp>
        <p:nvSpPr>
          <p:cNvPr id="14" name="Text 10"/>
          <p:cNvSpPr txBox="1"/>
          <p:nvPr/>
        </p:nvSpPr>
        <p:spPr>
          <a:xfrm>
            <a:off x="5943600" y="4736592"/>
            <a:ext cx="2459736" cy="219456"/>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Priority outreach cohort</a:t>
            </a:r>
            <a:endParaRPr lang="en-US" sz="1150" dirty="0"/>
          </a:p>
        </p:txBody>
      </p:sp>
      <p:sp>
        <p:nvSpPr>
          <p:cNvPr id="15" name="Text 11"/>
          <p:cNvSpPr txBox="1"/>
          <p:nvPr/>
        </p:nvSpPr>
        <p:spPr>
          <a:xfrm>
            <a:off x="5943600" y="4882896"/>
            <a:ext cx="2459736" cy="20116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high risk · open gap · not engaged</a:t>
            </a:r>
            <a:endParaRPr lang="en-US" sz="950" dirty="0"/>
          </a:p>
        </p:txBody>
      </p:sp>
      <p:sp>
        <p:nvSpPr>
          <p:cNvPr id="16" name="Shape 12"/>
          <p:cNvSpPr/>
          <p:nvPr/>
        </p:nvSpPr>
        <p:spPr>
          <a:xfrm>
            <a:off x="8814816" y="4206240"/>
            <a:ext cx="2825496" cy="914400"/>
          </a:xfrm>
          <a:prstGeom prst="roundRect">
            <a:avLst>
              <a:gd name="adj" fmla="val 12000"/>
            </a:avLst>
          </a:prstGeom>
          <a:solidFill>
            <a:srgbClr val="12294A"/>
          </a:solidFill>
          <a:ln w="9525">
            <a:solidFill>
              <a:srgbClr val="1E3A5F"/>
            </a:solidFill>
            <a:prstDash val="solid"/>
          </a:ln>
        </p:spPr>
      </p:sp>
      <p:sp>
        <p:nvSpPr>
          <p:cNvPr id="17" name="Text 13"/>
          <p:cNvSpPr txBox="1"/>
          <p:nvPr/>
        </p:nvSpPr>
        <p:spPr>
          <a:xfrm>
            <a:off x="8997696" y="4315968"/>
            <a:ext cx="2459736" cy="457200"/>
          </a:xfrm>
          <a:prstGeom prst="rect">
            <a:avLst/>
          </a:prstGeom>
          <a:noFill/>
          <a:ln/>
        </p:spPr>
        <p:txBody>
          <a:bodyPr wrap="square" lIns="0" tIns="0" rIns="0" bIns="0" rtlCol="0" anchor="ctr"/>
          <a:lstStyle/>
          <a:p>
            <a:pPr indent="0" marL="0">
              <a:buNone/>
            </a:pPr>
            <a:r>
              <a:rPr lang="en-US" sz="3000" b="1" dirty="0">
                <a:solidFill>
                  <a:srgbClr val="D97706"/>
                </a:solidFill>
                <a:latin typeface="Calibri" pitchFamily="34" charset="0"/>
                <a:ea typeface="Calibri" pitchFamily="34" charset="-122"/>
                <a:cs typeface="Calibri" pitchFamily="34" charset="-120"/>
              </a:rPr>
              <a:t>2,559</a:t>
            </a:r>
            <a:endParaRPr lang="en-US" sz="3000" dirty="0"/>
          </a:p>
        </p:txBody>
      </p:sp>
      <p:sp>
        <p:nvSpPr>
          <p:cNvPr id="18" name="Text 14"/>
          <p:cNvSpPr txBox="1"/>
          <p:nvPr/>
        </p:nvSpPr>
        <p:spPr>
          <a:xfrm>
            <a:off x="8997696" y="4736592"/>
            <a:ext cx="2459736" cy="219456"/>
          </a:xfrm>
          <a:prstGeom prst="rect">
            <a:avLst/>
          </a:prstGeom>
          <a:noFill/>
          <a:ln/>
        </p:spPr>
        <p:txBody>
          <a:bodyPr wrap="square" lIns="0" tIns="0" rIns="0" bIns="0" rtlCol="0" anchor="t"/>
          <a:lstStyle/>
          <a:p>
            <a:pPr indent="0" marL="0">
              <a:buNone/>
            </a:pPr>
            <a:r>
              <a:rPr lang="en-US" sz="1150" dirty="0">
                <a:solidFill>
                  <a:srgbClr val="F5F7FA"/>
                </a:solidFill>
                <a:latin typeface="Calibri" pitchFamily="34" charset="0"/>
                <a:ea typeface="Calibri" pitchFamily="34" charset="-122"/>
                <a:cs typeface="Calibri" pitchFamily="34" charset="-120"/>
              </a:rPr>
              <a:t>Rising-risk patients</a:t>
            </a:r>
            <a:endParaRPr lang="en-US" sz="1150" dirty="0"/>
          </a:p>
        </p:txBody>
      </p:sp>
      <p:sp>
        <p:nvSpPr>
          <p:cNvPr id="19" name="Text 15"/>
          <p:cNvSpPr txBox="1"/>
          <p:nvPr/>
        </p:nvSpPr>
        <p:spPr>
          <a:xfrm>
            <a:off x="8997696" y="4882896"/>
            <a:ext cx="2459736" cy="20116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moderate tier · uncontrolled condition</a:t>
            </a:r>
            <a:endParaRPr lang="en-US" sz="950" dirty="0"/>
          </a:p>
        </p:txBody>
      </p:sp>
      <p:sp>
        <p:nvSpPr>
          <p:cNvPr id="20" name="Shape 16"/>
          <p:cNvSpPr/>
          <p:nvPr/>
        </p:nvSpPr>
        <p:spPr>
          <a:xfrm>
            <a:off x="5760720" y="5257800"/>
            <a:ext cx="5879592" cy="777240"/>
          </a:xfrm>
          <a:prstGeom prst="roundRect">
            <a:avLst>
              <a:gd name="adj" fmla="val 14118"/>
            </a:avLst>
          </a:prstGeom>
          <a:solidFill>
            <a:srgbClr val="16325C"/>
          </a:solidFill>
          <a:ln w="9525">
            <a:solidFill>
              <a:srgbClr val="1E3A5F"/>
            </a:solidFill>
            <a:prstDash val="solid"/>
          </a:ln>
        </p:spPr>
      </p:sp>
      <p:sp>
        <p:nvSpPr>
          <p:cNvPr id="21" name="Text 17"/>
          <p:cNvSpPr txBox="1"/>
          <p:nvPr/>
        </p:nvSpPr>
        <p:spPr>
          <a:xfrm>
            <a:off x="5943600" y="5303520"/>
            <a:ext cx="5513832" cy="685800"/>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So what. </a:t>
            </a:r>
            <a:pPr indent="0" marL="0">
              <a:buNone/>
            </a:pPr>
            <a:r>
              <a:rPr lang="en-US" sz="1100" dirty="0">
                <a:solidFill>
                  <a:srgbClr val="C7D2E0"/>
                </a:solidFill>
                <a:latin typeface="Calibri" pitchFamily="34" charset="0"/>
                <a:ea typeface="Calibri" pitchFamily="34" charset="-122"/>
                <a:cs typeface="Calibri" pitchFamily="34" charset="-120"/>
              </a:rPr>
              <a:t>The patients with the most to gain from preventive care are the least likely to be screened or to use the app. Page 6 of the dashboard turns this into an exportable, ranked worklist for care coordinators.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56032"/>
            <a:ext cx="11091672" cy="822960"/>
          </a:xfrm>
          <a:prstGeom prst="rect">
            <a:avLst/>
          </a:prstGeom>
          <a:noFill/>
          <a:ln/>
        </p:spPr>
        <p:txBody>
          <a:bodyPr wrap="square" lIns="0" tIns="0" rIns="0" bIns="0" rtlCol="0" anchor="t"/>
          <a:lstStyle/>
          <a:p>
            <a:pPr indent="0" marL="0">
              <a:buNone/>
            </a:pPr>
            <a:r>
              <a:rPr lang="en-US" sz="2600" b="1" dirty="0">
                <a:solidFill>
                  <a:srgbClr val="F5F7FA"/>
                </a:solidFill>
                <a:latin typeface="Calibri" pitchFamily="34" charset="0"/>
                <a:ea typeface="Calibri" pitchFamily="34" charset="-122"/>
                <a:cs typeface="Calibri" pitchFamily="34" charset="-120"/>
              </a:rPr>
              <a:t>Dashboard blueprint and next steps</a:t>
            </a:r>
            <a:endParaRPr lang="en-US" sz="2600" dirty="0"/>
          </a:p>
        </p:txBody>
      </p:sp>
      <p:sp>
        <p:nvSpPr>
          <p:cNvPr id="3" name="Text 1"/>
          <p:cNvSpPr txBox="1"/>
          <p:nvPr/>
        </p:nvSpPr>
        <p:spPr>
          <a:xfrm>
            <a:off x="548640" y="777240"/>
            <a:ext cx="11091672" cy="411480"/>
          </a:xfrm>
          <a:prstGeom prst="rect">
            <a:avLst/>
          </a:prstGeom>
          <a:noFill/>
          <a:ln/>
        </p:spPr>
        <p:txBody>
          <a:bodyPr wrap="square" lIns="0" tIns="0" rIns="0" bIns="0" rtlCol="0" anchor="t"/>
          <a:lstStyle/>
          <a:p>
            <a:pPr indent="0" marL="0">
              <a:buNone/>
            </a:pPr>
            <a:r>
              <a:rPr lang="en-US" sz="1250" dirty="0">
                <a:solidFill>
                  <a:srgbClr val="9FB3C8"/>
                </a:solidFill>
                <a:latin typeface="Calibri" pitchFamily="34" charset="0"/>
                <a:ea typeface="Calibri" pitchFamily="34" charset="-122"/>
                <a:cs typeface="Calibri" pitchFamily="34" charset="-120"/>
              </a:rPr>
              <a:t>Eight pages, one synced slicer rail (region · state · age band · condition · risk tier · insurance · deprivation) — full spec in powerbi/dashboard_spec.md</a:t>
            </a:r>
            <a:endParaRPr lang="en-US" sz="1250" dirty="0"/>
          </a:p>
        </p:txBody>
      </p:sp>
      <p:sp>
        <p:nvSpPr>
          <p:cNvPr id="4" name="Text 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Population Health &amp; Preventive Care Dashboard  ·  synthetic data, snapshot 2025-12-31</a:t>
            </a:r>
            <a:endParaRPr lang="en-US" sz="900" dirty="0"/>
          </a:p>
        </p:txBody>
      </p:sp>
      <p:sp>
        <p:nvSpPr>
          <p:cNvPr id="5" name="Text 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1600200"/>
            <a:ext cx="1691640" cy="1417320"/>
          </a:xfrm>
          <a:prstGeom prst="roundRect">
            <a:avLst>
              <a:gd name="adj" fmla="val 7742"/>
            </a:avLst>
          </a:prstGeom>
          <a:solidFill>
            <a:srgbClr val="12294A"/>
          </a:solidFill>
          <a:ln w="9525">
            <a:solidFill>
              <a:srgbClr val="1E3A5F"/>
            </a:solidFill>
            <a:prstDash val="solid"/>
          </a:ln>
        </p:spPr>
      </p:sp>
      <p:sp>
        <p:nvSpPr>
          <p:cNvPr id="7" name="Shape 5"/>
          <p:cNvSpPr/>
          <p:nvPr/>
        </p:nvSpPr>
        <p:spPr>
          <a:xfrm>
            <a:off x="685800" y="1737360"/>
            <a:ext cx="384048" cy="384048"/>
          </a:xfrm>
          <a:prstGeom prst="ellipse">
            <a:avLst/>
          </a:prstGeom>
          <a:solidFill>
            <a:srgbClr val="2DD4BF"/>
          </a:solidFill>
          <a:ln w="12700">
            <a:solidFill>
              <a:srgbClr val="2DD4BF"/>
            </a:solidFill>
            <a:prstDash val="solid"/>
          </a:ln>
        </p:spPr>
      </p:sp>
      <p:sp>
        <p:nvSpPr>
          <p:cNvPr id="8" name="Text 6"/>
          <p:cNvSpPr txBox="1"/>
          <p:nvPr/>
        </p:nvSpPr>
        <p:spPr>
          <a:xfrm>
            <a:off x="685800" y="17373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15568" y="17099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Executive Overview</a:t>
            </a:r>
            <a:endParaRPr lang="en-US" sz="1100" dirty="0"/>
          </a:p>
        </p:txBody>
      </p:sp>
      <p:sp>
        <p:nvSpPr>
          <p:cNvPr id="10" name="Text 8"/>
          <p:cNvSpPr txBox="1"/>
          <p:nvPr/>
        </p:nvSpPr>
        <p:spPr>
          <a:xfrm>
            <a:off x="685800" y="22219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6 KPI cards, tier mix, prevalence by region, MAU, screening vs target</a:t>
            </a:r>
            <a:endParaRPr lang="en-US" sz="950" dirty="0"/>
          </a:p>
        </p:txBody>
      </p:sp>
      <p:sp>
        <p:nvSpPr>
          <p:cNvPr id="11" name="Shape 9"/>
          <p:cNvSpPr/>
          <p:nvPr/>
        </p:nvSpPr>
        <p:spPr>
          <a:xfrm>
            <a:off x="2423160" y="1600200"/>
            <a:ext cx="1691640" cy="1417320"/>
          </a:xfrm>
          <a:prstGeom prst="roundRect">
            <a:avLst>
              <a:gd name="adj" fmla="val 7742"/>
            </a:avLst>
          </a:prstGeom>
          <a:solidFill>
            <a:srgbClr val="12294A"/>
          </a:solidFill>
          <a:ln w="9525">
            <a:solidFill>
              <a:srgbClr val="1E3A5F"/>
            </a:solidFill>
            <a:prstDash val="solid"/>
          </a:ln>
        </p:spPr>
      </p:sp>
      <p:sp>
        <p:nvSpPr>
          <p:cNvPr id="12" name="Shape 10"/>
          <p:cNvSpPr/>
          <p:nvPr/>
        </p:nvSpPr>
        <p:spPr>
          <a:xfrm>
            <a:off x="2560320" y="1737360"/>
            <a:ext cx="384048" cy="384048"/>
          </a:xfrm>
          <a:prstGeom prst="ellipse">
            <a:avLst/>
          </a:prstGeom>
          <a:solidFill>
            <a:srgbClr val="2DD4BF"/>
          </a:solidFill>
          <a:ln w="12700">
            <a:solidFill>
              <a:srgbClr val="2DD4BF"/>
            </a:solidFill>
            <a:prstDash val="solid"/>
          </a:ln>
        </p:spPr>
      </p:sp>
      <p:sp>
        <p:nvSpPr>
          <p:cNvPr id="13" name="Text 11"/>
          <p:cNvSpPr txBox="1"/>
          <p:nvPr/>
        </p:nvSpPr>
        <p:spPr>
          <a:xfrm>
            <a:off x="2560320" y="17373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2990088" y="17099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Prevalence &amp; Control</a:t>
            </a:r>
            <a:endParaRPr lang="en-US" sz="1100" dirty="0"/>
          </a:p>
        </p:txBody>
      </p:sp>
      <p:sp>
        <p:nvSpPr>
          <p:cNvPr id="15" name="Text 13"/>
          <p:cNvSpPr txBox="1"/>
          <p:nvPr/>
        </p:nvSpPr>
        <p:spPr>
          <a:xfrm>
            <a:off x="2560320" y="22219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age gradient, state map, control status, deprivation small multiples</a:t>
            </a:r>
            <a:endParaRPr lang="en-US" sz="950" dirty="0"/>
          </a:p>
        </p:txBody>
      </p:sp>
      <p:sp>
        <p:nvSpPr>
          <p:cNvPr id="16" name="Shape 14"/>
          <p:cNvSpPr/>
          <p:nvPr/>
        </p:nvSpPr>
        <p:spPr>
          <a:xfrm>
            <a:off x="4297680" y="1600200"/>
            <a:ext cx="1691640" cy="1417320"/>
          </a:xfrm>
          <a:prstGeom prst="roundRect">
            <a:avLst>
              <a:gd name="adj" fmla="val 7742"/>
            </a:avLst>
          </a:prstGeom>
          <a:solidFill>
            <a:srgbClr val="12294A"/>
          </a:solidFill>
          <a:ln w="9525">
            <a:solidFill>
              <a:srgbClr val="1E3A5F"/>
            </a:solidFill>
            <a:prstDash val="solid"/>
          </a:ln>
        </p:spPr>
      </p:sp>
      <p:sp>
        <p:nvSpPr>
          <p:cNvPr id="17" name="Shape 15"/>
          <p:cNvSpPr/>
          <p:nvPr/>
        </p:nvSpPr>
        <p:spPr>
          <a:xfrm>
            <a:off x="4434840" y="1737360"/>
            <a:ext cx="384048" cy="384048"/>
          </a:xfrm>
          <a:prstGeom prst="ellipse">
            <a:avLst/>
          </a:prstGeom>
          <a:solidFill>
            <a:srgbClr val="2DD4BF"/>
          </a:solidFill>
          <a:ln w="12700">
            <a:solidFill>
              <a:srgbClr val="2DD4BF"/>
            </a:solidFill>
            <a:prstDash val="solid"/>
          </a:ln>
        </p:spPr>
      </p:sp>
      <p:sp>
        <p:nvSpPr>
          <p:cNvPr id="18" name="Text 16"/>
          <p:cNvSpPr txBox="1"/>
          <p:nvPr/>
        </p:nvSpPr>
        <p:spPr>
          <a:xfrm>
            <a:off x="4434840" y="17373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4864608" y="17099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Screening &amp; Care Gaps</a:t>
            </a:r>
            <a:endParaRPr lang="en-US" sz="1100" dirty="0"/>
          </a:p>
        </p:txBody>
      </p:sp>
      <p:sp>
        <p:nvSpPr>
          <p:cNvPr id="20" name="Text 18"/>
          <p:cNvSpPr txBox="1"/>
          <p:nvPr/>
        </p:nvSpPr>
        <p:spPr>
          <a:xfrm>
            <a:off x="4434840" y="22219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rate by service vs target, enrolled vs not, decomposition tree</a:t>
            </a:r>
            <a:endParaRPr lang="en-US" sz="950" dirty="0"/>
          </a:p>
        </p:txBody>
      </p:sp>
      <p:sp>
        <p:nvSpPr>
          <p:cNvPr id="21" name="Shape 19"/>
          <p:cNvSpPr/>
          <p:nvPr/>
        </p:nvSpPr>
        <p:spPr>
          <a:xfrm>
            <a:off x="6172200" y="1600200"/>
            <a:ext cx="1691640" cy="1417320"/>
          </a:xfrm>
          <a:prstGeom prst="roundRect">
            <a:avLst>
              <a:gd name="adj" fmla="val 7742"/>
            </a:avLst>
          </a:prstGeom>
          <a:solidFill>
            <a:srgbClr val="12294A"/>
          </a:solidFill>
          <a:ln w="9525">
            <a:solidFill>
              <a:srgbClr val="1E3A5F"/>
            </a:solidFill>
            <a:prstDash val="solid"/>
          </a:ln>
        </p:spPr>
      </p:sp>
      <p:sp>
        <p:nvSpPr>
          <p:cNvPr id="22" name="Shape 20"/>
          <p:cNvSpPr/>
          <p:nvPr/>
        </p:nvSpPr>
        <p:spPr>
          <a:xfrm>
            <a:off x="6309360" y="1737360"/>
            <a:ext cx="384048" cy="384048"/>
          </a:xfrm>
          <a:prstGeom prst="ellipse">
            <a:avLst/>
          </a:prstGeom>
          <a:solidFill>
            <a:srgbClr val="2DD4BF"/>
          </a:solidFill>
          <a:ln w="12700">
            <a:solidFill>
              <a:srgbClr val="2DD4BF"/>
            </a:solidFill>
            <a:prstDash val="solid"/>
          </a:ln>
        </p:spPr>
      </p:sp>
      <p:sp>
        <p:nvSpPr>
          <p:cNvPr id="23" name="Text 21"/>
          <p:cNvSpPr txBox="1"/>
          <p:nvPr/>
        </p:nvSpPr>
        <p:spPr>
          <a:xfrm>
            <a:off x="6309360" y="17373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6739128" y="17099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Engagement</a:t>
            </a:r>
            <a:endParaRPr lang="en-US" sz="1100" dirty="0"/>
          </a:p>
        </p:txBody>
      </p:sp>
      <p:sp>
        <p:nvSpPr>
          <p:cNvPr id="25" name="Text 23"/>
          <p:cNvSpPr txBox="1"/>
          <p:nvPr/>
        </p:nvSpPr>
        <p:spPr>
          <a:xfrm>
            <a:off x="6309360" y="22219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MAU trend, activation funnel, segments, channel mix</a:t>
            </a:r>
            <a:endParaRPr lang="en-US" sz="950" dirty="0"/>
          </a:p>
        </p:txBody>
      </p:sp>
      <p:sp>
        <p:nvSpPr>
          <p:cNvPr id="26" name="Shape 24"/>
          <p:cNvSpPr/>
          <p:nvPr/>
        </p:nvSpPr>
        <p:spPr>
          <a:xfrm>
            <a:off x="548640" y="3200400"/>
            <a:ext cx="1691640" cy="1417320"/>
          </a:xfrm>
          <a:prstGeom prst="roundRect">
            <a:avLst>
              <a:gd name="adj" fmla="val 7742"/>
            </a:avLst>
          </a:prstGeom>
          <a:solidFill>
            <a:srgbClr val="12294A"/>
          </a:solidFill>
          <a:ln w="9525">
            <a:solidFill>
              <a:srgbClr val="1E3A5F"/>
            </a:solidFill>
            <a:prstDash val="solid"/>
          </a:ln>
        </p:spPr>
      </p:sp>
      <p:sp>
        <p:nvSpPr>
          <p:cNvPr id="27" name="Shape 25"/>
          <p:cNvSpPr/>
          <p:nvPr/>
        </p:nvSpPr>
        <p:spPr>
          <a:xfrm>
            <a:off x="685800" y="3337560"/>
            <a:ext cx="384048" cy="384048"/>
          </a:xfrm>
          <a:prstGeom prst="ellipse">
            <a:avLst/>
          </a:prstGeom>
          <a:solidFill>
            <a:srgbClr val="2DD4BF"/>
          </a:solidFill>
          <a:ln w="12700">
            <a:solidFill>
              <a:srgbClr val="2DD4BF"/>
            </a:solidFill>
            <a:prstDash val="solid"/>
          </a:ln>
        </p:spPr>
      </p:sp>
      <p:sp>
        <p:nvSpPr>
          <p:cNvPr id="28" name="Text 26"/>
          <p:cNvSpPr txBox="1"/>
          <p:nvPr/>
        </p:nvSpPr>
        <p:spPr>
          <a:xfrm>
            <a:off x="685800" y="33375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115568" y="33101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Wearable Vitals</a:t>
            </a:r>
            <a:endParaRPr lang="en-US" sz="1100" dirty="0"/>
          </a:p>
        </p:txBody>
      </p:sp>
      <p:sp>
        <p:nvSpPr>
          <p:cNvPr id="30" name="Text 28"/>
          <p:cNvSpPr txBox="1"/>
          <p:nvPr/>
        </p:nvSpPr>
        <p:spPr>
          <a:xfrm>
            <a:off x="685800" y="38221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steps/sleep/HR by tier, activity bands, HR vs steps scatter</a:t>
            </a:r>
            <a:endParaRPr lang="en-US" sz="950" dirty="0"/>
          </a:p>
        </p:txBody>
      </p:sp>
      <p:sp>
        <p:nvSpPr>
          <p:cNvPr id="31" name="Shape 29"/>
          <p:cNvSpPr/>
          <p:nvPr/>
        </p:nvSpPr>
        <p:spPr>
          <a:xfrm>
            <a:off x="2423160" y="3200400"/>
            <a:ext cx="1691640" cy="1417320"/>
          </a:xfrm>
          <a:prstGeom prst="roundRect">
            <a:avLst>
              <a:gd name="adj" fmla="val 7742"/>
            </a:avLst>
          </a:prstGeom>
          <a:solidFill>
            <a:srgbClr val="12294A"/>
          </a:solidFill>
          <a:ln w="9525">
            <a:solidFill>
              <a:srgbClr val="1E3A5F"/>
            </a:solidFill>
            <a:prstDash val="solid"/>
          </a:ln>
        </p:spPr>
      </p:sp>
      <p:sp>
        <p:nvSpPr>
          <p:cNvPr id="32" name="Shape 30"/>
          <p:cNvSpPr/>
          <p:nvPr/>
        </p:nvSpPr>
        <p:spPr>
          <a:xfrm>
            <a:off x="2560320" y="3337560"/>
            <a:ext cx="384048" cy="384048"/>
          </a:xfrm>
          <a:prstGeom prst="ellipse">
            <a:avLst/>
          </a:prstGeom>
          <a:solidFill>
            <a:srgbClr val="EF4444"/>
          </a:solidFill>
          <a:ln w="12700">
            <a:solidFill>
              <a:srgbClr val="EF4444"/>
            </a:solidFill>
            <a:prstDash val="solid"/>
          </a:ln>
        </p:spPr>
      </p:sp>
      <p:sp>
        <p:nvSpPr>
          <p:cNvPr id="33" name="Text 31"/>
          <p:cNvSpPr txBox="1"/>
          <p:nvPr/>
        </p:nvSpPr>
        <p:spPr>
          <a:xfrm>
            <a:off x="2560320" y="33375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2990088" y="33101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Risk &amp; Outreach</a:t>
            </a:r>
            <a:endParaRPr lang="en-US" sz="1100" dirty="0"/>
          </a:p>
        </p:txBody>
      </p:sp>
      <p:sp>
        <p:nvSpPr>
          <p:cNvPr id="35" name="Text 33"/>
          <p:cNvSpPr txBox="1"/>
          <p:nvPr/>
        </p:nvSpPr>
        <p:spPr>
          <a:xfrm>
            <a:off x="2560320" y="38221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tier distribution, score composition, ranked outreach worklist</a:t>
            </a:r>
            <a:endParaRPr lang="en-US" sz="950" dirty="0"/>
          </a:p>
        </p:txBody>
      </p:sp>
      <p:sp>
        <p:nvSpPr>
          <p:cNvPr id="36" name="Shape 34"/>
          <p:cNvSpPr/>
          <p:nvPr/>
        </p:nvSpPr>
        <p:spPr>
          <a:xfrm>
            <a:off x="4297680" y="3200400"/>
            <a:ext cx="1691640" cy="1417320"/>
          </a:xfrm>
          <a:prstGeom prst="roundRect">
            <a:avLst>
              <a:gd name="adj" fmla="val 7742"/>
            </a:avLst>
          </a:prstGeom>
          <a:solidFill>
            <a:srgbClr val="12294A"/>
          </a:solidFill>
          <a:ln w="9525">
            <a:solidFill>
              <a:srgbClr val="1E3A5F"/>
            </a:solidFill>
            <a:prstDash val="solid"/>
          </a:ln>
        </p:spPr>
      </p:sp>
      <p:sp>
        <p:nvSpPr>
          <p:cNvPr id="37" name="Shape 35"/>
          <p:cNvSpPr/>
          <p:nvPr/>
        </p:nvSpPr>
        <p:spPr>
          <a:xfrm>
            <a:off x="4434840" y="3337560"/>
            <a:ext cx="384048" cy="384048"/>
          </a:xfrm>
          <a:prstGeom prst="ellipse">
            <a:avLst/>
          </a:prstGeom>
          <a:solidFill>
            <a:srgbClr val="2DD4BF"/>
          </a:solidFill>
          <a:ln w="12700">
            <a:solidFill>
              <a:srgbClr val="2DD4BF"/>
            </a:solidFill>
            <a:prstDash val="solid"/>
          </a:ln>
        </p:spPr>
      </p:sp>
      <p:sp>
        <p:nvSpPr>
          <p:cNvPr id="38" name="Text 36"/>
          <p:cNvSpPr txBox="1"/>
          <p:nvPr/>
        </p:nvSpPr>
        <p:spPr>
          <a:xfrm>
            <a:off x="4434840" y="33375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7</a:t>
            </a:r>
            <a:endParaRPr lang="en-US" sz="1300" dirty="0"/>
          </a:p>
        </p:txBody>
      </p:sp>
      <p:sp>
        <p:nvSpPr>
          <p:cNvPr id="39" name="Text 37"/>
          <p:cNvSpPr txBox="1"/>
          <p:nvPr/>
        </p:nvSpPr>
        <p:spPr>
          <a:xfrm>
            <a:off x="4864608" y="33101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Data Quality</a:t>
            </a:r>
            <a:endParaRPr lang="en-US" sz="1100" dirty="0"/>
          </a:p>
        </p:txBody>
      </p:sp>
      <p:sp>
        <p:nvSpPr>
          <p:cNvPr id="40" name="Text 38"/>
          <p:cNvSpPr txBox="1"/>
          <p:nvPr/>
        </p:nvSpPr>
        <p:spPr>
          <a:xfrm>
            <a:off x="4434840" y="38221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before/after scorecard, imputation, lineage</a:t>
            </a:r>
            <a:endParaRPr lang="en-US" sz="950" dirty="0"/>
          </a:p>
        </p:txBody>
      </p:sp>
      <p:sp>
        <p:nvSpPr>
          <p:cNvPr id="41" name="Shape 39"/>
          <p:cNvSpPr/>
          <p:nvPr/>
        </p:nvSpPr>
        <p:spPr>
          <a:xfrm>
            <a:off x="6172200" y="3200400"/>
            <a:ext cx="1691640" cy="1417320"/>
          </a:xfrm>
          <a:prstGeom prst="roundRect">
            <a:avLst>
              <a:gd name="adj" fmla="val 7742"/>
            </a:avLst>
          </a:prstGeom>
          <a:solidFill>
            <a:srgbClr val="12294A"/>
          </a:solidFill>
          <a:ln w="9525">
            <a:solidFill>
              <a:srgbClr val="1E3A5F"/>
            </a:solidFill>
            <a:prstDash val="solid"/>
          </a:ln>
        </p:spPr>
      </p:sp>
      <p:sp>
        <p:nvSpPr>
          <p:cNvPr id="42" name="Shape 40"/>
          <p:cNvSpPr/>
          <p:nvPr/>
        </p:nvSpPr>
        <p:spPr>
          <a:xfrm>
            <a:off x="6309360" y="3337560"/>
            <a:ext cx="384048" cy="384048"/>
          </a:xfrm>
          <a:prstGeom prst="ellipse">
            <a:avLst/>
          </a:prstGeom>
          <a:solidFill>
            <a:srgbClr val="2DD4BF"/>
          </a:solidFill>
          <a:ln w="12700">
            <a:solidFill>
              <a:srgbClr val="2DD4BF"/>
            </a:solidFill>
            <a:prstDash val="solid"/>
          </a:ln>
        </p:spPr>
      </p:sp>
      <p:sp>
        <p:nvSpPr>
          <p:cNvPr id="43" name="Text 41"/>
          <p:cNvSpPr txBox="1"/>
          <p:nvPr/>
        </p:nvSpPr>
        <p:spPr>
          <a:xfrm>
            <a:off x="6309360" y="3337560"/>
            <a:ext cx="384048" cy="384048"/>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8</a:t>
            </a:r>
            <a:endParaRPr lang="en-US" sz="1300" dirty="0"/>
          </a:p>
        </p:txBody>
      </p:sp>
      <p:sp>
        <p:nvSpPr>
          <p:cNvPr id="44" name="Text 42"/>
          <p:cNvSpPr txBox="1"/>
          <p:nvPr/>
        </p:nvSpPr>
        <p:spPr>
          <a:xfrm>
            <a:off x="6739128" y="3310128"/>
            <a:ext cx="1069848" cy="438912"/>
          </a:xfrm>
          <a:prstGeom prst="rect">
            <a:avLst/>
          </a:prstGeom>
          <a:noFill/>
          <a:ln/>
        </p:spPr>
        <p:txBody>
          <a:bodyPr wrap="square" lIns="0" tIns="0" rIns="0" bIns="0" rtlCol="0" anchor="ctr"/>
          <a:lstStyle/>
          <a:p>
            <a:pPr indent="0" marL="0">
              <a:buNone/>
            </a:pPr>
            <a:r>
              <a:rPr lang="en-US" sz="1100" b="1" dirty="0">
                <a:solidFill>
                  <a:srgbClr val="F5F7FA"/>
                </a:solidFill>
                <a:latin typeface="Calibri" pitchFamily="34" charset="0"/>
                <a:ea typeface="Calibri" pitchFamily="34" charset="-122"/>
                <a:cs typeface="Calibri" pitchFamily="34" charset="-120"/>
              </a:rPr>
              <a:t>Patient list</a:t>
            </a:r>
            <a:endParaRPr lang="en-US" sz="1100" dirty="0"/>
          </a:p>
        </p:txBody>
      </p:sp>
      <p:sp>
        <p:nvSpPr>
          <p:cNvPr id="45" name="Text 43"/>
          <p:cNvSpPr txBox="1"/>
          <p:nvPr/>
        </p:nvSpPr>
        <p:spPr>
          <a:xfrm>
            <a:off x="6309360" y="3822192"/>
            <a:ext cx="1417320" cy="704088"/>
          </a:xfrm>
          <a:prstGeom prst="rect">
            <a:avLst/>
          </a:prstGeom>
          <a:noFill/>
          <a:ln/>
        </p:spPr>
        <p:txBody>
          <a:bodyPr wrap="square" lIns="0" tIns="0" rIns="0" bIns="0" rtlCol="0" anchor="t"/>
          <a:lstStyle/>
          <a:p>
            <a:pPr indent="0" marL="0">
              <a:buNone/>
            </a:pPr>
            <a:r>
              <a:rPr lang="en-US" sz="950" dirty="0">
                <a:solidFill>
                  <a:srgbClr val="9FB3C8"/>
                </a:solidFill>
                <a:latin typeface="Calibri" pitchFamily="34" charset="0"/>
                <a:ea typeface="Calibri" pitchFamily="34" charset="-122"/>
                <a:cs typeface="Calibri" pitchFamily="34" charset="-120"/>
              </a:rPr>
              <a:t>drill-through from any bar to the people behind it</a:t>
            </a:r>
            <a:endParaRPr lang="en-US" sz="950" dirty="0"/>
          </a:p>
        </p:txBody>
      </p:sp>
      <p:sp>
        <p:nvSpPr>
          <p:cNvPr id="46" name="Shape 44"/>
          <p:cNvSpPr/>
          <p:nvPr/>
        </p:nvSpPr>
        <p:spPr>
          <a:xfrm>
            <a:off x="8183880" y="1600200"/>
            <a:ext cx="3456432" cy="3017520"/>
          </a:xfrm>
          <a:prstGeom prst="roundRect">
            <a:avLst>
              <a:gd name="adj" fmla="val 3636"/>
            </a:avLst>
          </a:prstGeom>
          <a:solidFill>
            <a:srgbClr val="16325C"/>
          </a:solidFill>
          <a:ln w="9525">
            <a:solidFill>
              <a:srgbClr val="1E3A5F"/>
            </a:solidFill>
            <a:prstDash val="solid"/>
          </a:ln>
        </p:spPr>
      </p:sp>
      <p:sp>
        <p:nvSpPr>
          <p:cNvPr id="47" name="Text 45"/>
          <p:cNvSpPr txBox="1"/>
          <p:nvPr/>
        </p:nvSpPr>
        <p:spPr>
          <a:xfrm>
            <a:off x="8412480" y="1737360"/>
            <a:ext cx="2999232" cy="32004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Next steps</a:t>
            </a:r>
            <a:endParaRPr lang="en-US" sz="1400" dirty="0"/>
          </a:p>
        </p:txBody>
      </p:sp>
      <p:sp>
        <p:nvSpPr>
          <p:cNvPr id="48" name="Text 46"/>
          <p:cNvSpPr txBox="1"/>
          <p:nvPr/>
        </p:nvSpPr>
        <p:spPr>
          <a:xfrm>
            <a:off x="8412480" y="2103120"/>
            <a:ext cx="2999232" cy="242316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C7D2E0"/>
                </a:solidFill>
                <a:latin typeface="Calibri" pitchFamily="34" charset="0"/>
                <a:ea typeface="Calibri" pitchFamily="34" charset="-122"/>
                <a:cs typeface="Calibri" pitchFamily="34" charset="-120"/>
              </a:rPr>
              <a:t>Build the .pbix: import the 11 CSVs, paste measures.dax, apply the theme</a:t>
            </a:r>
            <a:endParaRPr lang="en-US" sz="1050" dirty="0"/>
          </a:p>
          <a:p>
            <a:pPr marL="177800" indent="-177800">
              <a:spcAft>
                <a:spcPts val="600"/>
              </a:spcAft>
              <a:buSzPct val="100000"/>
              <a:buChar char="•"/>
            </a:pPr>
            <a:r>
              <a:rPr lang="en-US" sz="1050" dirty="0">
                <a:solidFill>
                  <a:srgbClr val="C7D2E0"/>
                </a:solidFill>
                <a:latin typeface="Calibri" pitchFamily="34" charset="0"/>
                <a:ea typeface="Calibri" pitchFamily="34" charset="-122"/>
                <a:cs typeface="Calibri" pitchFamily="34" charset="-120"/>
              </a:rPr>
              <a:t>Add a calibrated predictive model beside the heuristic tier; test fairness by region, ethnicity and ADI</a:t>
            </a:r>
            <a:endParaRPr lang="en-US" sz="1050" dirty="0"/>
          </a:p>
          <a:p>
            <a:pPr marL="177800" indent="-177800">
              <a:spcAft>
                <a:spcPts val="600"/>
              </a:spcAft>
              <a:buSzPct val="100000"/>
              <a:buChar char="•"/>
            </a:pPr>
            <a:r>
              <a:rPr lang="en-US" sz="1050" dirty="0">
                <a:solidFill>
                  <a:srgbClr val="C7D2E0"/>
                </a:solidFill>
                <a:latin typeface="Calibri" pitchFamily="34" charset="0"/>
                <a:ea typeface="Calibri" pitchFamily="34" charset="-122"/>
                <a:cs typeface="Calibri" pitchFamily="34" charset="-120"/>
              </a:rPr>
              <a:t>Monthly snapshots to track tier transitions and closed gaps</a:t>
            </a:r>
            <a:endParaRPr lang="en-US" sz="1050" dirty="0"/>
          </a:p>
          <a:p>
            <a:pPr marL="177800" indent="-177800">
              <a:spcAft>
                <a:spcPts val="600"/>
              </a:spcAft>
              <a:buSzPct val="100000"/>
              <a:buChar char="•"/>
            </a:pPr>
            <a:r>
              <a:rPr lang="en-US" sz="1050" dirty="0">
                <a:solidFill>
                  <a:srgbClr val="C7D2E0"/>
                </a:solidFill>
                <a:latin typeface="Calibri" pitchFamily="34" charset="0"/>
                <a:ea typeface="Calibri" pitchFamily="34" charset="-122"/>
                <a:cs typeface="Calibri" pitchFamily="34" charset="-120"/>
              </a:rPr>
              <a:t>Full HEDIS specs (exclusions, continuous enrolment)</a:t>
            </a:r>
            <a:endParaRPr lang="en-US" sz="1050" dirty="0"/>
          </a:p>
          <a:p>
            <a:pPr marL="177800" indent="-177800">
              <a:spcAft>
                <a:spcPts val="600"/>
              </a:spcAft>
              <a:buSzPct val="100000"/>
              <a:buChar char="•"/>
            </a:pPr>
            <a:r>
              <a:rPr lang="en-US" sz="1050" dirty="0">
                <a:solidFill>
                  <a:srgbClr val="C7D2E0"/>
                </a:solidFill>
                <a:latin typeface="Calibri" pitchFamily="34" charset="0"/>
                <a:ea typeface="Calibri" pitchFamily="34" charset="-122"/>
                <a:cs typeface="Calibri" pitchFamily="34" charset="-120"/>
              </a:rPr>
              <a:t>Feed the outreach list to care management and measure gap closure per contact</a:t>
            </a:r>
            <a:endParaRPr lang="en-US" sz="1050" dirty="0"/>
          </a:p>
        </p:txBody>
      </p:sp>
      <p:sp>
        <p:nvSpPr>
          <p:cNvPr id="49" name="Text 47"/>
          <p:cNvSpPr txBox="1"/>
          <p:nvPr/>
        </p:nvSpPr>
        <p:spPr>
          <a:xfrm>
            <a:off x="548640" y="4983480"/>
            <a:ext cx="11091672" cy="502920"/>
          </a:xfrm>
          <a:prstGeom prst="rect">
            <a:avLst/>
          </a:prstGeom>
          <a:noFill/>
          <a:ln/>
        </p:spPr>
        <p:txBody>
          <a:bodyPr wrap="square" lIns="0" tIns="0" rIns="0" bIns="0" rtlCol="0" anchor="t"/>
          <a:lstStyle/>
          <a:p>
            <a:pPr indent="0" marL="0">
              <a:buNone/>
            </a:pPr>
            <a:r>
              <a:rPr lang="en-US" sz="1050" dirty="0">
                <a:solidFill>
                  <a:srgbClr val="9FB3C8"/>
                </a:solidFill>
                <a:latin typeface="Calibri" pitchFamily="34" charset="0"/>
                <a:ea typeface="Calibri" pitchFamily="34" charset="-122"/>
                <a:cs typeface="Calibri" pitchFamily="34" charset="-120"/>
              </a:rPr>
              <a:t>Deliverables: src/generate_synthetic_data.py · notebooks/01_clean_and_build_star_schema.ipynb · data/star_schema/ · powerbi/measures.dax · powerbi/dashboard_spec.md · powerbi/theme_navy_teal.json · README.md</a:t>
            </a:r>
            <a:endParaRPr lang="en-US" sz="1050" dirty="0"/>
          </a:p>
        </p:txBody>
      </p:sp>
      <p:sp>
        <p:nvSpPr>
          <p:cNvPr id="50" name="Shape 48"/>
          <p:cNvSpPr/>
          <p:nvPr/>
        </p:nvSpPr>
        <p:spPr>
          <a:xfrm>
            <a:off x="548640" y="5532120"/>
            <a:ext cx="11091672" cy="548640"/>
          </a:xfrm>
          <a:prstGeom prst="roundRect">
            <a:avLst>
              <a:gd name="adj" fmla="val 20000"/>
            </a:avLst>
          </a:prstGeom>
          <a:solidFill>
            <a:srgbClr val="12294A"/>
          </a:solidFill>
          <a:ln w="9525">
            <a:solidFill>
              <a:srgbClr val="1E3A5F"/>
            </a:solidFill>
            <a:prstDash val="solid"/>
          </a:ln>
        </p:spPr>
      </p:sp>
      <p:sp>
        <p:nvSpPr>
          <p:cNvPr id="51" name="Text 49"/>
          <p:cNvSpPr txBox="1"/>
          <p:nvPr/>
        </p:nvSpPr>
        <p:spPr>
          <a:xfrm>
            <a:off x="777240" y="5532120"/>
            <a:ext cx="10634472" cy="548640"/>
          </a:xfrm>
          <a:prstGeom prst="rect">
            <a:avLst/>
          </a:prstGeom>
          <a:noFill/>
          <a:ln/>
        </p:spPr>
        <p:txBody>
          <a:bodyPr wrap="square" lIns="0" tIns="0" rIns="0" bIns="0" rtlCol="0" anchor="ctr"/>
          <a:lstStyle/>
          <a:p>
            <a:pPr indent="0" marL="0">
              <a:buNone/>
            </a:pPr>
            <a:r>
              <a:rPr lang="en-US" sz="1200" b="1" dirty="0">
                <a:solidFill>
                  <a:srgbClr val="2DD4BF"/>
                </a:solidFill>
                <a:latin typeface="Calibri" pitchFamily="34" charset="0"/>
                <a:ea typeface="Calibri" pitchFamily="34" charset="-122"/>
                <a:cs typeface="Calibri" pitchFamily="34" charset="-120"/>
              </a:rPr>
              <a:t>Population-health principle: </a:t>
            </a:r>
            <a:pPr indent="0" marL="0">
              <a:buNone/>
            </a:pPr>
            <a:r>
              <a:rPr lang="en-US" sz="1200" dirty="0">
                <a:solidFill>
                  <a:srgbClr val="C7D2E0"/>
                </a:solidFill>
                <a:latin typeface="Calibri" pitchFamily="34" charset="0"/>
                <a:ea typeface="Calibri" pitchFamily="34" charset="-122"/>
                <a:cs typeface="Calibri" pitchFamily="34" charset="-120"/>
              </a:rPr>
              <a:t>honest denominators, guideline-based thresholds, equity as a lens on every page, and a path from every chart to the patients behind 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Population Health &amp; Preventive Care Dashboard</dc:title>
  <dc:subject>PptxGenJS Presentation</dc:subject>
  <dc:creator>Health Analytics Portfolio</dc:creator>
  <cp:lastModifiedBy>Health Analytics Portfolio</cp:lastModifiedBy>
  <cp:revision>1</cp:revision>
  <dcterms:created xsi:type="dcterms:W3CDTF">2026-09-28T12:25:17Z</dcterms:created>
  <dcterms:modified xsi:type="dcterms:W3CDTF">2026-09-28T12:25:17Z</dcterms:modified>
</cp:coreProperties>
</file>