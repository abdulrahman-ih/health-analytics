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Share of patients with an impossible 0 recorded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Impossible zeros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Insulin</c:v>
                  </c:pt>
                  <c:pt idx="1">
                    <c:v>SkinThickness</c:v>
                  </c:pt>
                  <c:pt idx="2">
                    <c:v>BloodPressure</c:v>
                  </c:pt>
                  <c:pt idx="3">
                    <c:v>BMI</c:v>
                  </c:pt>
                  <c:pt idx="4">
                    <c:v>Glucose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</c:v>
                </c:pt>
                <c:pt idx="1">
                  <c:v>29.6</c:v>
                </c:pt>
                <c:pt idx="2">
                  <c:v>4.6</c:v>
                </c:pt>
                <c:pt idx="3">
                  <c:v>1.4</c:v>
                </c:pt>
                <c:pt idx="4">
                  <c:v>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2-h glucose band (mg/dL)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Prevalence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&lt;100</c:v>
                  </c:pt>
                  <c:pt idx="1">
                    <c:v>100–125</c:v>
                  </c:pt>
                  <c:pt idx="2">
                    <c:v>≥126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28</c:v>
                </c:pt>
                <c:pt idx="2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BMI band (kg/m²)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Prevalence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&lt;25</c:v>
                  </c:pt>
                  <c:pt idx="1">
                    <c:v>25–29.9</c:v>
                  </c:pt>
                  <c:pt idx="2">
                    <c:v>30–34.9</c:v>
                  </c:pt>
                  <c:pt idx="3">
                    <c:v>≥35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22</c:v>
                </c:pt>
                <c:pt idx="2">
                  <c:v>44</c:v>
                </c:pt>
                <c:pt idx="3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Age band (years)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Prevalence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21–29</c:v>
                  </c:pt>
                  <c:pt idx="1">
                    <c:v>30–39</c:v>
                  </c:pt>
                  <c:pt idx="2">
                    <c:v>40–49</c:v>
                  </c:pt>
                  <c:pt idx="3">
                    <c:v>50+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46</c:v>
                </c:pt>
                <c:pt idx="2">
                  <c:v>55</c:v>
                </c:pt>
                <c:pt idx="3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Held-out ROC curve (AUC 0.82)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4A08C"/>
            </a:solidFill>
            <a:ln w="31750" cap="flat">
              <a:solidFill>
                <a:srgbClr val="14A08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4A08C"/>
              </a:solidFill>
              <a:ln w="9525" cap="flat">
                <a:solidFill>
                  <a:srgbClr val="14A08C"/>
                </a:solidFill>
                <a:prstDash val="solid"/>
                <a:round/>
              </a:ln>
              <a:effectLst/>
            </c:spPr>
          </c:marker>
          <c:xVal>
            <c:numRef>
              <c:f>Sheet1!$A$2:$A$69</c:f>
              <c:numCache>
                <c:formatCode>General</c:formatCode>
                <c:ptCount val="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0.008</c:v>
                </c:pt>
                <c:pt idx="4">
                  <c:v>0.008</c:v>
                </c:pt>
                <c:pt idx="5">
                  <c:v>0.032</c:v>
                </c:pt>
                <c:pt idx="6">
                  <c:v>0.032</c:v>
                </c:pt>
                <c:pt idx="7">
                  <c:v>0.04</c:v>
                </c:pt>
                <c:pt idx="8">
                  <c:v>0.04</c:v>
                </c:pt>
                <c:pt idx="9">
                  <c:v>0.048</c:v>
                </c:pt>
                <c:pt idx="10">
                  <c:v>0.048</c:v>
                </c:pt>
                <c:pt idx="11">
                  <c:v>0.056</c:v>
                </c:pt>
                <c:pt idx="12">
                  <c:v>0.056</c:v>
                </c:pt>
                <c:pt idx="13">
                  <c:v>0.072</c:v>
                </c:pt>
                <c:pt idx="14">
                  <c:v>0.072</c:v>
                </c:pt>
                <c:pt idx="15">
                  <c:v>0.08</c:v>
                </c:pt>
                <c:pt idx="16">
                  <c:v>0.08</c:v>
                </c:pt>
                <c:pt idx="17">
                  <c:v>0.088</c:v>
                </c:pt>
                <c:pt idx="18">
                  <c:v>0.088</c:v>
                </c:pt>
                <c:pt idx="19">
                  <c:v>0.104</c:v>
                </c:pt>
                <c:pt idx="20">
                  <c:v>0.104</c:v>
                </c:pt>
                <c:pt idx="21">
                  <c:v>0.128</c:v>
                </c:pt>
                <c:pt idx="22">
                  <c:v>0.128</c:v>
                </c:pt>
                <c:pt idx="23">
                  <c:v>0.136</c:v>
                </c:pt>
                <c:pt idx="24">
                  <c:v>0.136</c:v>
                </c:pt>
                <c:pt idx="25">
                  <c:v>0.144</c:v>
                </c:pt>
                <c:pt idx="26">
                  <c:v>0.144</c:v>
                </c:pt>
                <c:pt idx="27">
                  <c:v>0.152</c:v>
                </c:pt>
                <c:pt idx="28">
                  <c:v>0.152</c:v>
                </c:pt>
                <c:pt idx="29">
                  <c:v>0.16</c:v>
                </c:pt>
                <c:pt idx="30">
                  <c:v>0.16</c:v>
                </c:pt>
                <c:pt idx="31">
                  <c:v>0.176</c:v>
                </c:pt>
                <c:pt idx="32">
                  <c:v>0.176</c:v>
                </c:pt>
                <c:pt idx="33">
                  <c:v>0.184</c:v>
                </c:pt>
                <c:pt idx="34">
                  <c:v>0.184</c:v>
                </c:pt>
                <c:pt idx="35">
                  <c:v>0.192</c:v>
                </c:pt>
                <c:pt idx="36">
                  <c:v>0.192</c:v>
                </c:pt>
                <c:pt idx="37">
                  <c:v>0.208</c:v>
                </c:pt>
                <c:pt idx="38">
                  <c:v>0.208</c:v>
                </c:pt>
                <c:pt idx="39">
                  <c:v>0.216</c:v>
                </c:pt>
                <c:pt idx="40">
                  <c:v>0.216</c:v>
                </c:pt>
                <c:pt idx="41">
                  <c:v>0.224</c:v>
                </c:pt>
                <c:pt idx="42">
                  <c:v>0.224</c:v>
                </c:pt>
                <c:pt idx="43">
                  <c:v>0.248</c:v>
                </c:pt>
                <c:pt idx="44">
                  <c:v>0.248</c:v>
                </c:pt>
                <c:pt idx="45">
                  <c:v>0.256</c:v>
                </c:pt>
                <c:pt idx="46">
                  <c:v>0.256</c:v>
                </c:pt>
                <c:pt idx="47">
                  <c:v>0.304</c:v>
                </c:pt>
                <c:pt idx="48">
                  <c:v>0.304</c:v>
                </c:pt>
                <c:pt idx="49">
                  <c:v>0.32</c:v>
                </c:pt>
                <c:pt idx="50">
                  <c:v>0.32</c:v>
                </c:pt>
                <c:pt idx="51">
                  <c:v>0.344</c:v>
                </c:pt>
                <c:pt idx="52">
                  <c:v>0.344</c:v>
                </c:pt>
                <c:pt idx="53">
                  <c:v>0.392</c:v>
                </c:pt>
                <c:pt idx="54">
                  <c:v>0.392</c:v>
                </c:pt>
                <c:pt idx="55">
                  <c:v>0.4</c:v>
                </c:pt>
                <c:pt idx="56">
                  <c:v>0.4</c:v>
                </c:pt>
                <c:pt idx="57">
                  <c:v>0.432</c:v>
                </c:pt>
                <c:pt idx="58">
                  <c:v>0.432</c:v>
                </c:pt>
                <c:pt idx="59">
                  <c:v>0.456</c:v>
                </c:pt>
                <c:pt idx="60">
                  <c:v>0.456</c:v>
                </c:pt>
                <c:pt idx="61">
                  <c:v>0.464</c:v>
                </c:pt>
                <c:pt idx="62">
                  <c:v>0.464</c:v>
                </c:pt>
                <c:pt idx="63">
                  <c:v>0.496</c:v>
                </c:pt>
                <c:pt idx="64">
                  <c:v>0.496</c:v>
                </c:pt>
                <c:pt idx="65">
                  <c:v>0.816</c:v>
                </c:pt>
                <c:pt idx="66">
                  <c:v>0.816</c:v>
                </c:pt>
                <c:pt idx="67">
                  <c:v>1</c:v>
                </c:pt>
              </c:numCache>
            </c:numRef>
          </c:xVal>
          <c:yVal>
            <c:numRef>
              <c:f>Sheet1!$B$2:$B$69</c:f>
              <c:numCache>
                <c:formatCode>General</c:formatCode>
                <c:ptCount val="68"/>
                <c:pt idx="0">
                  <c:v>0</c:v>
                </c:pt>
                <c:pt idx="1">
                  <c:v>0.0149</c:v>
                </c:pt>
                <c:pt idx="2">
                  <c:v>0.1194</c:v>
                </c:pt>
                <c:pt idx="3">
                  <c:v>0.1194</c:v>
                </c:pt>
                <c:pt idx="4">
                  <c:v>0.1642</c:v>
                </c:pt>
                <c:pt idx="5">
                  <c:v>0.1642</c:v>
                </c:pt>
                <c:pt idx="6">
                  <c:v>0.209</c:v>
                </c:pt>
                <c:pt idx="7">
                  <c:v>0.209</c:v>
                </c:pt>
                <c:pt idx="8">
                  <c:v>0.2239</c:v>
                </c:pt>
                <c:pt idx="9">
                  <c:v>0.2239</c:v>
                </c:pt>
                <c:pt idx="10">
                  <c:v>0.2687</c:v>
                </c:pt>
                <c:pt idx="11">
                  <c:v>0.2687</c:v>
                </c:pt>
                <c:pt idx="12">
                  <c:v>0.3433</c:v>
                </c:pt>
                <c:pt idx="13">
                  <c:v>0.3433</c:v>
                </c:pt>
                <c:pt idx="14">
                  <c:v>0.3731</c:v>
                </c:pt>
                <c:pt idx="15">
                  <c:v>0.3731</c:v>
                </c:pt>
                <c:pt idx="16">
                  <c:v>0.403</c:v>
                </c:pt>
                <c:pt idx="17">
                  <c:v>0.403</c:v>
                </c:pt>
                <c:pt idx="18">
                  <c:v>0.4179</c:v>
                </c:pt>
                <c:pt idx="19">
                  <c:v>0.4179</c:v>
                </c:pt>
                <c:pt idx="20">
                  <c:v>0.4328</c:v>
                </c:pt>
                <c:pt idx="21">
                  <c:v>0.4328</c:v>
                </c:pt>
                <c:pt idx="22">
                  <c:v>0.4478</c:v>
                </c:pt>
                <c:pt idx="23">
                  <c:v>0.4478</c:v>
                </c:pt>
                <c:pt idx="24">
                  <c:v>0.4627</c:v>
                </c:pt>
                <c:pt idx="25">
                  <c:v>0.4627</c:v>
                </c:pt>
                <c:pt idx="26">
                  <c:v>0.4925</c:v>
                </c:pt>
                <c:pt idx="27">
                  <c:v>0.4925</c:v>
                </c:pt>
                <c:pt idx="28">
                  <c:v>0.5075</c:v>
                </c:pt>
                <c:pt idx="29">
                  <c:v>0.5075</c:v>
                </c:pt>
                <c:pt idx="30">
                  <c:v>0.5224</c:v>
                </c:pt>
                <c:pt idx="31">
                  <c:v>0.5224</c:v>
                </c:pt>
                <c:pt idx="32">
                  <c:v>0.5373</c:v>
                </c:pt>
                <c:pt idx="33">
                  <c:v>0.5373</c:v>
                </c:pt>
                <c:pt idx="34">
                  <c:v>0.5821</c:v>
                </c:pt>
                <c:pt idx="35">
                  <c:v>0.5821</c:v>
                </c:pt>
                <c:pt idx="36">
                  <c:v>0.6119</c:v>
                </c:pt>
                <c:pt idx="37">
                  <c:v>0.6119</c:v>
                </c:pt>
                <c:pt idx="38">
                  <c:v>0.6567</c:v>
                </c:pt>
                <c:pt idx="39">
                  <c:v>0.6567</c:v>
                </c:pt>
                <c:pt idx="40">
                  <c:v>0.6716</c:v>
                </c:pt>
                <c:pt idx="41">
                  <c:v>0.6716</c:v>
                </c:pt>
                <c:pt idx="42">
                  <c:v>0.7015</c:v>
                </c:pt>
                <c:pt idx="43">
                  <c:v>0.7015</c:v>
                </c:pt>
                <c:pt idx="44">
                  <c:v>0.7164</c:v>
                </c:pt>
                <c:pt idx="45">
                  <c:v>0.7164</c:v>
                </c:pt>
                <c:pt idx="46">
                  <c:v>0.7612</c:v>
                </c:pt>
                <c:pt idx="47">
                  <c:v>0.7612</c:v>
                </c:pt>
                <c:pt idx="48">
                  <c:v>0.7761</c:v>
                </c:pt>
                <c:pt idx="49">
                  <c:v>0.7761</c:v>
                </c:pt>
                <c:pt idx="50">
                  <c:v>0.8209</c:v>
                </c:pt>
                <c:pt idx="51">
                  <c:v>0.8209</c:v>
                </c:pt>
                <c:pt idx="52">
                  <c:v>0.8955</c:v>
                </c:pt>
                <c:pt idx="53">
                  <c:v>0.8955</c:v>
                </c:pt>
                <c:pt idx="54">
                  <c:v>0.9104</c:v>
                </c:pt>
                <c:pt idx="55">
                  <c:v>0.9104</c:v>
                </c:pt>
                <c:pt idx="56">
                  <c:v>0.9254</c:v>
                </c:pt>
                <c:pt idx="57">
                  <c:v>0.9254</c:v>
                </c:pt>
                <c:pt idx="58">
                  <c:v>0.9403</c:v>
                </c:pt>
                <c:pt idx="59">
                  <c:v>0.9403</c:v>
                </c:pt>
                <c:pt idx="60">
                  <c:v>0.9552</c:v>
                </c:pt>
                <c:pt idx="61">
                  <c:v>0.9552</c:v>
                </c:pt>
                <c:pt idx="62">
                  <c:v>0.9701</c:v>
                </c:pt>
                <c:pt idx="63">
                  <c:v>0.9701</c:v>
                </c:pt>
                <c:pt idx="64">
                  <c:v>0.9851</c:v>
                </c:pt>
                <c:pt idx="65">
                  <c:v>0.9851</c:v>
                </c:pt>
                <c:pt idx="66">
                  <c:v>1</c:v>
                </c:pt>
                <c:pt idx="67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27416A"/>
            </a:solidFill>
            <a:ln w="31750" cap="flat">
              <a:solidFill>
                <a:srgbClr val="27416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7416A"/>
              </a:solidFill>
              <a:ln w="9525" cap="flat">
                <a:solidFill>
                  <a:srgbClr val="27416A"/>
                </a:solidFill>
                <a:prstDash val="solid"/>
                <a:round/>
              </a:ln>
              <a:effectLst/>
            </c:spPr>
          </c:marker>
          <c:xVal>
            <c:numRef>
              <c:f>Sheet1!$A$2:$A$69</c:f>
              <c:numCache>
                <c:formatCode>General</c:formatCode>
                <c:ptCount val="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0.008</c:v>
                </c:pt>
                <c:pt idx="4">
                  <c:v>0.008</c:v>
                </c:pt>
                <c:pt idx="5">
                  <c:v>0.032</c:v>
                </c:pt>
                <c:pt idx="6">
                  <c:v>0.032</c:v>
                </c:pt>
                <c:pt idx="7">
                  <c:v>0.04</c:v>
                </c:pt>
                <c:pt idx="8">
                  <c:v>0.04</c:v>
                </c:pt>
                <c:pt idx="9">
                  <c:v>0.048</c:v>
                </c:pt>
                <c:pt idx="10">
                  <c:v>0.048</c:v>
                </c:pt>
                <c:pt idx="11">
                  <c:v>0.056</c:v>
                </c:pt>
                <c:pt idx="12">
                  <c:v>0.056</c:v>
                </c:pt>
                <c:pt idx="13">
                  <c:v>0.072</c:v>
                </c:pt>
                <c:pt idx="14">
                  <c:v>0.072</c:v>
                </c:pt>
                <c:pt idx="15">
                  <c:v>0.08</c:v>
                </c:pt>
                <c:pt idx="16">
                  <c:v>0.08</c:v>
                </c:pt>
                <c:pt idx="17">
                  <c:v>0.088</c:v>
                </c:pt>
                <c:pt idx="18">
                  <c:v>0.088</c:v>
                </c:pt>
                <c:pt idx="19">
                  <c:v>0.104</c:v>
                </c:pt>
                <c:pt idx="20">
                  <c:v>0.104</c:v>
                </c:pt>
                <c:pt idx="21">
                  <c:v>0.128</c:v>
                </c:pt>
                <c:pt idx="22">
                  <c:v>0.128</c:v>
                </c:pt>
                <c:pt idx="23">
                  <c:v>0.136</c:v>
                </c:pt>
                <c:pt idx="24">
                  <c:v>0.136</c:v>
                </c:pt>
                <c:pt idx="25">
                  <c:v>0.144</c:v>
                </c:pt>
                <c:pt idx="26">
                  <c:v>0.144</c:v>
                </c:pt>
                <c:pt idx="27">
                  <c:v>0.152</c:v>
                </c:pt>
                <c:pt idx="28">
                  <c:v>0.152</c:v>
                </c:pt>
                <c:pt idx="29">
                  <c:v>0.16</c:v>
                </c:pt>
                <c:pt idx="30">
                  <c:v>0.16</c:v>
                </c:pt>
                <c:pt idx="31">
                  <c:v>0.176</c:v>
                </c:pt>
                <c:pt idx="32">
                  <c:v>0.176</c:v>
                </c:pt>
                <c:pt idx="33">
                  <c:v>0.184</c:v>
                </c:pt>
                <c:pt idx="34">
                  <c:v>0.184</c:v>
                </c:pt>
                <c:pt idx="35">
                  <c:v>0.192</c:v>
                </c:pt>
                <c:pt idx="36">
                  <c:v>0.192</c:v>
                </c:pt>
                <c:pt idx="37">
                  <c:v>0.208</c:v>
                </c:pt>
                <c:pt idx="38">
                  <c:v>0.208</c:v>
                </c:pt>
                <c:pt idx="39">
                  <c:v>0.216</c:v>
                </c:pt>
                <c:pt idx="40">
                  <c:v>0.216</c:v>
                </c:pt>
                <c:pt idx="41">
                  <c:v>0.224</c:v>
                </c:pt>
                <c:pt idx="42">
                  <c:v>0.224</c:v>
                </c:pt>
                <c:pt idx="43">
                  <c:v>0.248</c:v>
                </c:pt>
                <c:pt idx="44">
                  <c:v>0.248</c:v>
                </c:pt>
                <c:pt idx="45">
                  <c:v>0.256</c:v>
                </c:pt>
                <c:pt idx="46">
                  <c:v>0.256</c:v>
                </c:pt>
                <c:pt idx="47">
                  <c:v>0.304</c:v>
                </c:pt>
                <c:pt idx="48">
                  <c:v>0.304</c:v>
                </c:pt>
                <c:pt idx="49">
                  <c:v>0.32</c:v>
                </c:pt>
                <c:pt idx="50">
                  <c:v>0.32</c:v>
                </c:pt>
                <c:pt idx="51">
                  <c:v>0.344</c:v>
                </c:pt>
                <c:pt idx="52">
                  <c:v>0.344</c:v>
                </c:pt>
                <c:pt idx="53">
                  <c:v>0.392</c:v>
                </c:pt>
                <c:pt idx="54">
                  <c:v>0.392</c:v>
                </c:pt>
                <c:pt idx="55">
                  <c:v>0.4</c:v>
                </c:pt>
                <c:pt idx="56">
                  <c:v>0.4</c:v>
                </c:pt>
                <c:pt idx="57">
                  <c:v>0.432</c:v>
                </c:pt>
                <c:pt idx="58">
                  <c:v>0.432</c:v>
                </c:pt>
                <c:pt idx="59">
                  <c:v>0.456</c:v>
                </c:pt>
                <c:pt idx="60">
                  <c:v>0.456</c:v>
                </c:pt>
                <c:pt idx="61">
                  <c:v>0.464</c:v>
                </c:pt>
                <c:pt idx="62">
                  <c:v>0.464</c:v>
                </c:pt>
                <c:pt idx="63">
                  <c:v>0.496</c:v>
                </c:pt>
                <c:pt idx="64">
                  <c:v>0.496</c:v>
                </c:pt>
                <c:pt idx="65">
                  <c:v>0.816</c:v>
                </c:pt>
                <c:pt idx="66">
                  <c:v>0.816</c:v>
                </c:pt>
                <c:pt idx="67">
                  <c:v>1</c:v>
                </c:pt>
              </c:numCache>
            </c:numRef>
          </c:xVal>
          <c:yVal>
            <c:numRef>
              <c:f>Sheet1!$C$2:$C$69</c:f>
              <c:numCache>
                <c:formatCode>General</c:formatCode>
                <c:ptCount val="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0.008</c:v>
                </c:pt>
                <c:pt idx="4">
                  <c:v>0.008</c:v>
                </c:pt>
                <c:pt idx="5">
                  <c:v>0.032</c:v>
                </c:pt>
                <c:pt idx="6">
                  <c:v>0.032</c:v>
                </c:pt>
                <c:pt idx="7">
                  <c:v>0.04</c:v>
                </c:pt>
                <c:pt idx="8">
                  <c:v>0.04</c:v>
                </c:pt>
                <c:pt idx="9">
                  <c:v>0.048</c:v>
                </c:pt>
                <c:pt idx="10">
                  <c:v>0.048</c:v>
                </c:pt>
                <c:pt idx="11">
                  <c:v>0.056</c:v>
                </c:pt>
                <c:pt idx="12">
                  <c:v>0.056</c:v>
                </c:pt>
                <c:pt idx="13">
                  <c:v>0.072</c:v>
                </c:pt>
                <c:pt idx="14">
                  <c:v>0.072</c:v>
                </c:pt>
                <c:pt idx="15">
                  <c:v>0.08</c:v>
                </c:pt>
                <c:pt idx="16">
                  <c:v>0.08</c:v>
                </c:pt>
                <c:pt idx="17">
                  <c:v>0.088</c:v>
                </c:pt>
                <c:pt idx="18">
                  <c:v>0.088</c:v>
                </c:pt>
                <c:pt idx="19">
                  <c:v>0.104</c:v>
                </c:pt>
                <c:pt idx="20">
                  <c:v>0.104</c:v>
                </c:pt>
                <c:pt idx="21">
                  <c:v>0.128</c:v>
                </c:pt>
                <c:pt idx="22">
                  <c:v>0.128</c:v>
                </c:pt>
                <c:pt idx="23">
                  <c:v>0.136</c:v>
                </c:pt>
                <c:pt idx="24">
                  <c:v>0.136</c:v>
                </c:pt>
                <c:pt idx="25">
                  <c:v>0.144</c:v>
                </c:pt>
                <c:pt idx="26">
                  <c:v>0.144</c:v>
                </c:pt>
                <c:pt idx="27">
                  <c:v>0.152</c:v>
                </c:pt>
                <c:pt idx="28">
                  <c:v>0.152</c:v>
                </c:pt>
                <c:pt idx="29">
                  <c:v>0.16</c:v>
                </c:pt>
                <c:pt idx="30">
                  <c:v>0.16</c:v>
                </c:pt>
                <c:pt idx="31">
                  <c:v>0.176</c:v>
                </c:pt>
                <c:pt idx="32">
                  <c:v>0.176</c:v>
                </c:pt>
                <c:pt idx="33">
                  <c:v>0.184</c:v>
                </c:pt>
                <c:pt idx="34">
                  <c:v>0.184</c:v>
                </c:pt>
                <c:pt idx="35">
                  <c:v>0.192</c:v>
                </c:pt>
                <c:pt idx="36">
                  <c:v>0.192</c:v>
                </c:pt>
                <c:pt idx="37">
                  <c:v>0.208</c:v>
                </c:pt>
                <c:pt idx="38">
                  <c:v>0.208</c:v>
                </c:pt>
                <c:pt idx="39">
                  <c:v>0.216</c:v>
                </c:pt>
                <c:pt idx="40">
                  <c:v>0.216</c:v>
                </c:pt>
                <c:pt idx="41">
                  <c:v>0.224</c:v>
                </c:pt>
                <c:pt idx="42">
                  <c:v>0.224</c:v>
                </c:pt>
                <c:pt idx="43">
                  <c:v>0.248</c:v>
                </c:pt>
                <c:pt idx="44">
                  <c:v>0.248</c:v>
                </c:pt>
                <c:pt idx="45">
                  <c:v>0.256</c:v>
                </c:pt>
                <c:pt idx="46">
                  <c:v>0.256</c:v>
                </c:pt>
                <c:pt idx="47">
                  <c:v>0.304</c:v>
                </c:pt>
                <c:pt idx="48">
                  <c:v>0.304</c:v>
                </c:pt>
                <c:pt idx="49">
                  <c:v>0.32</c:v>
                </c:pt>
                <c:pt idx="50">
                  <c:v>0.32</c:v>
                </c:pt>
                <c:pt idx="51">
                  <c:v>0.344</c:v>
                </c:pt>
                <c:pt idx="52">
                  <c:v>0.344</c:v>
                </c:pt>
                <c:pt idx="53">
                  <c:v>0.392</c:v>
                </c:pt>
                <c:pt idx="54">
                  <c:v>0.392</c:v>
                </c:pt>
                <c:pt idx="55">
                  <c:v>0.4</c:v>
                </c:pt>
                <c:pt idx="56">
                  <c:v>0.4</c:v>
                </c:pt>
                <c:pt idx="57">
                  <c:v>0.432</c:v>
                </c:pt>
                <c:pt idx="58">
                  <c:v>0.432</c:v>
                </c:pt>
                <c:pt idx="59">
                  <c:v>0.456</c:v>
                </c:pt>
                <c:pt idx="60">
                  <c:v>0.456</c:v>
                </c:pt>
                <c:pt idx="61">
                  <c:v>0.464</c:v>
                </c:pt>
                <c:pt idx="62">
                  <c:v>0.464</c:v>
                </c:pt>
                <c:pt idx="63">
                  <c:v>0.496</c:v>
                </c:pt>
                <c:pt idx="64">
                  <c:v>0.496</c:v>
                </c:pt>
                <c:pt idx="65">
                  <c:v>0.816</c:v>
                </c:pt>
                <c:pt idx="66">
                  <c:v>0.816</c:v>
                </c:pt>
                <c:pt idx="67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3C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9FB3C8"/>
                    </a:solidFill>
                    <a:latin typeface="Calibri"/>
                  </a:rPr>
                  <a:t>False-positive rate (1 − specificity)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2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3C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9FB3C8"/>
                    </a:solidFill>
                    <a:latin typeface="Calibri"/>
                  </a:rPr>
                  <a:t>Sensitivity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solidFill>
          <a:srgbClr val="0B1F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6EEF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Odds ratio per 1 SD (1.0 = no effect)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 per SD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Skin-fold thickness</c:v>
                  </c:pt>
                  <c:pt idx="1">
                    <c:v>Blood pressure</c:v>
                  </c:pt>
                  <c:pt idx="2">
                    <c:v>Insulin</c:v>
                  </c:pt>
                  <c:pt idx="3">
                    <c:v>Age</c:v>
                  </c:pt>
                  <c:pt idx="4">
                    <c:v>Pedigree (family history)</c:v>
                  </c:pt>
                  <c:pt idx="5">
                    <c:v>Pregnancies</c:v>
                  </c:pt>
                  <c:pt idx="6">
                    <c:v>BMI</c:v>
                  </c:pt>
                  <c:pt idx="7">
                    <c:v>Glucose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0.93</c:v>
                </c:pt>
                <c:pt idx="1">
                  <c:v>0.94</c:v>
                </c:pt>
                <c:pt idx="2">
                  <c:v>0.96</c:v>
                </c:pt>
                <c:pt idx="3">
                  <c:v>1.13</c:v>
                </c:pt>
                <c:pt idx="4">
                  <c:v>1.24</c:v>
                </c:pt>
                <c:pt idx="5">
                  <c:v>1.57</c:v>
                </c:pt>
                <c:pt idx="6">
                  <c:v>2.1</c:v>
                </c:pt>
                <c:pt idx="7">
                  <c:v>3.28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Observed diabetes rate by tier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diabetes rate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(&lt;20%)</c:v>
                  </c:pt>
                  <c:pt idx="1">
                    <c:v>Moderate (20–50%)</c:v>
                  </c:pt>
                  <c:pt idx="2">
                    <c:v>High (≥50%)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49</c:v>
                </c:pt>
                <c:pt idx="2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E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1 of the health data analytics portfolio. The deck walks through the data quality problems, the clinical patterns, the model and the actionable risk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5669280" cy="566928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91440"/>
            <a:ext cx="3108960" cy="310896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01  ·  HEALTH DATA ANALYTICS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40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661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eight routine measurements into a patient risk score with the Pima Indians Diabetes dataset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statsmodels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→  Exploratory analysis  →  Logistic-regression risk model  →  Risk stratification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risk is measured but never scored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is preventable when high-risk patients are found early, but routine labs rarely become a risk score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0824"/>
            <a:ext cx="566928" cy="566928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156887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lab data fit for use?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is missing or implausible, and how should it be handled without biasing the analysis?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603504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438144"/>
            <a:ext cx="566928" cy="566928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3574207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two groups?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57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measurements distinguish patients who develop diabetes, crudely and after adjustment?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603504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855464"/>
            <a:ext cx="566928" cy="566928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4991527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690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stratify patients?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5074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explainable model rank patients into low / moderate / high tiers a clinic can act on?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040880" y="21488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269480" y="2313432"/>
            <a:ext cx="17373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7269480" y="3027578"/>
            <a:ext cx="17373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 aged 21+, NIDDK Pima cohort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418320" y="21488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46920" y="2313432"/>
            <a:ext cx="17373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9646920" y="3027578"/>
            <a:ext cx="17373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features, from glucose and BMI to family history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040880" y="37490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269480" y="3913632"/>
            <a:ext cx="17373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4627778"/>
            <a:ext cx="17373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with diabetes within 5 years (268 patients)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418320" y="374904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646920" y="3913632"/>
            <a:ext cx="17373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</a:t>
            </a:r>
            <a:endParaRPr lang="en-US" sz="3600" dirty="0"/>
          </a:p>
        </p:txBody>
      </p:sp>
      <p:sp>
        <p:nvSpPr>
          <p:cNvPr id="31" name="Text 26"/>
          <p:cNvSpPr txBox="1"/>
          <p:nvPr/>
        </p:nvSpPr>
        <p:spPr>
          <a:xfrm>
            <a:off x="9646920" y="4627778"/>
            <a:ext cx="17373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horizon: a later diagnosis, not a test result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704088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Institute of Diabetes and Digestive and Kidney Diseases, via UCI / Kaggle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zeros that mean “not measured”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plasma glucose or BMI of zero is not compatible with life, so these zeros are missing values in disguise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21031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2395728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2527402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2231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zeros to missing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578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Glucose, BloodPressure, SkinThickness, Insulin and BMI. Pregnancies keeps its real zeros.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858000" y="338328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40880" y="3675888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4" y="38075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72400" y="35112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patients, impute the median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0" y="3858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392 of 768 are complete cases; missingness is only weakly linked to outcome, so imputation beats dropping rows.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0" y="466344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040880" y="4956048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4" y="508772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72400" y="4791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inside the model pipeline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0" y="5138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training folds only, so nothing leaks from the held-out test set.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for informatics: store nulls explicitly at the point of capture. One form design choice corrupted half the cohort's insulin values.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separates the two groups most clearly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values by outcome after cleaning; the diabetic group's glucose median sits on the impaired-glucose-tolerance threshold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diabetes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965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 plasma glucose  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107.5 mg/dL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mg/dL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65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+32.5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1965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≥140 mg/dL defines impaired glucose tolerance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243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 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 kg/m²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34.25 kg/m²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6243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+3.85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624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obese on average; diabetic group ~4 units higher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28269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282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years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282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years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2826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282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rises after 30, plateaus after 40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41064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410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 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3941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count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3941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count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9410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39410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gestational-diabetes history likely embedded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99432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599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Pedigree function  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0" y="45994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 score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45994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score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599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686800" y="45994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history: modest shift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2578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  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5257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mm Hg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394960" y="5257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mm Hg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257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0" y="5257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difference at the median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correlate of the outcome: glucose (r = 0.49), then BMI (0.31) and age (0.24). Insulin, blood pressure and skin-fold barely move at the median.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rises steeply with glucose and BMI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 (%) across clinically meaningful bands, all 768 patients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3566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600200"/>
          <a:ext cx="3749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229600" y="1600200"/>
          <a:ext cx="3383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</a:t>
            </a:r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 prevalence from the lowest to the highest glucose band, and </a:t>
            </a:r>
            <a:pPr indent="0" marL="0">
              <a:buNone/>
            </a:pPr>
            <a:r>
              <a:rPr lang="en-US" sz="1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</a:t>
            </a:r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BMI classes. Both are cheap, routine measurements, and BMI is modifiable. Age looks strong here but is mostly a proxy (next slides).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interpretable, leak-free risk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75 / 25 split (576 / 192 patients) · median imputation → standardisation → L2 logistic regression · 5-fold CV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6002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764792"/>
            <a:ext cx="2240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422246"/>
            <a:ext cx="224028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AUC (5-fold, ± 0.02)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915400" y="16002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0" y="1764792"/>
            <a:ext cx="2240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2422246"/>
            <a:ext cx="224028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AUC on 192 unseen patients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06324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227832"/>
            <a:ext cx="2240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885286"/>
            <a:ext cx="224028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(predicting the base rate would score 0.23)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15400" y="306324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0" y="3227832"/>
            <a:ext cx="2240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/ 8%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3885286"/>
            <a:ext cx="224028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observed rate in the low-risk band (well calibrated)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452628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495604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read as odds ratios a clinician can sanity-check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768 rows its discrimination is competitive with tree ensembles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scores are far more likely to be adopted in a care pathway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risk once everything is adjusted for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per one-standard-deviation increase, holding the other seven features constant (95% CI from statsmodels)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0" y="1837944"/>
            <a:ext cx="512064" cy="512064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215" y="1960839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18120" y="1691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 ·  OR 3.28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20116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(2.49–4.31). Each +30 mg/dL more than triples the odds. The dominant driver.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949440" y="274320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0" y="2980944"/>
            <a:ext cx="512064" cy="512064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215" y="310383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2834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 ·  OR 2.10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31546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(1.59–2.79). Each +6.8 kg/m² doubles the odds, independently of glucose. Modifiable.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949440" y="388620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32320" y="4123944"/>
            <a:ext cx="512064" cy="512064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215" y="4246839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818120" y="3977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 ·  OR 1.57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818120" y="42976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(1.22–2.02). Likely capturing gestational-diabetes history.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49440" y="502920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0" y="5266944"/>
            <a:ext cx="512064" cy="512064"/>
          </a:xfrm>
          <a:prstGeom prst="ellipse">
            <a:avLst/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215" y="5389839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818120" y="5120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OR 1.13, CI crosses 1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7818120" y="54406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crude effect vanishes once glucose, BMI and pregnancies are known. Age is a proxy, not a driver.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screening, flag at 0.30 rather than 0.50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case (undetected progression) costs more than a false alarm (an extra HbA1c test and a lifestyle conversation)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1051560"/>
                <a:gridCol w="1051560"/>
                <a:gridCol w="640080"/>
                <a:gridCol w="1051560"/>
                <a:gridCol w="960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(of 67)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(default)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27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27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27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69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 screening threshold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63840" y="164592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8105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→ 78%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496312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share of future diabetes cases caught, moving from 0.50 to 0.30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32004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33649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2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→ 15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050792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cases in the 192-patient test set, more than halved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6949440" cy="178308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617720"/>
            <a:ext cx="566928" cy="566928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475378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54480" y="4480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828032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share rises from 28% to 47% of patients: a workable follow-up load in a cohort with 35% prevalence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falls from 84% to 69%: 19 extra patients get an unnecessary confirmatory test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policy choice; the model exposes the trade-off so the care team can set it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863840" y="475488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92440" y="4846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the wrong yardstick here: predicting “no diabetes” for everyone scores 65%. Sensitivity, specificity and AUC are reported instead.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risk tiers turn a probability into an 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patients binned on predicted probability; observed five-year diabetes rate per tier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00200"/>
            <a:ext cx="5760720" cy="1188720"/>
          </a:xfrm>
          <a:prstGeom prst="roundRect">
            <a:avLst>
              <a:gd name="adj" fmla="val 923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874520"/>
            <a:ext cx="640080" cy="640080"/>
          </a:xfrm>
          <a:prstGeom prst="ellipse">
            <a:avLst/>
          </a:prstGeom>
          <a:solidFill>
            <a:srgbClr val="3FBFAA"/>
          </a:solidFill>
          <a:ln w="12700">
            <a:solidFill>
              <a:srgbClr val="3FBFA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709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 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&lt; 20%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patients · 10% of all future cases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care; re-screen in 3 years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2926080"/>
            <a:ext cx="5760720" cy="1188720"/>
          </a:xfrm>
          <a:prstGeom prst="roundRect">
            <a:avLst>
              <a:gd name="adj" fmla="val 923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200400"/>
            <a:ext cx="640080" cy="640080"/>
          </a:xfrm>
          <a:prstGeom prst="ellipse">
            <a:avLst/>
          </a:prstGeom>
          <a:solidFill>
            <a:srgbClr val="3FBFAA"/>
          </a:solidFill>
          <a:ln w="12700">
            <a:solidFill>
              <a:srgbClr val="3FBF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 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20–50%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patients · 39% of all future cases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3657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counselling; repeat OGTT / HbA1c within 12 months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52160" y="4251960"/>
            <a:ext cx="5760720" cy="1188720"/>
          </a:xfrm>
          <a:prstGeom prst="roundRect">
            <a:avLst>
              <a:gd name="adj" fmla="val 9231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4526280"/>
            <a:ext cx="640080" cy="640080"/>
          </a:xfrm>
          <a:prstGeom prst="ellipse">
            <a:avLst/>
          </a:prstGeom>
          <a:solidFill>
            <a:srgbClr val="D2751A"/>
          </a:solidFill>
          <a:ln w="12700">
            <a:solidFill>
              <a:srgbClr val="D275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4361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 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≥ 50%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patients · 51% of all future cases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diabetes-prevention programme; confirmatory testing now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routine measurements separate an 8% group from a 63% group. </a:t>
            </a:r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the top two tiers (56% of patients) reaches 90% of future cases.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care team and an informatics team should do with this, and what the numbers cannot yet claim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23262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031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on glucose and BMI first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4048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almost all the signal, are cheap, and BMI is modifiable. Age alone is a poor triage criterion.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33777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1546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 0.30, not 0.50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4564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51% → 78%; the extra follow-up load is manageable at 35% prevalence.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44293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20624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by tier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4507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 the Low tier (8% risk); confirmatory testing and referral for the High tier (63%).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16636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548091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525780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“0 = not measured” at the source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463040" y="55595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nulls explicitly and monitor per-feature missingness so drift never silently degrades the score.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949440" y="2011680"/>
            <a:ext cx="4663440" cy="4206240"/>
          </a:xfrm>
          <a:prstGeom prst="roundRect">
            <a:avLst>
              <a:gd name="adj" fmla="val 2609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178040" y="219456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Single-study cohort of Pima women: the method transfers, the coefficients need local refitting and recalibration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patients (192 held out) give wide intervals on calibration and on the weaker predictors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a five-year diagnosis: this is a prognostic score, not a diagnostic test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in insulin and skin-fold assumed uninformative after checking it was only weakly related to outcome; a missing-indicator sensitivity analysis would strengthen that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compare against a gradient-boosted model and add a decision-curve analysis to quantify net benefit at each threshold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Lab Results Analysis  ·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Lab Results Analysis</dc:title>
  <dc:subject>PptxGenJS Presentation</dc:subject>
  <dc:creator>Health Analytics Portfolio</dc:creator>
  <cp:lastModifiedBy>Health Analytics Portfolio</cp:lastModifiedBy>
  <cp:revision>1</cp:revision>
  <dcterms:created xsi:type="dcterms:W3CDTF">2026-09-26T13:21:08Z</dcterms:created>
  <dcterms:modified xsi:type="dcterms:W3CDTF">2026-09-26T13:21:08Z</dcterms:modified>
</cp:coreProperties>
</file>