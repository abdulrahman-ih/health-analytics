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30"/>
                </a:solidFill>
                <a:latin typeface="Calibri"/>
              </a:rPr>
              <a:t>Adherent prescriptions by drug class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Adherent</c:v>
                </c:pt>
              </c:strCache>
            </c:strRef>
          </c:tx>
          <c:spPr>
            <a:solidFill>
              <a:srgbClr val="00949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LAMA/LABA inhaler</c:v>
                  </c:pt>
                  <c:pt idx="1">
                    <c:v>Statin</c:v>
                  </c:pt>
                  <c:pt idx="2">
                    <c:v>Metformin</c:v>
                  </c:pt>
                  <c:pt idx="3">
                    <c:v>Beta blocker</c:v>
                  </c:pt>
                  <c:pt idx="4">
                    <c:v>Calcium channel blocker</c:v>
                  </c:pt>
                  <c:pt idx="5">
                    <c:v>ACE inhibitor</c:v>
                  </c:pt>
                  <c:pt idx="6">
                    <c:v>SGLT2 inhibitor</c:v>
                  </c:pt>
                  <c:pt idx="7">
                    <c:v>ARB</c:v>
                  </c:pt>
                  <c:pt idx="8">
                    <c:v>DPP-4 inhibitor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0.5620396600566572</c:v>
                </c:pt>
                <c:pt idx="1">
                  <c:v>0.6064744562468386</c:v>
                </c:pt>
                <c:pt idx="2">
                  <c:v>0.6176413444725083</c:v>
                </c:pt>
                <c:pt idx="3">
                  <c:v>0.625748502994012</c:v>
                </c:pt>
                <c:pt idx="4">
                  <c:v>0.6475869809203143</c:v>
                </c:pt>
                <c:pt idx="5">
                  <c:v>0.6476248976248976</c:v>
                </c:pt>
                <c:pt idx="6">
                  <c:v>0.6500994035785288</c:v>
                </c:pt>
                <c:pt idx="7">
                  <c:v>0.6579020204815943</c:v>
                </c:pt>
                <c:pt idx="8">
                  <c:v>0.6584536958368734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b"/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30"/>
                </a:solidFill>
                <a:latin typeface="Calibri"/>
              </a:rPr>
              <a:t>Patient PDC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Non-users</c:v>
                </c:pt>
              </c:strCache>
            </c:strRef>
          </c:tx>
          <c:spPr>
            <a:solidFill>
              <a:srgbClr val="E26A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0–10%</c:v>
                  </c:pt>
                  <c:pt idx="1">
                    <c:v>10–20%</c:v>
                  </c:pt>
                  <c:pt idx="2">
                    <c:v>20–30%</c:v>
                  </c:pt>
                  <c:pt idx="3">
                    <c:v>30–40%</c:v>
                  </c:pt>
                  <c:pt idx="4">
                    <c:v>40–50%</c:v>
                  </c:pt>
                  <c:pt idx="5">
                    <c:v>50–60%</c:v>
                  </c:pt>
                  <c:pt idx="6">
                    <c:v>60–70%</c:v>
                  </c:pt>
                  <c:pt idx="7">
                    <c:v>70–80%</c:v>
                  </c:pt>
                  <c:pt idx="8">
                    <c:v>80–90%</c:v>
                  </c:pt>
                  <c:pt idx="9">
                    <c:v>90–100%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0.005106663372045136</c:v>
                </c:pt>
                <c:pt idx="2">
                  <c:v>0.007248167366773742</c:v>
                </c:pt>
                <c:pt idx="3">
                  <c:v>0.010872251050160613</c:v>
                </c:pt>
                <c:pt idx="4">
                  <c:v>0.028169014084507043</c:v>
                </c:pt>
                <c:pt idx="5">
                  <c:v>0.07025780413475002</c:v>
                </c:pt>
                <c:pt idx="6">
                  <c:v>0.1311259369079977</c:v>
                </c:pt>
                <c:pt idx="7">
                  <c:v>0.1827691293962606</c:v>
                </c:pt>
                <c:pt idx="8">
                  <c:v>0.22996458281854873</c:v>
                </c:pt>
                <c:pt idx="9">
                  <c:v>0.33448645086895645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 reminder users</c:v>
                </c:pt>
              </c:strCache>
            </c:strRef>
          </c:tx>
          <c:spPr>
            <a:solidFill>
              <a:srgbClr val="0094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0–10%</c:v>
                  </c:pt>
                  <c:pt idx="1">
                    <c:v>10–20%</c:v>
                  </c:pt>
                  <c:pt idx="2">
                    <c:v>20–30%</c:v>
                  </c:pt>
                  <c:pt idx="3">
                    <c:v>30–40%</c:v>
                  </c:pt>
                  <c:pt idx="4">
                    <c:v>40–50%</c:v>
                  </c:pt>
                  <c:pt idx="5">
                    <c:v>50–60%</c:v>
                  </c:pt>
                  <c:pt idx="6">
                    <c:v>60–70%</c:v>
                  </c:pt>
                  <c:pt idx="7">
                    <c:v>70–80%</c:v>
                  </c:pt>
                  <c:pt idx="8">
                    <c:v>80–90%</c:v>
                  </c:pt>
                  <c:pt idx="9">
                    <c:v>90–100%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0.0036649214659685864</c:v>
                </c:pt>
                <c:pt idx="2">
                  <c:v>0.007984293193717278</c:v>
                </c:pt>
                <c:pt idx="3">
                  <c:v>0.006544502617801047</c:v>
                </c:pt>
                <c:pt idx="4">
                  <c:v>0.014267015706806283</c:v>
                </c:pt>
                <c:pt idx="5">
                  <c:v>0.038350785340314136</c:v>
                </c:pt>
                <c:pt idx="6">
                  <c:v>0.07068062827225131</c:v>
                </c:pt>
                <c:pt idx="7">
                  <c:v>0.12945026178010471</c:v>
                </c:pt>
                <c:pt idx="8">
                  <c:v>0.21740837696335077</c:v>
                </c:pt>
                <c:pt idx="9">
                  <c:v>0.5116492146596858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-2700000"/>
          <a:lstStyle/>
          <a:p>
            <a:pPr>
              <a:defRPr sz="80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6E9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F2A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30"/>
                </a:solidFill>
                <a:latin typeface="Calibri"/>
              </a:rPr>
              <a:t>Share adherent, by condition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Non-users</c:v>
                </c:pt>
              </c:strCache>
            </c:strRef>
          </c:tx>
          <c:spPr>
            <a:solidFill>
              <a:srgbClr val="E26A2C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Hypertension</c:v>
                  </c:pt>
                  <c:pt idx="1">
                    <c:v>Hyperlipidemia</c:v>
                  </c:pt>
                  <c:pt idx="2">
                    <c:v>Type 2 diabetes</c:v>
                  </c:pt>
                  <c:pt idx="3">
                    <c:v>COPD</c:v>
                  </c:pt>
                  <c:pt idx="4">
                    <c:v>Heart failure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0.5635933184269367</c:v>
                </c:pt>
                <c:pt idx="1">
                  <c:v>0.5365033621517772</c:v>
                </c:pt>
                <c:pt idx="2">
                  <c:v>0.5341047503045067</c:v>
                </c:pt>
                <c:pt idx="3">
                  <c:v>0.4872761545711593</c:v>
                </c:pt>
                <c:pt idx="4">
                  <c:v>0.516867469879518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 reminder users</c:v>
                </c:pt>
              </c:strCache>
            </c:strRef>
          </c:tx>
          <c:spPr>
            <a:solidFill>
              <a:srgbClr val="00949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Hypertension</c:v>
                  </c:pt>
                  <c:pt idx="1">
                    <c:v>Hyperlipidemia</c:v>
                  </c:pt>
                  <c:pt idx="2">
                    <c:v>Type 2 diabetes</c:v>
                  </c:pt>
                  <c:pt idx="3">
                    <c:v>COPD</c:v>
                  </c:pt>
                  <c:pt idx="4">
                    <c:v>Heart failure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0.72469723183391</c:v>
                </c:pt>
                <c:pt idx="1">
                  <c:v>0.7029702970297029</c:v>
                </c:pt>
                <c:pt idx="2">
                  <c:v>0.7209379128137384</c:v>
                </c:pt>
                <c:pt idx="3">
                  <c:v>0.6796246648793566</c:v>
                </c:pt>
                <c:pt idx="4">
                  <c:v>0.6879699248120301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900" u="none">
                  <a:solidFill>
                    <a:srgbClr val="1F2A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6E9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F2A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30"/>
                </a:solidFill>
                <a:latin typeface="Calibri"/>
              </a:rPr>
              <a:t>Adherence gain, users vs non-users (pts)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Difference</c:v>
                </c:pt>
              </c:strCache>
            </c:strRef>
          </c:tx>
          <c:spPr>
            <a:solidFill>
              <a:srgbClr val="E26A2C"/>
            </a:solidFill>
            <a:effectLst/>
          </c:spPr>
          <c:invertIfNegative val="0"/>
          <c:dLbls>
            <c:numFmt formatCode="+0.0%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6A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4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Unadjusted</c:v>
                  </c:pt>
                  <c:pt idx="1">
                    <c:v>Adjusted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0.16460655793553147</c:v>
                </c:pt>
                <c:pt idx="1">
                  <c:v>0.15055998671815796</c:v>
                </c:pt>
              </c:numCache>
            </c:numRef>
          </c:val>
        </c:ser>
        <c:dLbls>
          <c:numFmt formatCode="+0.0%" sourceLinked="0"/>
          <c:txPr>
            <a:bodyPr/>
            <a:lstStyle/>
            <a:p>
              <a:pPr>
                <a:defRPr b="1" i="0" strike="noStrike" sz="1400" u="none">
                  <a:solidFill>
                    <a:srgbClr val="1F2A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"/>
          <c:min val="0"/>
        </c:scaling>
        <c:delete val="0"/>
        <c:axPos val="l"/>
        <c:majorGridlines>
          <c:spPr>
            <a:ln w="9525" cap="flat">
              <a:solidFill>
                <a:srgbClr val="E6E9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30"/>
                </a:solidFill>
                <a:latin typeface="Calibri"/>
              </a:rPr>
              <a:t>Share adherent by engagement quintile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Adherent</c:v>
                </c:pt>
              </c:strCache>
            </c:strRef>
          </c:tx>
          <c:spPr>
            <a:solidFill>
              <a:srgbClr val="00949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 lowest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 highest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0.6708115183246073</c:v>
                </c:pt>
                <c:pt idx="1">
                  <c:v>0.6570680628272252</c:v>
                </c:pt>
                <c:pt idx="2">
                  <c:v>0.7715968586387435</c:v>
                </c:pt>
                <c:pt idx="3">
                  <c:v>0.7454188481675392</c:v>
                </c:pt>
                <c:pt idx="4">
                  <c:v>0.800392670157068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6E9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30"/>
                </a:solidFill>
                <a:latin typeface="Calibri"/>
              </a:rPr>
              <a:t>Monthly engagement with refill reminders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Opened or acted</c:v>
                </c:pt>
              </c:strCache>
            </c:strRef>
          </c:tx>
          <c:spPr>
            <a:solidFill>
              <a:srgbClr val="009490"/>
            </a:solidFill>
            <a:ln w="25400" cap="flat">
              <a:solidFill>
                <a:srgbClr val="0094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9490"/>
              </a:solidFill>
              <a:ln w="9525" cap="flat">
                <a:solidFill>
                  <a:srgbClr val="0094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  <c:pt idx="6">
                    <c:v>Aug</c:v>
                  </c:pt>
                  <c:pt idx="7">
                    <c:v>Sep</c:v>
                  </c:pt>
                  <c:pt idx="8">
                    <c:v>Oct</c:v>
                  </c:pt>
                  <c:pt idx="9">
                    <c:v>Nov</c:v>
                  </c:pt>
                  <c:pt idx="10">
                    <c:v>Dec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0.7124767225325884</c:v>
                </c:pt>
                <c:pt idx="1">
                  <c:v>0.7094494047619048</c:v>
                </c:pt>
                <c:pt idx="2">
                  <c:v>0.6911103424420616</c:v>
                </c:pt>
                <c:pt idx="3">
                  <c:v>0.6842291789722387</c:v>
                </c:pt>
                <c:pt idx="4">
                  <c:v>0.6660401002506265</c:v>
                </c:pt>
                <c:pt idx="5">
                  <c:v>0.6488294314381271</c:v>
                </c:pt>
                <c:pt idx="6">
                  <c:v>0.6373905317933748</c:v>
                </c:pt>
                <c:pt idx="7">
                  <c:v>0.6234839397574303</c:v>
                </c:pt>
                <c:pt idx="8">
                  <c:v>0.6155892524607608</c:v>
                </c:pt>
                <c:pt idx="9">
                  <c:v>0.6058573970165595</c:v>
                </c:pt>
                <c:pt idx="10">
                  <c:v>0.5947242206235012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Refill requested</c:v>
                </c:pt>
              </c:strCache>
            </c:strRef>
          </c:tx>
          <c:spPr>
            <a:solidFill>
              <a:srgbClr val="5B4BC4"/>
            </a:solidFill>
            <a:ln w="25400" cap="flat">
              <a:solidFill>
                <a:srgbClr val="5B4B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4BC4"/>
              </a:solidFill>
              <a:ln w="9525" cap="flat">
                <a:solidFill>
                  <a:srgbClr val="5B4B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  <c:pt idx="6">
                    <c:v>Aug</c:v>
                  </c:pt>
                  <c:pt idx="7">
                    <c:v>Sep</c:v>
                  </c:pt>
                  <c:pt idx="8">
                    <c:v>Oct</c:v>
                  </c:pt>
                  <c:pt idx="9">
                    <c:v>Nov</c:v>
                  </c:pt>
                  <c:pt idx="10">
                    <c:v>Dec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0.3888268156424581</c:v>
                </c:pt>
                <c:pt idx="1">
                  <c:v>0.3919270833333333</c:v>
                </c:pt>
                <c:pt idx="2">
                  <c:v>0.3773780698720166</c:v>
                </c:pt>
                <c:pt idx="3">
                  <c:v>0.3826343768458358</c:v>
                </c:pt>
                <c:pt idx="4">
                  <c:v>0.368796992481203</c:v>
                </c:pt>
                <c:pt idx="5">
                  <c:v>0.3488170444692184</c:v>
                </c:pt>
                <c:pt idx="6">
                  <c:v>0.34877522528239624</c:v>
                </c:pt>
                <c:pt idx="7">
                  <c:v>0.35305877648940426</c:v>
                </c:pt>
                <c:pt idx="8">
                  <c:v>0.3398510242085661</c:v>
                </c:pt>
                <c:pt idx="9">
                  <c:v>0.33652661831120845</c:v>
                </c:pt>
                <c:pt idx="10">
                  <c:v>0.32718824940047964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9525" cap="flat">
              <a:solidFill>
                <a:srgbClr val="E6E9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F2A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Refill requested</c:v>
                </c:pt>
              </c:strCache>
            </c:strRef>
          </c:tx>
          <c:spPr>
            <a:solidFill>
              <a:srgbClr val="00949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Reminder outcome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0.3421365927219334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Opened</c:v>
                </c:pt>
              </c:strCache>
            </c:strRef>
          </c:tx>
          <c:spPr>
            <a:solidFill>
              <a:srgbClr val="7FD1CD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Reminder outcome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0.27424699392833046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Snoozed</c:v>
                </c:pt>
              </c:strCache>
            </c:strRef>
          </c:tx>
          <c:spPr>
            <a:solidFill>
              <a:srgbClr val="5B4BC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Reminder outcome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0.06951664748601134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Dismissed</c:v>
                </c:pt>
              </c:strCache>
            </c:strRef>
          </c:tx>
          <c:spPr>
            <a:solidFill>
              <a:srgbClr val="B3AEE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Reminder outcome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0.09008293979919837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Ignored</c:v>
                </c:pt>
              </c:strCache>
            </c:strRef>
          </c:tx>
          <c:spPr>
            <a:solidFill>
              <a:srgbClr val="C9CFD1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Reminder outcome</c:v>
                  </c:pt>
                </c:lvl>
              </c:multiLvlStrCache>
            </c:multiLvl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0.22401682606452636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F2A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30"/>
                </a:solidFill>
                <a:latin typeface="Calibri"/>
              </a:rPr>
              <a:t>Observed non-adherence by risk 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Non-adherent</c:v>
                </c:pt>
              </c:strCache>
            </c:strRef>
          </c:tx>
          <c:spPr>
            <a:solidFill>
              <a:srgbClr val="F6C9A8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6C9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E9A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6A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441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Low
7,913 pts</c:v>
                  </c:pt>
                  <c:pt idx="1">
                    <c:v>Moderate
5,934 pts</c:v>
                  </c:pt>
                  <c:pt idx="2">
                    <c:v>High
3,956 pts</c:v>
                  </c:pt>
                  <c:pt idx="3">
                    <c:v>Very high
1,978 pts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0.10072033362820675</c:v>
                </c:pt>
                <c:pt idx="1">
                  <c:v>0.41304347826086957</c:v>
                </c:pt>
                <c:pt idx="2">
                  <c:v>0.6322042467138523</c:v>
                </c:pt>
                <c:pt idx="3">
                  <c:v>0.8134479271991911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000" u="none">
                  <a:solidFill>
                    <a:srgbClr val="1F2A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6E9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3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F2A30"/>
                </a:solidFill>
                <a:latin typeface="Calibri"/>
              </a:rPr>
              <a:t>Change in odds of non-adherence per 1 SD (orange = raises risk)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in odds</c:v>
                </c:pt>
              </c:strCache>
            </c:strRef>
          </c:tx>
          <c:spPr>
            <a:solidFill>
              <a:srgbClr val="009490"/>
            </a:solidFill>
            <a:effectLst/>
          </c:spPr>
          <c:invertIfNegative val="0"/>
          <c:dLbls>
            <c:numFmt formatCode="+0%;-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94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6A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6A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26A2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26A2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949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949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949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No. maintenance Rx</c:v>
                  </c:pt>
                  <c:pt idx="1">
                    <c:v>No. chronic conditions</c:v>
                  </c:pt>
                  <c:pt idx="2">
                    <c:v>Medicaid</c:v>
                  </c:pt>
                  <c:pt idx="3">
                    <c:v>Depression diagnosis</c:v>
                  </c:pt>
                  <c:pt idx="4">
                    <c:v>Monthly copay (log)</c:v>
                  </c:pt>
                  <c:pt idx="5">
                    <c:v>Digital literacy</c:v>
                  </c:pt>
                  <c:pt idx="6">
                    <c:v>Enrolled in reminder app</c:v>
                  </c:pt>
                  <c:pt idx="7">
                    <c:v>90-day supply share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-0.14721349945223594</c:v>
                </c:pt>
                <c:pt idx="1">
                  <c:v>0.19996048742820527</c:v>
                </c:pt>
                <c:pt idx="2">
                  <c:v>0.2395142111035662</c:v>
                </c:pt>
                <c:pt idx="3">
                  <c:v>0.2997363987450754</c:v>
                </c:pt>
                <c:pt idx="4">
                  <c:v>0.3193147215306542</c:v>
                </c:pt>
                <c:pt idx="5">
                  <c:v>-0.24334163477463966</c:v>
                </c:pt>
                <c:pt idx="6">
                  <c:v>-0.2737997679062014</c:v>
                </c:pt>
                <c:pt idx="7">
                  <c:v>-0.7378903165309324</c:v>
                </c:pt>
              </c:numCache>
            </c:numRef>
          </c:val>
        </c:ser>
        <c:dLbls>
          <c:numFmt formatCode="+0%;-0%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-1"/>
        </c:scaling>
        <c:delete val="0"/>
        <c:axPos val="b"/>
        <c:majorGridlines>
          <c:spPr>
            <a:ln w="9525" cap="flat">
              <a:solidFill>
                <a:srgbClr val="E6E9EA"/>
              </a:solidFill>
              <a:prstDash val="solid"/>
              <a:round/>
            </a:ln>
          </c:spPr>
        </c:majorGridlines>
        <c:numFmt formatCode="+0%;-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7 of the health analytics portfolio. The data are synthetic but structured like real pharmacy claims and app event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Statins and COPD inhalers are the weakest classes. Their benefit is invisible to the patient, or the side effects are felt.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Weighting only removes observed confounding. Unmeasured motivation could remain, hence the recommendation to run a randomised rollout.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Tiers are capacity-based: top 10% Very high, next 20% High, next 30% Moderate, bottom 40% Low, using out-of-fold model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7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685800" cy="685800"/>
          </a:xfrm>
          <a:prstGeom prst="ellipse">
            <a:avLst/>
          </a:prstGeom>
          <a:solidFill>
            <a:srgbClr val="009490"/>
          </a:solidFill>
          <a:ln w="12700">
            <a:solidFill>
              <a:srgbClr val="00949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772668"/>
            <a:ext cx="329184" cy="329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0" y="594360"/>
            <a:ext cx="685800" cy="685800"/>
          </a:xfrm>
          <a:prstGeom prst="ellipse">
            <a:avLst/>
          </a:prstGeom>
          <a:solidFill>
            <a:srgbClr val="E26A2C"/>
          </a:solidFill>
          <a:ln w="12700">
            <a:solidFill>
              <a:srgbClr val="E26A2C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908" y="772668"/>
            <a:ext cx="329184" cy="3291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5087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Medication Adherence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Reminder Impact</a:t>
            </a:r>
            <a:endParaRPr lang="en-US" sz="3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880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D1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app reminder features change refill behaviour for patients with chronic conditions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D1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256032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33,655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256032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D1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213,422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D1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fills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100,796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D1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events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 ten patients miss the adherence bar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patients reaching PDC ≥ 80%, the CMS Star Ratings threshold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43560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adherent overall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(mean PDC ≥ 80%)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41448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51176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55117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adherent on every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drug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57016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66674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366674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proportion of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covered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840480" y="123444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· 20,000 patients · 2025 measurement year   |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with PDC, not MPR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MPR counts early refills twice and overstates adherence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11480" cy="411480"/>
          </a:xfrm>
          <a:prstGeom prst="ellipse">
            <a:avLst/>
          </a:prstGeom>
          <a:solidFill>
            <a:srgbClr val="009490"/>
          </a:solidFill>
          <a:ln w="12700">
            <a:solidFill>
              <a:srgbClr val="0094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1615745"/>
            <a:ext cx="197510" cy="1975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 · proportion of days covered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94767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with drug on hand ÷ days in period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refills shifted forward, never double-counted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100% by construction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82.2% in this cohort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0632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3246120"/>
            <a:ext cx="411480" cy="411480"/>
          </a:xfrm>
          <a:prstGeom prst="ellipse">
            <a:avLst/>
          </a:prstGeom>
          <a:solidFill>
            <a:srgbClr val="E26A2C"/>
          </a:solidFill>
          <a:ln w="12700">
            <a:solidFill>
              <a:srgbClr val="E26A2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3353105"/>
            <a:ext cx="197510" cy="1975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MPR · medication possession ratio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" y="368503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Days' supply dispensed ÷ days in period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fills counted twice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exceed 100%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89.6%; 6.5% wrongly look adherent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663440" y="123444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· 20,000 patients · 2025 measurement year   |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reminder users: +16.5 pts higher adherence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Unadjusted comparison with statistical tests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132588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9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users adherent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(n=7,640)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14173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26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Non-users adherent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(n=12,141)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3611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48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Chi-square, adherent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= 543, p &lt; 0.001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t-test, mean PDC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25.2, p &lt; 0.001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Mann-Whitney U, PDC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0.001, r = 0.24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Cohen's d = 0.36, RR = 1.29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difference (95% CI)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+16.5 pts (+15.1 pts to +17.8 pts)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Chart 0" descr=""/>
          <p:cNvGraphicFramePr/>
          <p:nvPr/>
        </p:nvGraphicFramePr>
        <p:xfrm>
          <a:off x="4389120" y="123444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· 20,000 patients · 2025 measurement year   |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of the gap survives adjustment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(overlap) weighting shrinks the effect by 9%, but it stays significant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892040" y="1325880"/>
            <a:ext cx="457200" cy="457200"/>
          </a:xfrm>
          <a:prstGeom prst="ellipse">
            <a:avLst/>
          </a:prstGeom>
          <a:solidFill>
            <a:srgbClr val="5B4BC4"/>
          </a:solidFill>
          <a:ln w="12700">
            <a:solidFill>
              <a:srgbClr val="5B4BC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444752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532120" y="1307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self-select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532120" y="16002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users are younger and more digitally literate (max SMD 0.76), and literacy predicts adherence on its own.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892040" y="2441448"/>
            <a:ext cx="457200" cy="457200"/>
          </a:xfrm>
          <a:prstGeom prst="ellipse">
            <a:avLst/>
          </a:prstGeom>
          <a:solidFill>
            <a:srgbClr val="5B4BC4"/>
          </a:solidFill>
          <a:ln w="12700">
            <a:solidFill>
              <a:srgbClr val="5B4BC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2560320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532120" y="2423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weighting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5532120" y="27157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Re-weighting on 19 baseline covariates balances the groups (max SMD 0.001).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892040" y="3557016"/>
            <a:ext cx="457200" cy="457200"/>
          </a:xfrm>
          <a:prstGeom prst="ellipse">
            <a:avLst/>
          </a:prstGeom>
          <a:solidFill>
            <a:srgbClr val="009490"/>
          </a:solidFill>
          <a:ln w="12700">
            <a:solidFill>
              <a:srgbClr val="00949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675888"/>
            <a:ext cx="219456" cy="21945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532120" y="3538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effect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532120" y="383133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+15.1 pts adherent (95% CI +13.5 pts to +16.5 pts); mean PDC +5.2 pts.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· 20,000 patients · 2025 measurement year   |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drives the effect, then fades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up is not enough: patients have to act on the reminders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43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Non-users: 56% adherent. Top-quintile users engage with 98% of reminders, bottom-quintile with 22%.</a:t>
            </a:r>
            <a:endParaRPr lang="en-US" sz="10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663440" y="123444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754880" y="4343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drops from 71% to 59% between Feb and Dec: reminder fatigue.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· 20,000 patients · 2025 measurement year   |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reminders do beats how they arrive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odds ratios for adherence among app users (95% CI)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2F3F3"/>
          </a:solidFill>
          <a:ln w="12700">
            <a:solidFill>
              <a:srgbClr val="F2F3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5E6B70"/>
          </a:solidFill>
          <a:ln w="12700">
            <a:solidFill>
              <a:srgbClr val="5E6B7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6276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(vs SMS)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E6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1.12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0.98–1.29 · not significant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adherent with feature vs 71% without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3258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1508760"/>
            <a:ext cx="457200" cy="457200"/>
          </a:xfrm>
          <a:prstGeom prst="ellipse">
            <a:avLst/>
          </a:prstGeom>
          <a:solidFill>
            <a:srgbClr val="009490"/>
          </a:solidFill>
          <a:ln w="12700">
            <a:solidFill>
              <a:srgbClr val="00949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62763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6908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dose reminders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1.29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347472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1.14–1.46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adherent with feature vs 70% without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26480" y="13258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9360" y="1508760"/>
            <a:ext cx="457200" cy="457200"/>
          </a:xfrm>
          <a:prstGeom prst="ellipse">
            <a:avLst/>
          </a:prstGeom>
          <a:solidFill>
            <a:srgbClr val="009490"/>
          </a:solidFill>
          <a:ln w="12700">
            <a:solidFill>
              <a:srgbClr val="00949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62763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90372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alerts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1.23</a:t>
            </a:r>
            <a:endParaRPr lang="en-US" sz="28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1.02–1.47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63093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adherent with feature vs 73% without</a:t>
            </a:r>
            <a:endParaRPr lang="en-US" sz="10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65760" y="3611880"/>
          <a:ext cx="8412480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 2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· 20,000 patients · 2025 measurement year   |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highest-risk patients enrol the least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Model-predicted risk tiers: observed non-adherence and app enrolment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4068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enrolment in each tier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40680" y="1691640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0" y="1865376"/>
            <a:ext cx="274320" cy="274320"/>
          </a:xfrm>
          <a:prstGeom prst="ellipse">
            <a:avLst/>
          </a:prstGeom>
          <a:solidFill>
            <a:srgbClr val="F6C9A8"/>
          </a:solidFill>
          <a:ln w="12700">
            <a:solidFill>
              <a:srgbClr val="F6C9A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169164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169164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9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169164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4,367 not enrolled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40680" y="2423160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77840" y="2596896"/>
            <a:ext cx="274320" cy="274320"/>
          </a:xfrm>
          <a:prstGeom prst="ellipse">
            <a:avLst/>
          </a:prstGeom>
          <a:solidFill>
            <a:srgbClr val="EE9A68"/>
          </a:solidFill>
          <a:ln w="12700">
            <a:solidFill>
              <a:srgbClr val="EE9A6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89320" y="242316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0" y="242316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9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24231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2,471 not enrolled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40680" y="3154680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77840" y="3328416"/>
            <a:ext cx="274320" cy="274320"/>
          </a:xfrm>
          <a:prstGeom prst="ellipse">
            <a:avLst/>
          </a:prstGeom>
          <a:solidFill>
            <a:srgbClr val="E26A2C"/>
          </a:solidFill>
          <a:ln w="12700">
            <a:solidFill>
              <a:srgbClr val="E26A2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89320" y="315468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132320" y="315468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9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7818120" y="315468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3,424 not enrolled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40680" y="3886200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77840" y="4059936"/>
            <a:ext cx="274320" cy="274320"/>
          </a:xfrm>
          <a:prstGeom prst="ellipse">
            <a:avLst/>
          </a:prstGeom>
          <a:solidFill>
            <a:srgbClr val="A8441A"/>
          </a:solidFill>
          <a:ln w="12700">
            <a:solidFill>
              <a:srgbClr val="A8441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89320" y="38862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132320" y="388620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9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7818120" y="388620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1,879 not enrolled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· 20,000 patients · 2025 measurement year   |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Non-adherence can be predicted on day one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on baseline features only (no refill history, so no leakage)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2801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ROC AUC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130552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13055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9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 ± 0.01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130552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AUC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98094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B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980944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AUC (no gain)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831336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831336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831336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score, well calibrated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0" y="1234440"/>
          <a:ext cx="51206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· 20,000 patients · 2025 measurement year   |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product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502920"/>
          </a:xfrm>
          <a:prstGeom prst="ellipse">
            <a:avLst/>
          </a:prstGeom>
          <a:solidFill>
            <a:srgbClr val="009490"/>
          </a:solidFill>
          <a:ln w="12700">
            <a:solidFill>
              <a:srgbClr val="00949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1273759"/>
            <a:ext cx="241402" cy="24140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124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enrolment by risk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47218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onboarding for the 5,303 High / Very high patients not enrolled, via pharmacist or care manager.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502920" cy="502920"/>
          </a:xfrm>
          <a:prstGeom prst="ellipse">
            <a:avLst/>
          </a:prstGeom>
          <a:solidFill>
            <a:srgbClr val="E26A2C"/>
          </a:solidFill>
          <a:ln w="12700">
            <a:solidFill>
              <a:srgbClr val="E26A2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199" y="1273759"/>
            <a:ext cx="241402" cy="2414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49240" y="1124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Default-on dose + caregiver alerts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349240" y="147218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features show significant, independent lift. Make them opt-out at onboarding.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009490"/>
          </a:solidFill>
          <a:ln w="12700">
            <a:solidFill>
              <a:srgbClr val="00949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246247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2313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reminder fatigue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234440" y="266090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content, adapt timing, and escalate to a human when reminders go ignored.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63440" y="2331720"/>
            <a:ext cx="502920" cy="502920"/>
          </a:xfrm>
          <a:prstGeom prst="ellipse">
            <a:avLst/>
          </a:prstGeom>
          <a:solidFill>
            <a:srgbClr val="E26A2C"/>
          </a:solidFill>
          <a:ln w="12700">
            <a:solidFill>
              <a:srgbClr val="E26A2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199" y="2462479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49240" y="2313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nudges with 90-day supply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349240" y="266090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protective factor in the model. Offer in-app switching and copay support.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009490"/>
          </a:solidFill>
          <a:ln w="12700">
            <a:solidFill>
              <a:srgbClr val="00949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3651199"/>
            <a:ext cx="241402" cy="2414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34440" y="3502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causality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1234440" y="384962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randomised or stepped-wedge rollout to confirm the adjusted effect.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663440" y="3520440"/>
            <a:ext cx="502920" cy="502920"/>
          </a:xfrm>
          <a:prstGeom prst="ellipse">
            <a:avLst/>
          </a:prstGeom>
          <a:solidFill>
            <a:srgbClr val="E26A2C"/>
          </a:solidFill>
          <a:ln w="12700">
            <a:solidFill>
              <a:srgbClr val="E26A2C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4199" y="3651199"/>
            <a:ext cx="241402" cy="24140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49240" y="3502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PDC as the north-star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5349240" y="384962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PDC ≥ 80% by tier monthly, aligned with Star Ratings measures.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D1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impact: +15.1 pts adherent patients. Across 10,000 non-users, that is ~1,510 more patients reaching PDC ≥ 80%.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Medication Adherence &amp; Digital Reminder Impact</dc:title>
  <dc:subject>PptxGenJS Presentation</dc:subject>
  <dc:creator>Health Analytics Portfolio</dc:creator>
  <cp:lastModifiedBy>Health Analytics Portfolio</cp:lastModifiedBy>
  <cp:revision>1</cp:revision>
  <dcterms:created xsi:type="dcterms:W3CDTF">2026-09-29T12:08:05Z</dcterms:created>
  <dcterms:modified xsi:type="dcterms:W3CDTF">2026-09-29T12:08:05Z</dcterms:modified>
</cp:coreProperties>
</file>